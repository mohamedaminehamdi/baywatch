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Space Grotesk" pitchFamily="34" charset="0"/>
      <p:regular r:id="rId24"/>
      <p:bold r:id="rId25"/>
    </p:embeddedFont>
    <p:embeddedFont>
      <p:font typeface="JetBrains Mono" panose="02000009000000000000" pitchFamily="49" charset="0"/>
      <p:regular r:id="rId26"/>
      <p:bold r:id="rId27"/>
    </p:embeddedFont>
    <p:embeddedFont>
      <p:font typeface="Bebas Neue" panose="020B0606020202050201" pitchFamily="34" charset="0"/>
      <p:regular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driving into a busy city with 15% battery. You find a fast charger, navigate there, and the bay is occupied. That is the problem BayWatch solves. The symbol is a charging bay seen from above with its guard raised: the bar is up, so the spot is kept for you. BayWatch is a smart reservation and access-management platform: drivers find a charger, reserve it, arrive, have their licence plate recognised, charge and leave. Our main focus is fast charging, where time matters most. Pitch: about 12 minutes including a 2–3 minute live demo on the Ecurious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market. Germany passed two million battery-electric cars on the road at the start of 2026. In 2025, BEV registrations grew 43 percent to about 545,000, a 19 percent share of all new cars, and industry expects around 25 percent this year. Charging is growing too: about 204,000 public charging points as of May 2026, 17 percent more than a year earlier, including over 51,000 DC fast chargers. The government targets one million public points by 2030. Today that is roughly ten EVs per public charging point, so every bay has to be used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big is this? Total addressable market: BCG estimates public charging electricity sales in Europe will grow to around €33 billion a year by 2030, with public charging sessions rising to about 2.5 billion a year. The charging-station market itself is forecast to grow from about 11 billion dollars in 2025 to about 36 billion by 2030, roughly 26 percent a year. Our serviceable market: Germany already has over 51,000 DC fast-charging points. If each sold just one €5 reservation a day, that's about €94 million a year in reservation spend. Our obtainable share: 500 bays, about 1 percent of those fast points, at three bookings a day and €3.03 kept per booking, is about €1.7 million a year for BayWatch. SAM and SOM are our own illustrative calculations, not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driving into a busy city with 15 percent battery. You find a fast charger, navigate to it, and the bay is occupied. This is not rare: in Parkopedia's 2024 European survey, 45 percent of EV drivers named chargers occupied by another vehicle as one of their biggest problems, alongside out-of-order chargers. Three things go wrong. The bay is occupied on arrival, sometimes by a car that isn't even charging. Reservations, where they exist, are wasted by no-shows. And overstays and blocking vehicles keep bays out of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hits everyone. Drivers lose time to detours and waiting, and worry about range. Charge-point operators invest in expensive hardware that sits idle while it is blocked or reserved by someone who never comes, and they lose charging sessions. And it slows the transition itself: in CTEK's 2023 survey, 58 percent of EV drivers said they have to wait for a public charger at least one in five times. The key point: a booking only has value if the bay is really free when you arrive. That is exactly what we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BayWatch is a smart reservation and access platform for EV charging. Our key insight: finding a charger and securing access to it are two different problems, and BayWatch connects them. You reserve a bay in the app and the Ecurious hardware physically keeps it free until you arrive. Your licence plate is the key: the camera recognises your car and opens the bay. And we add fair rules for drivers who don't show up or block a bay. Our main focus is fast charging, where an unavailable bay disrupts a journey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it's five steps. One: the driver finds a charger on our map, built on GoingElectric data, picks a slot and pays the reservation fee. Two: our backend sends the reservation to the Ecurious server, and the hardware keeps the bay free. Three: when the driver arrives, the built-in camera reads the licence plate; if it matches the booking, the bay opens. If the camera has trouble, for example a dirty plate, the driver can unlock manually in the app after re-authenticating. Four: the driver charges at the charger as usual. Five: when the car leaves, the bay is detected clear and released for the next driver. Under the hood: app, BayWatch backend, Ecurious server, bay hardware and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we fit? Charging map apps are great at finding chargers across networks, but they can't hold a bay. Operator apps cover their own network and sometimes offer reservations, but nothing physically keeps the bay free. Parking booking apps reserve spaces and sometimes use barriers or plate recognition, but they aren't built around charging. BayWatch combines all of it: find, reserve, a physically held bay, and plate-based access. Working across any network is our next step through an open API and OCPI. Others tell you where a charger is. We make sure it's yours when you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about two to three minutes. We open the app, select the charging point, choose a slot, associate it with the vehicle and confirm. We show the reservation in the app and the backend. Then we bring the registered vehicle to the bay: the camera identifies the plate and the bay opens. We start charging at the physical charger, then stop, leave the bay and show the release. If time allows, show one failure case such as an unrecognised plate. Be honest about anything simulated, and tick the demo status in the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business problem: no-shows. A driver who reserves but never arrives blocks a bay for everyone else. Our answer is a fee that rises as the start time approaches, combined with reminders. Cancel more than 24 hours ahead and it's free. Between 24 and 2 hours, we keep 25 percent; between 2 hours and 30 minutes, 50 percent; under 30 minutes, 80 percent; and a no-show keeps the full fee, because the driver had every chance to cancel. These are shares of the original fee, never an extra penalty. Reminders go out 24 hours, 2 hours, 30 minutes and 5 minutes before, and drivers stuck in traffic can cancel on the way. The result: drivers cancel in time and the bay goes back to someone who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business problem: blocked bays. What if a car is already standing in your reserved bay? The camera checks the bay about every minute and sees any vehicle in it, whether it's a combustion car, an EV that isn't charging, or one still charging. If the bay is blocked, we notify the driver and reroute them about ten minutes before arrival to the nearest free alternative, and give them, for example, €5 reservation credit as compensation. Third: overstays. Drivers get a reminder five minutes before their slot ends and a five-minute grace period. After that, a blocking fee of 30 cents per minute applies, shared 50/50 with the operator. That keeps bays moving and creates extra revenue for the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Reservations should increase utilisation, not keep bays empty. We have three levers. Walk-up access: if a bay is empty and no booking is coming, anyone can use it without a reservation fee, and every walk-up driver meets the app, for example with a free first booking. Predictive pricing: using booking history, time of day, holidays and events, a 2-hour reservation costs €3 at quiet times and up to €6 at peaks, set in advance, which spreads demand. Fleet partners: unpopular bays go to electric taxi and ride-hailing fleets at a discount, so operators get extra demand and fleets get cheaper charging.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make money. The core is reservation fees: €3 for one hour of fast charging, €5 for our reference product, two hours of fast charging, and €4 for four hours of slow charging. Electricity is billed separately. On top come no-show and late-cancellation fees, blocking fees shared 50/50 with the operator, and fleet deals for quiet bays. Later we could add a 1 to 5 percent charging commission, but who pays and how it is split is still open, so we leave it out of our numbers. Operators win too: the bay owner receives 20 percent of net reservation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economics are simple. A driver pays €5 for a two-hour reservation. After 19 percent VAT we have €4.20. Stripe's card fee is about 33 cents, and the bay owner gets 20 percent, 84 cents. We keep €3.03 per booking. With an assumed €200 initial infrastructure and installation cost, we recover the investment after 67 completed bookings: about 67 days at one booking a day, 23 days at three, and two weeks at five. These figures exclude hosting, maintenance, support and other operating costs, so this is investment break-even, not whole-business profit. If the €200 is per bay, each bay recovers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growth path. Now: a 90-day pilot on the Ecurious bay to prove the full cycle, test our pricing and measure no-shows, blocked bays and utilisation. Next: roll out to more bays at busy fast-charging sites with the Ecurious hardware. Then: open up, so other charging apps and operators can book through an open API and OCPI, and a booking made in any app works on site because the plate is the key. Beyond that: fleets, retail, hotels and events, and a voice agent that books or reroutes hands-free. The room to grow is large: Germany has over 51,000 DC fast-charging points, and just one percent of them would be about 500 bays.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team member in one sentence: name, role, and what they built for BayWatch. Replace the placeholder initials with photos if you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a charger is not enough if drivers cannot rely on using it. BayWatch makes a reservation more than a booking: it connects the driver, the reservation and the physical bay. Book your spot. Arrive with confidence. Charge without the uncertainty.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41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20"/>
            <a:ext cx="10566400" cy="701030"/>
          </a:xfrm>
          <a:prstGeom prst="rect">
            <a:avLst/>
          </a:prstGeom>
          <a:noFill/>
          <a:ln/>
        </p:spPr>
        <p:txBody>
          <a:bodyPr wrap="square" lIns="0" tIns="0" rIns="0" bIns="0" rtlCol="0" anchor="t"/>
          <a:lstStyle>
            <a:lvl1pPr algn="l" indent="0" marL="0">
              <a:lnSpc>
                <a:spcPct val="115000"/>
              </a:lnSpc>
              <a:buNone/>
              <a:defRPr lang="en-US" sz="6000" dirty="0">
                <a:solidFill>
                  <a:srgbClr val="F5F4F0"/>
                </a:solidFill>
                <a:latin typeface="Bebas Neue" pitchFamily="34" charset="0"/>
                <a:ea typeface="Bebas Neue" pitchFamily="34" charset="-122"/>
                <a:cs typeface="Bebas Neue" pitchFamily="34" charset="-120"/>
              </a:defRPr>
            </a:lvl1pPr>
          </a:lstStyle>
          <a:p>
            <a:pPr algn="l" indent="0" marL="0">
              <a:lnSpc>
                <a:spcPct val="115000"/>
              </a:lnSpc>
              <a:buNone/>
            </a:pPr>
            <a:endParaRPr lang="en-US" sz="6000" dirty="0"/>
          </a:p>
        </p:txBody>
      </p:sp>
      <p:sp>
        <p:nvSpPr>
          <p:cNvPr id="3" name="Text Placeholder 2"/>
          <p:cNvSpPr/>
          <p:nvPr>
            <p:ph idx="101" type="body"/>
          </p:nvPr>
        </p:nvSpPr>
        <p:spPr>
          <a:xfrm>
            <a:off x="812800" y="1955750"/>
            <a:ext cx="10566400" cy="4089450"/>
          </a:xfrm>
          <a:prstGeom prst="rect">
            <a:avLst/>
          </a:prstGeom>
          <a:noFill/>
          <a:ln/>
        </p:spPr>
        <p:txBody>
          <a:bodyPr wrap="square" lIns="0" tIns="0" rIns="0" bIns="0" rtlCol="0" anchor="t"/>
          <a:lstStyle>
            <a:lvl1pPr algn="l" indent="0" marL="0">
              <a:lnSpc>
                <a:spcPct val="140000"/>
              </a:lnSpc>
              <a:buNone/>
              <a:defRPr lang="en-US" sz="1600" dirty="0">
                <a:solidFill>
                  <a:srgbClr val="F5F4F0"/>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41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20"/>
            <a:ext cx="10566400" cy="701030"/>
          </a:xfrm>
          <a:prstGeom prst="rect">
            <a:avLst/>
          </a:prstGeom>
          <a:noFill/>
          <a:ln/>
        </p:spPr>
        <p:txBody>
          <a:bodyPr wrap="square" lIns="0" tIns="0" rIns="0" bIns="0" rtlCol="0" anchor="t"/>
          <a:lstStyle>
            <a:lvl1pPr algn="l" indent="0" marL="0">
              <a:lnSpc>
                <a:spcPct val="115000"/>
              </a:lnSpc>
              <a:buNone/>
              <a:defRPr lang="en-US" sz="6000" dirty="0">
                <a:solidFill>
                  <a:srgbClr val="F5F4F0"/>
                </a:solidFill>
                <a:latin typeface="Bebas Neue" pitchFamily="34" charset="0"/>
                <a:ea typeface="Bebas Neue" pitchFamily="34" charset="-122"/>
                <a:cs typeface="Bebas Neue" pitchFamily="34" charset="-120"/>
              </a:defRPr>
            </a:lvl1pPr>
          </a:lstStyle>
          <a:p>
            <a:pPr algn="l" indent="0" marL="0">
              <a:lnSpc>
                <a:spcPct val="115000"/>
              </a:lnSpc>
              <a:buNone/>
            </a:pPr>
            <a:endParaRPr lang="en-US" sz="6000" dirty="0"/>
          </a:p>
        </p:txBody>
      </p:sp>
      <p:sp>
        <p:nvSpPr>
          <p:cNvPr id="3" name="Text Placeholder 2"/>
          <p:cNvSpPr/>
          <p:nvPr>
            <p:ph idx="101" type="body"/>
          </p:nvPr>
        </p:nvSpPr>
        <p:spPr>
          <a:xfrm>
            <a:off x="812800" y="1955750"/>
            <a:ext cx="10566400" cy="4089450"/>
          </a:xfrm>
          <a:prstGeom prst="rect">
            <a:avLst/>
          </a:prstGeom>
          <a:noFill/>
          <a:ln/>
        </p:spPr>
        <p:txBody>
          <a:bodyPr wrap="square" lIns="0" tIns="0" rIns="0" bIns="0" rtlCol="0" anchor="t"/>
          <a:lstStyle>
            <a:lvl1pPr algn="l" indent="0" marL="0">
              <a:lnSpc>
                <a:spcPct val="140000"/>
              </a:lnSpc>
              <a:buNone/>
              <a:defRPr lang="en-US" sz="1600" dirty="0">
                <a:solidFill>
                  <a:srgbClr val="F5F4F0"/>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pic>
        <p:nvPicPr>
          <p:cNvPr id="2" name="Image 0" descr="BayWatch held-bay symbol: a charging bay seen from above with its guard raised">    </p:cNvPr>
          <p:cNvPicPr>
            <a:picLocks noChangeAspect="1"/>
          </p:cNvPicPr>
          <p:nvPr/>
        </p:nvPicPr>
        <p:blipFill>
          <a:blip r:embed="rId1"/>
          <a:srcRect l="0" r="0" t="0" b="0"/>
          <a:stretch/>
        </p:blipFill>
        <p:spPr>
          <a:xfrm>
            <a:off x="7823200" y="1473200"/>
            <a:ext cx="3302000" cy="3632200"/>
          </a:xfrm>
          <a:prstGeom prst="rect">
            <a:avLst/>
          </a:prstGeom>
        </p:spPr>
      </p:pic>
      <p:sp>
        <p:nvSpPr>
          <p:cNvPr id="3" name="Text 0"/>
          <p:cNvSpPr/>
          <p:nvPr/>
        </p:nvSpPr>
        <p:spPr>
          <a:xfrm>
            <a:off x="812800" y="81280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ECURIOUS CHALLENGE · SMART RESERVATION FOR EV CHARGING</a:t>
            </a:r>
            <a:endParaRPr lang="en-US" sz="1200" dirty="0"/>
          </a:p>
        </p:txBody>
      </p:sp>
      <p:sp>
        <p:nvSpPr>
          <p:cNvPr id="4" name="Text 1"/>
          <p:cNvSpPr/>
          <p:nvPr>
            <p:ph type="title"/>
          </p:nvPr>
        </p:nvSpPr>
        <p:spPr>
          <a:xfrm>
            <a:off x="762000" y="1206500"/>
            <a:ext cx="6802120" cy="1625600"/>
          </a:xfrm>
          <a:prstGeom prst="rect">
            <a:avLst/>
          </a:prstGeom>
          <a:noFill/>
          <a:ln/>
        </p:spPr>
        <p:txBody>
          <a:bodyPr wrap="square" lIns="0" tIns="0" rIns="0" bIns="0" rtlCol="0" anchor="t">
            <a:normAutofit/>
          </a:bodyPr>
          <a:lstStyle/>
          <a:p>
            <a:pPr algn="l" indent="0" marL="0">
              <a:lnSpc>
                <a:spcPts val="12600"/>
              </a:lnSpc>
              <a:buNone/>
            </a:pPr>
            <a:r>
              <a:rPr lang="en-US" sz="14000" b="0" i="0" dirty="0">
                <a:solidFill>
                  <a:srgbClr val="F5F4F0"/>
                </a:solidFill>
                <a:latin typeface="Bebas Neue" pitchFamily="34" charset="0"/>
                <a:ea typeface="Bebas Neue" pitchFamily="34" charset="-122"/>
                <a:cs typeface="Bebas Neue" pitchFamily="34" charset="-120"/>
              </a:rPr>
              <a:t>BAY</a:t>
            </a:r>
            <a:r>
              <a:rPr lang="en-US" sz="14000" b="0" i="0" dirty="0">
                <a:solidFill>
                  <a:srgbClr val="B79CFF"/>
                </a:solidFill>
                <a:latin typeface="Bebas Neue" pitchFamily="34" charset="0"/>
                <a:ea typeface="Bebas Neue" pitchFamily="34" charset="-122"/>
                <a:cs typeface="Bebas Neue" pitchFamily="34" charset="-120"/>
              </a:rPr>
              <a:t>WATCH</a:t>
            </a:r>
            <a:endParaRPr lang="en-US" sz="14000" dirty="0"/>
          </a:p>
        </p:txBody>
      </p:sp>
      <p:sp>
        <p:nvSpPr>
          <p:cNvPr id="5" name="Text 2"/>
          <p:cNvSpPr/>
          <p:nvPr/>
        </p:nvSpPr>
        <p:spPr>
          <a:xfrm>
            <a:off x="812800" y="2984500"/>
            <a:ext cx="6278880" cy="726380"/>
          </a:xfrm>
          <a:prstGeom prst="rect">
            <a:avLst/>
          </a:prstGeom>
          <a:noFill/>
          <a:ln/>
        </p:spPr>
        <p:txBody>
          <a:bodyPr wrap="square" lIns="0" tIns="0" rIns="0" bIns="0" rtlCol="0" anchor="t">
            <a:normAutofit/>
          </a:bodyPr>
          <a:lstStyle/>
          <a:p>
            <a:pPr algn="l" indent="0" marL="0">
              <a:lnSpc>
                <a:spcPts val="2760"/>
              </a:lnSpc>
              <a:buNone/>
            </a:pPr>
            <a:r>
              <a:rPr lang="en-US" sz="2400" spc="-50" kern="0" dirty="0">
                <a:solidFill>
                  <a:srgbClr val="F5F4F0"/>
                </a:solidFill>
                <a:latin typeface="Space Grotesk" pitchFamily="34" charset="0"/>
                <a:ea typeface="Space Grotesk" pitchFamily="34" charset="-122"/>
                <a:cs typeface="Space Grotesk" pitchFamily="34" charset="-120"/>
              </a:rPr>
              <a:t>Reserve digitally.</a:t>
            </a:r>
            <a:endParaRPr lang="en-US" sz="2400" dirty="0"/>
          </a:p>
          <a:p>
            <a:pPr algn="l" indent="0" marL="0">
              <a:lnSpc>
                <a:spcPts val="2760"/>
              </a:lnSpc>
              <a:buNone/>
            </a:pPr>
            <a:r>
              <a:rPr lang="en-US" sz="2400" spc="-50" kern="0" dirty="0">
                <a:solidFill>
                  <a:srgbClr val="C8E946"/>
                </a:solidFill>
                <a:latin typeface="Space Grotesk" pitchFamily="34" charset="0"/>
                <a:ea typeface="Space Grotesk" pitchFamily="34" charset="-122"/>
                <a:cs typeface="Space Grotesk" pitchFamily="34" charset="-120"/>
              </a:rPr>
              <a:t>Access physically.</a:t>
            </a:r>
            <a:endParaRPr lang="en-US" sz="2400" dirty="0"/>
          </a:p>
        </p:txBody>
      </p:sp>
      <p:sp>
        <p:nvSpPr>
          <p:cNvPr id="6" name="Text 3"/>
          <p:cNvSpPr/>
          <p:nvPr/>
        </p:nvSpPr>
        <p:spPr>
          <a:xfrm>
            <a:off x="812800" y="3937000"/>
            <a:ext cx="588645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9AA0A7"/>
                </a:solidFill>
                <a:latin typeface="Space Grotesk" pitchFamily="34" charset="0"/>
                <a:ea typeface="Space Grotesk" pitchFamily="34" charset="-122"/>
                <a:cs typeface="Space Grotesk" pitchFamily="34" charset="-120"/>
              </a:rPr>
              <a:t>BayWatch connects EV charging reservations with physical bay access. The licence plate is the key: book a bay, arrive, and the bay is held for you.</a:t>
            </a:r>
            <a:endParaRPr lang="en-US" sz="1400" dirty="0"/>
          </a:p>
        </p:txBody>
      </p:sp>
      <p:sp>
        <p:nvSpPr>
          <p:cNvPr id="7" name="Text 4"/>
          <p:cNvSpPr/>
          <p:nvPr/>
        </p:nvSpPr>
        <p:spPr>
          <a:xfrm>
            <a:off x="812800" y="50800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5F4F0"/>
                </a:solidFill>
                <a:latin typeface="JetBrains Mono" pitchFamily="49" charset="0"/>
                <a:ea typeface="JetBrains Mono" pitchFamily="49" charset="-122"/>
                <a:cs typeface="JetBrains Mono" pitchFamily="49" charset="-120"/>
              </a:rPr>
              <a:t>FIND → RESERVE → ARRIVE → CHARGE → </a:t>
            </a:r>
            <a:r>
              <a:rPr lang="en-US" sz="1200" spc="150" kern="0" dirty="0">
                <a:solidFill>
                  <a:srgbClr val="C8E946"/>
                </a:solidFill>
                <a:latin typeface="JetBrains Mono" pitchFamily="49" charset="0"/>
                <a:ea typeface="JetBrains Mono" pitchFamily="49" charset="-122"/>
                <a:cs typeface="JetBrains Mono" pitchFamily="49" charset="-120"/>
              </a:rPr>
              <a:t>RELEASE</a:t>
            </a:r>
            <a:endParaRPr lang="en-US" sz="1200" dirty="0"/>
          </a:p>
        </p:txBody>
      </p:sp>
      <p:sp>
        <p:nvSpPr>
          <p:cNvPr id="8" name="Text 5"/>
          <p:cNvSpPr/>
          <p:nvPr/>
        </p:nvSpPr>
        <p:spPr>
          <a:xfrm>
            <a:off x="812800" y="55880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AA0A7"/>
                </a:solidFill>
                <a:latin typeface="JetBrains Mono" pitchFamily="49" charset="0"/>
                <a:ea typeface="JetBrains Mono" pitchFamily="49" charset="-122"/>
                <a:cs typeface="JetBrains Mono" pitchFamily="49" charset="-120"/>
              </a:rPr>
              <a:t>POWERED BY ECURIOUS · GOINGELECTRIC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THE MARKET · GERMANY</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THE EV WAVE IS </a:t>
            </a:r>
            <a:r>
              <a:rPr lang="en-US" sz="6000" b="0" i="0" dirty="0">
                <a:solidFill>
                  <a:srgbClr val="C8E946"/>
                </a:solidFill>
                <a:latin typeface="Bebas Neue" pitchFamily="34" charset="0"/>
                <a:ea typeface="Bebas Neue" pitchFamily="34" charset="-122"/>
                <a:cs typeface="Bebas Neue" pitchFamily="34" charset="-120"/>
              </a:rPr>
              <a:t>HERE</a:t>
            </a:r>
            <a:endParaRPr lang="en-US" sz="6000" dirty="0"/>
          </a:p>
        </p:txBody>
      </p:sp>
      <p:sp>
        <p:nvSpPr>
          <p:cNvPr id="4" name="Shape 2"/>
          <p:cNvSpPr/>
          <p:nvPr/>
        </p:nvSpPr>
        <p:spPr>
          <a:xfrm>
            <a:off x="812800" y="3622080"/>
            <a:ext cx="2451100" cy="0"/>
          </a:xfrm>
          <a:prstGeom prst="line">
            <a:avLst/>
          </a:prstGeom>
          <a:noFill/>
          <a:ln w="12700">
            <a:solidFill>
              <a:srgbClr val="B79CFF"/>
            </a:solidFill>
            <a:prstDash val="solid"/>
          </a:ln>
        </p:spPr>
      </p:sp>
      <p:sp>
        <p:nvSpPr>
          <p:cNvPr id="5" name="Text 3"/>
          <p:cNvSpPr/>
          <p:nvPr/>
        </p:nvSpPr>
        <p:spPr>
          <a:xfrm>
            <a:off x="812800" y="3780830"/>
            <a:ext cx="2524633" cy="996950"/>
          </a:xfrm>
          <a:prstGeom prst="rect">
            <a:avLst/>
          </a:prstGeom>
          <a:noFill/>
          <a:ln/>
        </p:spPr>
        <p:txBody>
          <a:bodyPr wrap="square" lIns="0" tIns="0" rIns="0" bIns="0" rtlCol="0" anchor="t">
            <a:normAutofit/>
          </a:bodyPr>
          <a:lstStyle/>
          <a:p>
            <a:pPr algn="l" indent="0" marL="0">
              <a:lnSpc>
                <a:spcPts val="7650"/>
              </a:lnSpc>
              <a:buNone/>
            </a:pPr>
            <a:r>
              <a:rPr lang="en-US" sz="9000" dirty="0">
                <a:solidFill>
                  <a:srgbClr val="F5F4F0"/>
                </a:solidFill>
                <a:latin typeface="Bebas Neue" pitchFamily="34" charset="0"/>
                <a:ea typeface="Bebas Neue" pitchFamily="34" charset="-122"/>
                <a:cs typeface="Bebas Neue" pitchFamily="34" charset="-120"/>
              </a:rPr>
              <a:t>2.0M</a:t>
            </a:r>
            <a:endParaRPr lang="en-US" sz="9000" dirty="0"/>
          </a:p>
        </p:txBody>
      </p:sp>
      <p:sp>
        <p:nvSpPr>
          <p:cNvPr id="6" name="Text 4"/>
          <p:cNvSpPr/>
          <p:nvPr/>
        </p:nvSpPr>
        <p:spPr>
          <a:xfrm>
            <a:off x="812800" y="4828580"/>
            <a:ext cx="2524633"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AA0A7"/>
                </a:solidFill>
                <a:latin typeface="Space Grotesk" pitchFamily="34" charset="0"/>
                <a:ea typeface="Space Grotesk" pitchFamily="34" charset="-122"/>
                <a:cs typeface="Space Grotesk" pitchFamily="34" charset="-120"/>
              </a:rPr>
              <a:t>battery-electric cars on German roads</a:t>
            </a:r>
            <a:endParaRPr lang="en-US" sz="1400" dirty="0"/>
          </a:p>
        </p:txBody>
      </p:sp>
      <p:sp>
        <p:nvSpPr>
          <p:cNvPr id="7" name="Shape 5"/>
          <p:cNvSpPr/>
          <p:nvPr/>
        </p:nvSpPr>
        <p:spPr>
          <a:xfrm>
            <a:off x="3517900" y="3622080"/>
            <a:ext cx="2451100" cy="0"/>
          </a:xfrm>
          <a:prstGeom prst="line">
            <a:avLst/>
          </a:prstGeom>
          <a:noFill/>
          <a:ln w="12700">
            <a:solidFill>
              <a:srgbClr val="B79CFF"/>
            </a:solidFill>
            <a:prstDash val="solid"/>
          </a:ln>
        </p:spPr>
      </p:sp>
      <p:sp>
        <p:nvSpPr>
          <p:cNvPr id="8" name="Text 6"/>
          <p:cNvSpPr/>
          <p:nvPr/>
        </p:nvSpPr>
        <p:spPr>
          <a:xfrm>
            <a:off x="3517900" y="3780830"/>
            <a:ext cx="2524633" cy="996950"/>
          </a:xfrm>
          <a:prstGeom prst="rect">
            <a:avLst/>
          </a:prstGeom>
          <a:noFill/>
          <a:ln/>
        </p:spPr>
        <p:txBody>
          <a:bodyPr wrap="square" lIns="0" tIns="0" rIns="0" bIns="0" rtlCol="0" anchor="t">
            <a:normAutofit/>
          </a:bodyPr>
          <a:lstStyle/>
          <a:p>
            <a:pPr algn="l" indent="0" marL="0">
              <a:lnSpc>
                <a:spcPts val="7650"/>
              </a:lnSpc>
              <a:buNone/>
            </a:pPr>
            <a:r>
              <a:rPr lang="en-US" sz="9000" dirty="0">
                <a:solidFill>
                  <a:srgbClr val="F5F4F0"/>
                </a:solidFill>
                <a:latin typeface="Bebas Neue" pitchFamily="34" charset="0"/>
                <a:ea typeface="Bebas Neue" pitchFamily="34" charset="-122"/>
                <a:cs typeface="Bebas Neue" pitchFamily="34" charset="-120"/>
              </a:rPr>
              <a:t>+43%</a:t>
            </a:r>
            <a:endParaRPr lang="en-US" sz="9000" dirty="0"/>
          </a:p>
        </p:txBody>
      </p:sp>
      <p:sp>
        <p:nvSpPr>
          <p:cNvPr id="9" name="Text 7"/>
          <p:cNvSpPr/>
          <p:nvPr/>
        </p:nvSpPr>
        <p:spPr>
          <a:xfrm>
            <a:off x="3517900" y="4828580"/>
            <a:ext cx="2524633"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AA0A7"/>
                </a:solidFill>
                <a:latin typeface="Space Grotesk" pitchFamily="34" charset="0"/>
                <a:ea typeface="Space Grotesk" pitchFamily="34" charset="-122"/>
                <a:cs typeface="Space Grotesk" pitchFamily="34" charset="-120"/>
              </a:rPr>
              <a:t>new BEV sales in 2025, now 19% of all new cars</a:t>
            </a:r>
            <a:endParaRPr lang="en-US" sz="1400" dirty="0"/>
          </a:p>
        </p:txBody>
      </p:sp>
      <p:sp>
        <p:nvSpPr>
          <p:cNvPr id="10" name="Shape 8"/>
          <p:cNvSpPr/>
          <p:nvPr/>
        </p:nvSpPr>
        <p:spPr>
          <a:xfrm>
            <a:off x="6223000" y="3622080"/>
            <a:ext cx="2451100" cy="0"/>
          </a:xfrm>
          <a:prstGeom prst="line">
            <a:avLst/>
          </a:prstGeom>
          <a:noFill/>
          <a:ln w="12700">
            <a:solidFill>
              <a:srgbClr val="B79CFF"/>
            </a:solidFill>
            <a:prstDash val="solid"/>
          </a:ln>
        </p:spPr>
      </p:sp>
      <p:sp>
        <p:nvSpPr>
          <p:cNvPr id="11" name="Text 9"/>
          <p:cNvSpPr/>
          <p:nvPr/>
        </p:nvSpPr>
        <p:spPr>
          <a:xfrm>
            <a:off x="6223000" y="3780830"/>
            <a:ext cx="2524633" cy="996950"/>
          </a:xfrm>
          <a:prstGeom prst="rect">
            <a:avLst/>
          </a:prstGeom>
          <a:noFill/>
          <a:ln/>
        </p:spPr>
        <p:txBody>
          <a:bodyPr wrap="square" lIns="0" tIns="0" rIns="0" bIns="0" rtlCol="0" anchor="t">
            <a:normAutofit/>
          </a:bodyPr>
          <a:lstStyle/>
          <a:p>
            <a:pPr algn="l" indent="0" marL="0">
              <a:lnSpc>
                <a:spcPts val="7650"/>
              </a:lnSpc>
              <a:buNone/>
            </a:pPr>
            <a:r>
              <a:rPr lang="en-US" sz="9000" dirty="0">
                <a:solidFill>
                  <a:srgbClr val="F5F4F0"/>
                </a:solidFill>
                <a:latin typeface="Bebas Neue" pitchFamily="34" charset="0"/>
                <a:ea typeface="Bebas Neue" pitchFamily="34" charset="-122"/>
                <a:cs typeface="Bebas Neue" pitchFamily="34" charset="-120"/>
              </a:rPr>
              <a:t>204K</a:t>
            </a:r>
            <a:endParaRPr lang="en-US" sz="9000" dirty="0"/>
          </a:p>
        </p:txBody>
      </p:sp>
      <p:sp>
        <p:nvSpPr>
          <p:cNvPr id="12" name="Text 10"/>
          <p:cNvSpPr/>
          <p:nvPr/>
        </p:nvSpPr>
        <p:spPr>
          <a:xfrm>
            <a:off x="6223000" y="4828580"/>
            <a:ext cx="2524633"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AA0A7"/>
                </a:solidFill>
                <a:latin typeface="Space Grotesk" pitchFamily="34" charset="0"/>
                <a:ea typeface="Space Grotesk" pitchFamily="34" charset="-122"/>
                <a:cs typeface="Space Grotesk" pitchFamily="34" charset="-120"/>
              </a:rPr>
              <a:t>public charging points, +17% in a year</a:t>
            </a:r>
            <a:endParaRPr lang="en-US" sz="1400" dirty="0"/>
          </a:p>
        </p:txBody>
      </p:sp>
      <p:sp>
        <p:nvSpPr>
          <p:cNvPr id="13" name="Shape 11"/>
          <p:cNvSpPr/>
          <p:nvPr/>
        </p:nvSpPr>
        <p:spPr>
          <a:xfrm>
            <a:off x="8928100" y="3622080"/>
            <a:ext cx="2451100" cy="0"/>
          </a:xfrm>
          <a:prstGeom prst="line">
            <a:avLst/>
          </a:prstGeom>
          <a:noFill/>
          <a:ln w="12700">
            <a:solidFill>
              <a:srgbClr val="C8E946"/>
            </a:solidFill>
            <a:prstDash val="solid"/>
          </a:ln>
        </p:spPr>
      </p:sp>
      <p:sp>
        <p:nvSpPr>
          <p:cNvPr id="14" name="Text 12"/>
          <p:cNvSpPr/>
          <p:nvPr/>
        </p:nvSpPr>
        <p:spPr>
          <a:xfrm>
            <a:off x="8928100" y="3780830"/>
            <a:ext cx="2524633" cy="996950"/>
          </a:xfrm>
          <a:prstGeom prst="rect">
            <a:avLst/>
          </a:prstGeom>
          <a:noFill/>
          <a:ln/>
        </p:spPr>
        <p:txBody>
          <a:bodyPr wrap="square" lIns="0" tIns="0" rIns="0" bIns="0" rtlCol="0" anchor="t">
            <a:normAutofit/>
          </a:bodyPr>
          <a:lstStyle/>
          <a:p>
            <a:pPr algn="l" indent="0" marL="0">
              <a:lnSpc>
                <a:spcPts val="7650"/>
              </a:lnSpc>
              <a:buNone/>
            </a:pPr>
            <a:r>
              <a:rPr lang="en-US" sz="9000" dirty="0">
                <a:solidFill>
                  <a:srgbClr val="C8E946"/>
                </a:solidFill>
                <a:latin typeface="Bebas Neue" pitchFamily="34" charset="0"/>
                <a:ea typeface="Bebas Neue" pitchFamily="34" charset="-122"/>
                <a:cs typeface="Bebas Neue" pitchFamily="34" charset="-120"/>
              </a:rPr>
              <a:t>1M</a:t>
            </a:r>
            <a:endParaRPr lang="en-US" sz="9000" dirty="0"/>
          </a:p>
        </p:txBody>
      </p:sp>
      <p:sp>
        <p:nvSpPr>
          <p:cNvPr id="15" name="Text 13"/>
          <p:cNvSpPr/>
          <p:nvPr/>
        </p:nvSpPr>
        <p:spPr>
          <a:xfrm>
            <a:off x="8928100" y="4828580"/>
            <a:ext cx="2524633"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AA0A7"/>
                </a:solidFill>
                <a:latin typeface="Space Grotesk" pitchFamily="34" charset="0"/>
                <a:ea typeface="Space Grotesk" pitchFamily="34" charset="-122"/>
                <a:cs typeface="Space Grotesk" pitchFamily="34" charset="-120"/>
              </a:rPr>
              <a:t>public points targeted by 2030</a:t>
            </a:r>
            <a:endParaRPr lang="en-US" sz="1400" dirty="0"/>
          </a:p>
        </p:txBody>
      </p:sp>
      <p:sp>
        <p:nvSpPr>
          <p:cNvPr id="16" name="Text 14"/>
          <p:cNvSpPr/>
          <p:nvPr/>
        </p:nvSpPr>
        <p:spPr>
          <a:xfrm>
            <a:off x="812800" y="55448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spc="-25" kern="0" dirty="0">
                <a:solidFill>
                  <a:srgbClr val="F5F4F0"/>
                </a:solidFill>
                <a:latin typeface="Space Grotesk" pitchFamily="34" charset="0"/>
                <a:ea typeface="Space Grotesk" pitchFamily="34" charset="-122"/>
                <a:cs typeface="Space Grotesk" pitchFamily="34" charset="-120"/>
              </a:rPr>
              <a:t>≈ 10 EVs share every public charge point. </a:t>
            </a:r>
            <a:r>
              <a:rPr lang="en-US" sz="1800" spc="-25" kern="0" dirty="0">
                <a:solidFill>
                  <a:srgbClr val="C8E946"/>
                </a:solidFill>
                <a:latin typeface="Space Grotesk" pitchFamily="34" charset="0"/>
                <a:ea typeface="Space Grotesk" pitchFamily="34" charset="-122"/>
                <a:cs typeface="Space Grotesk" pitchFamily="34" charset="-120"/>
              </a:rPr>
              <a:t>Every bay has to work harder.</a:t>
            </a:r>
            <a:endParaRPr lang="en-US" sz="1800" dirty="0"/>
          </a:p>
        </p:txBody>
      </p:sp>
      <p:sp>
        <p:nvSpPr>
          <p:cNvPr id="17" name="Text 15"/>
          <p:cNvSpPr/>
          <p:nvPr/>
        </p:nvSpPr>
        <p:spPr>
          <a:xfrm>
            <a:off x="812800" y="6238280"/>
            <a:ext cx="92194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Sources: KBA (Jan 2026), Bundesnetzagentur (May 2026), via electrive and Clean Energy Wire. Ratio: our calculation.</a:t>
            </a:r>
            <a:endParaRPr lang="en-US" sz="1200" dirty="0"/>
          </a:p>
        </p:txBody>
      </p:sp>
      <p:sp>
        <p:nvSpPr>
          <p:cNvPr id="18" name="Text 16"/>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02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MARKET SIZE</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A </a:t>
            </a:r>
            <a:r>
              <a:rPr lang="en-US" sz="6000" b="0" i="0" dirty="0">
                <a:solidFill>
                  <a:srgbClr val="C8E946"/>
                </a:solidFill>
                <a:latin typeface="Bebas Neue" pitchFamily="34" charset="0"/>
                <a:ea typeface="Bebas Neue" pitchFamily="34" charset="-122"/>
                <a:cs typeface="Bebas Neue" pitchFamily="34" charset="-120"/>
              </a:rPr>
              <a:t>€33B</a:t>
            </a:r>
            <a:r>
              <a:rPr lang="en-US" sz="6000" b="0" i="0" dirty="0">
                <a:solidFill>
                  <a:srgbClr val="F5F4F0"/>
                </a:solidFill>
                <a:latin typeface="Bebas Neue" pitchFamily="34" charset="0"/>
                <a:ea typeface="Bebas Neue" pitchFamily="34" charset="-122"/>
                <a:cs typeface="Bebas Neue" pitchFamily="34" charset="-120"/>
              </a:rPr>
              <a:t> MARKET BY 2030</a:t>
            </a:r>
            <a:endParaRPr lang="en-US" sz="6000" dirty="0"/>
          </a:p>
        </p:txBody>
      </p:sp>
      <p:sp>
        <p:nvSpPr>
          <p:cNvPr id="4" name="Shape 2"/>
          <p:cNvSpPr/>
          <p:nvPr/>
        </p:nvSpPr>
        <p:spPr>
          <a:xfrm>
            <a:off x="812800" y="2147540"/>
            <a:ext cx="10566400" cy="904230"/>
          </a:xfrm>
          <a:prstGeom prst="roundRect">
            <a:avLst>
              <a:gd name="adj" fmla="val 14045"/>
            </a:avLst>
          </a:prstGeom>
          <a:solidFill>
            <a:srgbClr val="1E252C"/>
          </a:solidFill>
          <a:ln/>
        </p:spPr>
      </p:sp>
      <p:sp>
        <p:nvSpPr>
          <p:cNvPr id="5" name="Text 3"/>
          <p:cNvSpPr/>
          <p:nvPr/>
        </p:nvSpPr>
        <p:spPr>
          <a:xfrm>
            <a:off x="1066800" y="2492970"/>
            <a:ext cx="812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9CFF"/>
                </a:solidFill>
                <a:latin typeface="JetBrains Mono" pitchFamily="49" charset="0"/>
                <a:ea typeface="JetBrains Mono" pitchFamily="49" charset="-122"/>
                <a:cs typeface="JetBrains Mono" pitchFamily="49" charset="-120"/>
              </a:rPr>
              <a:t>TAM</a:t>
            </a:r>
            <a:endParaRPr lang="en-US" sz="1200" dirty="0"/>
          </a:p>
        </p:txBody>
      </p:sp>
      <p:sp>
        <p:nvSpPr>
          <p:cNvPr id="6" name="Text 4"/>
          <p:cNvSpPr/>
          <p:nvPr/>
        </p:nvSpPr>
        <p:spPr>
          <a:xfrm>
            <a:off x="2082800" y="2325340"/>
            <a:ext cx="2747010" cy="574030"/>
          </a:xfrm>
          <a:prstGeom prst="rect">
            <a:avLst/>
          </a:prstGeom>
          <a:noFill/>
          <a:ln/>
        </p:spPr>
        <p:txBody>
          <a:bodyPr wrap="square" lIns="0" tIns="0" rIns="0" bIns="0" rtlCol="0" anchor="t">
            <a:normAutofit/>
          </a:bodyPr>
          <a:lstStyle/>
          <a:p>
            <a:pPr algn="l" indent="0" marL="0">
              <a:lnSpc>
                <a:spcPts val="4320"/>
              </a:lnSpc>
              <a:buNone/>
            </a:pPr>
            <a:r>
              <a:rPr lang="en-US" sz="4800" dirty="0">
                <a:solidFill>
                  <a:srgbClr val="F5F4F0"/>
                </a:solidFill>
                <a:latin typeface="Bebas Neue" pitchFamily="34" charset="0"/>
                <a:ea typeface="Bebas Neue" pitchFamily="34" charset="-122"/>
                <a:cs typeface="Bebas Neue" pitchFamily="34" charset="-120"/>
              </a:rPr>
              <a:t>€33B / YR</a:t>
            </a:r>
            <a:endParaRPr lang="en-US" sz="4800" dirty="0"/>
          </a:p>
        </p:txBody>
      </p:sp>
      <p:sp>
        <p:nvSpPr>
          <p:cNvPr id="7" name="Text 5"/>
          <p:cNvSpPr/>
          <p:nvPr/>
        </p:nvSpPr>
        <p:spPr>
          <a:xfrm>
            <a:off x="5003800" y="2484090"/>
            <a:ext cx="630504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CCD1"/>
                </a:solidFill>
                <a:latin typeface="Space Grotesk" pitchFamily="34" charset="0"/>
                <a:ea typeface="Space Grotesk" pitchFamily="34" charset="-122"/>
                <a:cs typeface="Space Grotesk" pitchFamily="34" charset="-120"/>
              </a:rPr>
              <a:t>Public EV charging electricity sales in Europe by 2030</a:t>
            </a:r>
            <a:endParaRPr lang="en-US" sz="1400" dirty="0"/>
          </a:p>
        </p:txBody>
      </p:sp>
      <p:sp>
        <p:nvSpPr>
          <p:cNvPr id="8" name="Shape 6"/>
          <p:cNvSpPr/>
          <p:nvPr/>
        </p:nvSpPr>
        <p:spPr>
          <a:xfrm>
            <a:off x="812800" y="3178770"/>
            <a:ext cx="8001000" cy="904230"/>
          </a:xfrm>
          <a:prstGeom prst="roundRect">
            <a:avLst>
              <a:gd name="adj" fmla="val 14045"/>
            </a:avLst>
          </a:prstGeom>
          <a:solidFill>
            <a:srgbClr val="B79CFF"/>
          </a:solidFill>
          <a:ln/>
        </p:spPr>
      </p:sp>
      <p:sp>
        <p:nvSpPr>
          <p:cNvPr id="9" name="Text 7"/>
          <p:cNvSpPr/>
          <p:nvPr/>
        </p:nvSpPr>
        <p:spPr>
          <a:xfrm>
            <a:off x="1066800" y="3524200"/>
            <a:ext cx="812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F1419"/>
                </a:solidFill>
                <a:latin typeface="JetBrains Mono" pitchFamily="49" charset="0"/>
                <a:ea typeface="JetBrains Mono" pitchFamily="49" charset="-122"/>
                <a:cs typeface="JetBrains Mono" pitchFamily="49" charset="-120"/>
              </a:rPr>
              <a:t>SAM</a:t>
            </a:r>
            <a:endParaRPr lang="en-US" sz="1200" dirty="0"/>
          </a:p>
        </p:txBody>
      </p:sp>
      <p:sp>
        <p:nvSpPr>
          <p:cNvPr id="10" name="Text 8"/>
          <p:cNvSpPr/>
          <p:nvPr/>
        </p:nvSpPr>
        <p:spPr>
          <a:xfrm>
            <a:off x="2082800" y="3356570"/>
            <a:ext cx="2747010" cy="574030"/>
          </a:xfrm>
          <a:prstGeom prst="rect">
            <a:avLst/>
          </a:prstGeom>
          <a:noFill/>
          <a:ln/>
        </p:spPr>
        <p:txBody>
          <a:bodyPr wrap="square" lIns="0" tIns="0" rIns="0" bIns="0" rtlCol="0" anchor="t">
            <a:normAutofit/>
          </a:bodyPr>
          <a:lstStyle/>
          <a:p>
            <a:pPr algn="l" indent="0" marL="0">
              <a:lnSpc>
                <a:spcPts val="4320"/>
              </a:lnSpc>
              <a:buNone/>
            </a:pPr>
            <a:r>
              <a:rPr lang="en-US" sz="4800" dirty="0">
                <a:solidFill>
                  <a:srgbClr val="0F1419"/>
                </a:solidFill>
                <a:latin typeface="Bebas Neue" pitchFamily="34" charset="0"/>
                <a:ea typeface="Bebas Neue" pitchFamily="34" charset="-122"/>
                <a:cs typeface="Bebas Neue" pitchFamily="34" charset="-120"/>
              </a:rPr>
              <a:t>€94M / YR</a:t>
            </a:r>
            <a:endParaRPr lang="en-US" sz="4800" dirty="0"/>
          </a:p>
        </p:txBody>
      </p:sp>
      <p:sp>
        <p:nvSpPr>
          <p:cNvPr id="11" name="Text 9"/>
          <p:cNvSpPr/>
          <p:nvPr/>
        </p:nvSpPr>
        <p:spPr>
          <a:xfrm>
            <a:off x="5003800" y="3399730"/>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1419"/>
                </a:solidFill>
                <a:latin typeface="Space Grotesk" pitchFamily="34" charset="0"/>
                <a:ea typeface="Space Grotesk" pitchFamily="34" charset="-122"/>
                <a:cs typeface="Space Grotesk" pitchFamily="34" charset="-120"/>
              </a:rPr>
              <a:t>Reservation spend if Germany’s 51K DC fast points sell one €5 booking a day</a:t>
            </a:r>
            <a:endParaRPr lang="en-US" sz="1400" dirty="0"/>
          </a:p>
        </p:txBody>
      </p:sp>
      <p:sp>
        <p:nvSpPr>
          <p:cNvPr id="12" name="Shape 10"/>
          <p:cNvSpPr/>
          <p:nvPr/>
        </p:nvSpPr>
        <p:spPr>
          <a:xfrm>
            <a:off x="812800" y="4210000"/>
            <a:ext cx="6604000" cy="904230"/>
          </a:xfrm>
          <a:prstGeom prst="roundRect">
            <a:avLst>
              <a:gd name="adj" fmla="val 14045"/>
            </a:avLst>
          </a:prstGeom>
          <a:solidFill>
            <a:srgbClr val="C8E946"/>
          </a:solidFill>
          <a:ln/>
        </p:spPr>
      </p:sp>
      <p:sp>
        <p:nvSpPr>
          <p:cNvPr id="13" name="Text 11"/>
          <p:cNvSpPr/>
          <p:nvPr/>
        </p:nvSpPr>
        <p:spPr>
          <a:xfrm>
            <a:off x="1066800" y="4555430"/>
            <a:ext cx="812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F1419"/>
                </a:solidFill>
                <a:latin typeface="JetBrains Mono" pitchFamily="49" charset="0"/>
                <a:ea typeface="JetBrains Mono" pitchFamily="49" charset="-122"/>
                <a:cs typeface="JetBrains Mono" pitchFamily="49" charset="-120"/>
              </a:rPr>
              <a:t>SOM</a:t>
            </a:r>
            <a:endParaRPr lang="en-US" sz="1200" dirty="0"/>
          </a:p>
        </p:txBody>
      </p:sp>
      <p:sp>
        <p:nvSpPr>
          <p:cNvPr id="14" name="Text 12"/>
          <p:cNvSpPr/>
          <p:nvPr/>
        </p:nvSpPr>
        <p:spPr>
          <a:xfrm>
            <a:off x="2082800" y="4387800"/>
            <a:ext cx="2747010" cy="574030"/>
          </a:xfrm>
          <a:prstGeom prst="rect">
            <a:avLst/>
          </a:prstGeom>
          <a:noFill/>
          <a:ln/>
        </p:spPr>
        <p:txBody>
          <a:bodyPr wrap="square" lIns="0" tIns="0" rIns="0" bIns="0" rtlCol="0" anchor="t">
            <a:normAutofit/>
          </a:bodyPr>
          <a:lstStyle/>
          <a:p>
            <a:pPr algn="l" indent="0" marL="0">
              <a:lnSpc>
                <a:spcPts val="4320"/>
              </a:lnSpc>
              <a:buNone/>
            </a:pPr>
            <a:r>
              <a:rPr lang="en-US" sz="4800" dirty="0">
                <a:solidFill>
                  <a:srgbClr val="0F1419"/>
                </a:solidFill>
                <a:latin typeface="Bebas Neue" pitchFamily="34" charset="0"/>
                <a:ea typeface="Bebas Neue" pitchFamily="34" charset="-122"/>
                <a:cs typeface="Bebas Neue" pitchFamily="34" charset="-120"/>
              </a:rPr>
              <a:t>€1.7M / YR</a:t>
            </a:r>
            <a:endParaRPr lang="en-US" sz="4800" dirty="0"/>
          </a:p>
        </p:txBody>
      </p:sp>
      <p:sp>
        <p:nvSpPr>
          <p:cNvPr id="15" name="Text 13"/>
          <p:cNvSpPr/>
          <p:nvPr/>
        </p:nvSpPr>
        <p:spPr>
          <a:xfrm>
            <a:off x="5003800" y="4430961"/>
            <a:ext cx="222377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1419"/>
                </a:solidFill>
                <a:latin typeface="Space Grotesk" pitchFamily="34" charset="0"/>
                <a:ea typeface="Space Grotesk" pitchFamily="34" charset="-122"/>
                <a:cs typeface="Space Grotesk" pitchFamily="34" charset="-120"/>
              </a:rPr>
              <a:t>500 bays · 3 bookings a day · €3.03 kept</a:t>
            </a:r>
            <a:endParaRPr lang="en-US" sz="1400" dirty="0"/>
          </a:p>
        </p:txBody>
      </p:sp>
      <p:sp>
        <p:nvSpPr>
          <p:cNvPr id="16" name="Text 14"/>
          <p:cNvSpPr/>
          <p:nvPr/>
        </p:nvSpPr>
        <p:spPr>
          <a:xfrm>
            <a:off x="812800" y="5610870"/>
            <a:ext cx="1088339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AA0A7"/>
                </a:solidFill>
                <a:latin typeface="Space Grotesk" pitchFamily="34" charset="0"/>
                <a:ea typeface="Space Grotesk" pitchFamily="34" charset="-122"/>
                <a:cs typeface="Space Grotesk" pitchFamily="34" charset="-120"/>
              </a:rPr>
              <a:t>Charging-station market: $11.3B (2025) → $35.8B (2030), </a:t>
            </a:r>
            <a:r>
              <a:rPr lang="en-US" sz="1400" dirty="0">
                <a:solidFill>
                  <a:srgbClr val="F5F4F0"/>
                </a:solidFill>
                <a:latin typeface="Space Grotesk" pitchFamily="34" charset="0"/>
                <a:ea typeface="Space Grotesk" pitchFamily="34" charset="-122"/>
                <a:cs typeface="Space Grotesk" pitchFamily="34" charset="-120"/>
              </a:rPr>
              <a:t>+26% a year.</a:t>
            </a:r>
            <a:endParaRPr lang="en-US" sz="1400" dirty="0"/>
          </a:p>
        </p:txBody>
      </p:sp>
      <p:sp>
        <p:nvSpPr>
          <p:cNvPr id="17" name="Text 15"/>
          <p:cNvSpPr/>
          <p:nvPr/>
        </p:nvSpPr>
        <p:spPr>
          <a:xfrm>
            <a:off x="812800" y="6238280"/>
            <a:ext cx="79783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TAM: BCG (2021 est.). Station market: Ken Research. SAM/SOM: our calculations, illustrative.</a:t>
            </a:r>
            <a:endParaRPr lang="en-US" sz="1200" dirty="0"/>
          </a:p>
        </p:txBody>
      </p:sp>
      <p:sp>
        <p:nvSpPr>
          <p:cNvPr id="18" name="Text 16"/>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03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5B1CF0"/>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0F1419"/>
                </a:solidFill>
                <a:latin typeface="Bebas Neue" pitchFamily="34" charset="0"/>
                <a:ea typeface="Bebas Neue" pitchFamily="34" charset="-122"/>
                <a:cs typeface="Bebas Neue" pitchFamily="34" charset="-120"/>
              </a:rPr>
              <a:t>YOU ARRIVE. </a:t>
            </a:r>
            <a:r>
              <a:rPr lang="en-US" sz="6000" b="0" i="0" dirty="0">
                <a:solidFill>
                  <a:srgbClr val="5B1CF0"/>
                </a:solidFill>
                <a:latin typeface="Bebas Neue" pitchFamily="34" charset="0"/>
                <a:ea typeface="Bebas Neue" pitchFamily="34" charset="-122"/>
                <a:cs typeface="Bebas Neue" pitchFamily="34" charset="-120"/>
              </a:rPr>
              <a:t>THE BAY IS TAKEN.</a:t>
            </a:r>
            <a:endParaRPr lang="en-US" sz="6000" dirty="0"/>
          </a:p>
        </p:txBody>
      </p:sp>
      <p:sp>
        <p:nvSpPr>
          <p:cNvPr id="4" name="Text 2"/>
          <p:cNvSpPr/>
          <p:nvPr/>
        </p:nvSpPr>
        <p:spPr>
          <a:xfrm>
            <a:off x="812800" y="2694930"/>
            <a:ext cx="5180076" cy="1752600"/>
          </a:xfrm>
          <a:prstGeom prst="rect">
            <a:avLst/>
          </a:prstGeom>
          <a:noFill/>
          <a:ln/>
        </p:spPr>
        <p:txBody>
          <a:bodyPr wrap="square" lIns="0" tIns="0" rIns="0" bIns="0" rtlCol="0" anchor="t">
            <a:normAutofit/>
          </a:bodyPr>
          <a:lstStyle/>
          <a:p>
            <a:pPr algn="l" indent="0" marL="0">
              <a:lnSpc>
                <a:spcPts val="13600"/>
              </a:lnSpc>
              <a:buNone/>
            </a:pPr>
            <a:r>
              <a:rPr lang="en-US" sz="17000" dirty="0">
                <a:solidFill>
                  <a:srgbClr val="5B1CF0"/>
                </a:solidFill>
                <a:latin typeface="Bebas Neue" pitchFamily="34" charset="0"/>
                <a:ea typeface="Bebas Neue" pitchFamily="34" charset="-122"/>
                <a:cs typeface="Bebas Neue" pitchFamily="34" charset="-120"/>
              </a:rPr>
              <a:t>45%</a:t>
            </a:r>
            <a:endParaRPr lang="en-US" sz="17000" dirty="0"/>
          </a:p>
        </p:txBody>
      </p:sp>
      <p:sp>
        <p:nvSpPr>
          <p:cNvPr id="5" name="Text 3"/>
          <p:cNvSpPr/>
          <p:nvPr/>
        </p:nvSpPr>
        <p:spPr>
          <a:xfrm>
            <a:off x="812800" y="4523730"/>
            <a:ext cx="518007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419"/>
                </a:solidFill>
                <a:latin typeface="Space Grotesk" pitchFamily="34" charset="0"/>
                <a:ea typeface="Space Grotesk" pitchFamily="34" charset="-122"/>
                <a:cs typeface="Space Grotesk" pitchFamily="34" charset="-120"/>
              </a:rPr>
              <a:t>of European EV drivers say a charger </a:t>
            </a:r>
            <a:r>
              <a:rPr lang="en-US" sz="1600" b="1" dirty="0">
                <a:solidFill>
                  <a:srgbClr val="0F1419"/>
                </a:solidFill>
                <a:latin typeface="Space Grotesk" pitchFamily="34" charset="0"/>
                <a:ea typeface="Space Grotesk" pitchFamily="34" charset="-122"/>
                <a:cs typeface="Space Grotesk" pitchFamily="34" charset="-120"/>
              </a:rPr>
              <a:t>occupied by another vehicle</a:t>
            </a:r>
            <a:r>
              <a:rPr lang="en-US" sz="1600" dirty="0">
                <a:solidFill>
                  <a:srgbClr val="0F1419"/>
                </a:solidFill>
                <a:latin typeface="Space Grotesk" pitchFamily="34" charset="0"/>
                <a:ea typeface="Space Grotesk" pitchFamily="34" charset="-122"/>
                <a:cs typeface="Space Grotesk" pitchFamily="34" charset="-120"/>
              </a:rPr>
              <a:t> is one of their biggest problems.</a:t>
            </a:r>
            <a:endParaRPr lang="en-US" sz="1600" dirty="0"/>
          </a:p>
        </p:txBody>
      </p:sp>
      <p:sp>
        <p:nvSpPr>
          <p:cNvPr id="6" name="Shape 4"/>
          <p:cNvSpPr/>
          <p:nvPr/>
        </p:nvSpPr>
        <p:spPr>
          <a:xfrm>
            <a:off x="6350000" y="2787600"/>
            <a:ext cx="5029200" cy="0"/>
          </a:xfrm>
          <a:prstGeom prst="line">
            <a:avLst/>
          </a:prstGeom>
          <a:noFill/>
          <a:ln w="12700">
            <a:solidFill>
              <a:srgbClr val="0F1419"/>
            </a:solidFill>
            <a:prstDash val="solid"/>
          </a:ln>
        </p:spPr>
      </p:sp>
      <p:sp>
        <p:nvSpPr>
          <p:cNvPr id="7" name="Text 5"/>
          <p:cNvSpPr/>
          <p:nvPr/>
        </p:nvSpPr>
        <p:spPr>
          <a:xfrm>
            <a:off x="6350000" y="309240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1CF0"/>
                </a:solidFill>
                <a:latin typeface="JetBrains Mono" pitchFamily="49" charset="0"/>
                <a:ea typeface="JetBrains Mono" pitchFamily="49" charset="-122"/>
                <a:cs typeface="JetBrains Mono" pitchFamily="49" charset="-120"/>
              </a:rPr>
              <a:t>01</a:t>
            </a:r>
            <a:endParaRPr lang="en-US" sz="1200" dirty="0"/>
          </a:p>
        </p:txBody>
      </p:sp>
      <p:sp>
        <p:nvSpPr>
          <p:cNvPr id="8" name="Text 6"/>
          <p:cNvSpPr/>
          <p:nvPr/>
        </p:nvSpPr>
        <p:spPr>
          <a:xfrm>
            <a:off x="6710710" y="2971750"/>
            <a:ext cx="2800171"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OCCUPIED ON ARRIVAL</a:t>
            </a:r>
            <a:endParaRPr lang="en-US" sz="2800" dirty="0"/>
          </a:p>
        </p:txBody>
      </p:sp>
      <p:sp>
        <p:nvSpPr>
          <p:cNvPr id="9" name="Shape 7"/>
          <p:cNvSpPr/>
          <p:nvPr/>
        </p:nvSpPr>
        <p:spPr>
          <a:xfrm>
            <a:off x="6350000" y="3511500"/>
            <a:ext cx="5029200" cy="0"/>
          </a:xfrm>
          <a:prstGeom prst="line">
            <a:avLst/>
          </a:prstGeom>
          <a:noFill/>
          <a:ln w="12700">
            <a:solidFill>
              <a:srgbClr val="0F1419"/>
            </a:solidFill>
            <a:prstDash val="solid"/>
          </a:ln>
        </p:spPr>
      </p:sp>
      <p:sp>
        <p:nvSpPr>
          <p:cNvPr id="10" name="Text 8"/>
          <p:cNvSpPr/>
          <p:nvPr/>
        </p:nvSpPr>
        <p:spPr>
          <a:xfrm>
            <a:off x="6350000" y="381630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1CF0"/>
                </a:solidFill>
                <a:latin typeface="JetBrains Mono" pitchFamily="49" charset="0"/>
                <a:ea typeface="JetBrains Mono" pitchFamily="49" charset="-122"/>
                <a:cs typeface="JetBrains Mono" pitchFamily="49" charset="-120"/>
              </a:rPr>
              <a:t>02</a:t>
            </a:r>
            <a:endParaRPr lang="en-US" sz="1200" dirty="0"/>
          </a:p>
        </p:txBody>
      </p:sp>
      <p:sp>
        <p:nvSpPr>
          <p:cNvPr id="11" name="Text 9"/>
          <p:cNvSpPr/>
          <p:nvPr/>
        </p:nvSpPr>
        <p:spPr>
          <a:xfrm>
            <a:off x="6710710" y="3695650"/>
            <a:ext cx="361819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NO-SHOWS BLOCK BOOKINGS</a:t>
            </a:r>
            <a:endParaRPr lang="en-US" sz="2800" dirty="0"/>
          </a:p>
        </p:txBody>
      </p:sp>
      <p:sp>
        <p:nvSpPr>
          <p:cNvPr id="12" name="Shape 10"/>
          <p:cNvSpPr/>
          <p:nvPr/>
        </p:nvSpPr>
        <p:spPr>
          <a:xfrm>
            <a:off x="6350000" y="4235400"/>
            <a:ext cx="5029200" cy="0"/>
          </a:xfrm>
          <a:prstGeom prst="line">
            <a:avLst/>
          </a:prstGeom>
          <a:noFill/>
          <a:ln w="12700">
            <a:solidFill>
              <a:srgbClr val="0F1419"/>
            </a:solidFill>
            <a:prstDash val="solid"/>
          </a:ln>
        </p:spPr>
      </p:sp>
      <p:sp>
        <p:nvSpPr>
          <p:cNvPr id="13" name="Shape 11"/>
          <p:cNvSpPr/>
          <p:nvPr/>
        </p:nvSpPr>
        <p:spPr>
          <a:xfrm>
            <a:off x="6350000" y="4959300"/>
            <a:ext cx="5029200" cy="0"/>
          </a:xfrm>
          <a:prstGeom prst="line">
            <a:avLst/>
          </a:prstGeom>
          <a:noFill/>
          <a:ln w="12700">
            <a:solidFill>
              <a:srgbClr val="0F1419"/>
            </a:solidFill>
            <a:prstDash val="solid"/>
          </a:ln>
        </p:spPr>
      </p:sp>
      <p:sp>
        <p:nvSpPr>
          <p:cNvPr id="14" name="Text 12"/>
          <p:cNvSpPr/>
          <p:nvPr/>
        </p:nvSpPr>
        <p:spPr>
          <a:xfrm>
            <a:off x="6350000" y="454020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1CF0"/>
                </a:solidFill>
                <a:latin typeface="JetBrains Mono" pitchFamily="49" charset="0"/>
                <a:ea typeface="JetBrains Mono" pitchFamily="49" charset="-122"/>
                <a:cs typeface="JetBrains Mono" pitchFamily="49" charset="-120"/>
              </a:rPr>
              <a:t>03</a:t>
            </a:r>
            <a:endParaRPr lang="en-US" sz="1200" dirty="0"/>
          </a:p>
        </p:txBody>
      </p:sp>
      <p:sp>
        <p:nvSpPr>
          <p:cNvPr id="15" name="Text 13"/>
          <p:cNvSpPr/>
          <p:nvPr/>
        </p:nvSpPr>
        <p:spPr>
          <a:xfrm>
            <a:off x="6710710" y="4419550"/>
            <a:ext cx="3608784"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OVERSTAYS &amp; BLOCKED BAYS</a:t>
            </a:r>
            <a:endParaRPr lang="en-US" sz="2800" dirty="0"/>
          </a:p>
        </p:txBody>
      </p:sp>
      <p:sp>
        <p:nvSpPr>
          <p:cNvPr id="16" name="Text 14"/>
          <p:cNvSpPr/>
          <p:nvPr/>
        </p:nvSpPr>
        <p:spPr>
          <a:xfrm>
            <a:off x="812800" y="6238280"/>
            <a:ext cx="80404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Source: Parkopedia European Driver Survey 2024 (2,440 respondents, incl. 1,220 EV drivers).</a:t>
            </a:r>
            <a:endParaRPr lang="en-US" sz="1200" dirty="0"/>
          </a:p>
        </p:txBody>
      </p:sp>
      <p:sp>
        <p:nvSpPr>
          <p:cNvPr id="17" name="Text 15"/>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8"/>
                </a:solidFill>
                <a:latin typeface="JetBrains Mono" pitchFamily="49" charset="0"/>
                <a:ea typeface="JetBrains Mono" pitchFamily="49" charset="-122"/>
                <a:cs typeface="JetBrains Mono" pitchFamily="49" charset="-120"/>
              </a:rPr>
              <a:t>04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THE IMPACT</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EVERYONE LOSES</a:t>
            </a:r>
            <a:endParaRPr lang="en-US" sz="6000" dirty="0"/>
          </a:p>
        </p:txBody>
      </p:sp>
      <p:sp>
        <p:nvSpPr>
          <p:cNvPr id="4" name="Shape 2"/>
          <p:cNvSpPr/>
          <p:nvPr/>
        </p:nvSpPr>
        <p:spPr>
          <a:xfrm>
            <a:off x="815975" y="1908125"/>
            <a:ext cx="3414167" cy="3379539"/>
          </a:xfrm>
          <a:prstGeom prst="roundRect">
            <a:avLst>
              <a:gd name="adj" fmla="val 4416"/>
            </a:avLst>
          </a:prstGeom>
          <a:solidFill>
            <a:srgbClr val="161C22"/>
          </a:solidFill>
          <a:ln w="6350">
            <a:solidFill>
              <a:srgbClr val="2A3139"/>
            </a:solidFill>
            <a:prstDash val="solid"/>
          </a:ln>
        </p:spPr>
      </p:sp>
      <p:sp>
        <p:nvSpPr>
          <p:cNvPr id="5" name="Text 3"/>
          <p:cNvSpPr/>
          <p:nvPr/>
        </p:nvSpPr>
        <p:spPr>
          <a:xfrm>
            <a:off x="1073150" y="2165300"/>
            <a:ext cx="298681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9CFF"/>
                </a:solidFill>
                <a:latin typeface="JetBrains Mono" pitchFamily="49" charset="0"/>
                <a:ea typeface="JetBrains Mono" pitchFamily="49" charset="-122"/>
                <a:cs typeface="JetBrains Mono" pitchFamily="49" charset="-120"/>
              </a:rPr>
              <a:t>DRIVERS</a:t>
            </a:r>
            <a:endParaRPr lang="en-US" sz="1200" dirty="0"/>
          </a:p>
        </p:txBody>
      </p:sp>
      <p:sp>
        <p:nvSpPr>
          <p:cNvPr id="6" name="Text 4"/>
          <p:cNvSpPr/>
          <p:nvPr/>
        </p:nvSpPr>
        <p:spPr>
          <a:xfrm>
            <a:off x="1073150" y="2480221"/>
            <a:ext cx="2986811" cy="894060"/>
          </a:xfrm>
          <a:prstGeom prst="rect">
            <a:avLst/>
          </a:prstGeom>
          <a:noFill/>
          <a:ln/>
        </p:spPr>
        <p:txBody>
          <a:bodyPr wrap="square" lIns="0" tIns="0" rIns="0" bIns="0" rtlCol="0" anchor="t">
            <a:normAutofit/>
          </a:bodyPr>
          <a:lstStyle/>
          <a:p>
            <a:pPr algn="l" indent="0" marL="0">
              <a:lnSpc>
                <a:spcPts val="3420"/>
              </a:lnSpc>
              <a:buNone/>
            </a:pPr>
            <a:r>
              <a:rPr lang="en-US" sz="3600" dirty="0">
                <a:solidFill>
                  <a:srgbClr val="F5F4F0"/>
                </a:solidFill>
                <a:latin typeface="Bebas Neue" pitchFamily="34" charset="0"/>
                <a:ea typeface="Bebas Neue" pitchFamily="34" charset="-122"/>
                <a:cs typeface="Bebas Neue" pitchFamily="34" charset="-120"/>
              </a:rPr>
              <a:t>DETOURS, WAITING, RANGE STRESS</a:t>
            </a:r>
            <a:endParaRPr lang="en-US" sz="3600" dirty="0"/>
          </a:p>
        </p:txBody>
      </p:sp>
      <p:sp>
        <p:nvSpPr>
          <p:cNvPr id="7" name="Shape 5"/>
          <p:cNvSpPr/>
          <p:nvPr/>
        </p:nvSpPr>
        <p:spPr>
          <a:xfrm>
            <a:off x="4388892" y="1908125"/>
            <a:ext cx="3414216" cy="3379539"/>
          </a:xfrm>
          <a:prstGeom prst="roundRect">
            <a:avLst>
              <a:gd name="adj" fmla="val 4416"/>
            </a:avLst>
          </a:prstGeom>
          <a:solidFill>
            <a:srgbClr val="161C22"/>
          </a:solidFill>
          <a:ln w="6350">
            <a:solidFill>
              <a:srgbClr val="2A3139"/>
            </a:solidFill>
            <a:prstDash val="solid"/>
          </a:ln>
        </p:spPr>
      </p:sp>
      <p:sp>
        <p:nvSpPr>
          <p:cNvPr id="8" name="Text 6"/>
          <p:cNvSpPr/>
          <p:nvPr/>
        </p:nvSpPr>
        <p:spPr>
          <a:xfrm>
            <a:off x="4646067" y="2165300"/>
            <a:ext cx="298686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9CFF"/>
                </a:solidFill>
                <a:latin typeface="JetBrains Mono" pitchFamily="49" charset="0"/>
                <a:ea typeface="JetBrains Mono" pitchFamily="49" charset="-122"/>
                <a:cs typeface="JetBrains Mono" pitchFamily="49" charset="-120"/>
              </a:rPr>
              <a:t>CHARGE-POINT OPERATORS</a:t>
            </a:r>
            <a:endParaRPr lang="en-US" sz="1200" dirty="0"/>
          </a:p>
        </p:txBody>
      </p:sp>
      <p:sp>
        <p:nvSpPr>
          <p:cNvPr id="9" name="Text 7"/>
          <p:cNvSpPr/>
          <p:nvPr/>
        </p:nvSpPr>
        <p:spPr>
          <a:xfrm>
            <a:off x="4646067" y="2480221"/>
            <a:ext cx="2986862" cy="894060"/>
          </a:xfrm>
          <a:prstGeom prst="rect">
            <a:avLst/>
          </a:prstGeom>
          <a:noFill/>
          <a:ln/>
        </p:spPr>
        <p:txBody>
          <a:bodyPr wrap="square" lIns="0" tIns="0" rIns="0" bIns="0" rtlCol="0" anchor="t">
            <a:normAutofit/>
          </a:bodyPr>
          <a:lstStyle/>
          <a:p>
            <a:pPr algn="l" indent="0" marL="0">
              <a:lnSpc>
                <a:spcPts val="3420"/>
              </a:lnSpc>
              <a:buNone/>
            </a:pPr>
            <a:r>
              <a:rPr lang="en-US" sz="3600" dirty="0">
                <a:solidFill>
                  <a:srgbClr val="F5F4F0"/>
                </a:solidFill>
                <a:latin typeface="Bebas Neue" pitchFamily="34" charset="0"/>
                <a:ea typeface="Bebas Neue" pitchFamily="34" charset="-122"/>
                <a:cs typeface="Bebas Neue" pitchFamily="34" charset="-120"/>
              </a:rPr>
              <a:t>IDLE BAYS, LOST SESSIONS</a:t>
            </a:r>
            <a:endParaRPr lang="en-US" sz="3600" dirty="0"/>
          </a:p>
        </p:txBody>
      </p:sp>
      <p:sp>
        <p:nvSpPr>
          <p:cNvPr id="10" name="Shape 8"/>
          <p:cNvSpPr/>
          <p:nvPr/>
        </p:nvSpPr>
        <p:spPr>
          <a:xfrm>
            <a:off x="7961858" y="1908125"/>
            <a:ext cx="3414167" cy="3379539"/>
          </a:xfrm>
          <a:prstGeom prst="roundRect">
            <a:avLst>
              <a:gd name="adj" fmla="val 4416"/>
            </a:avLst>
          </a:prstGeom>
          <a:solidFill>
            <a:srgbClr val="161C22"/>
          </a:solidFill>
          <a:ln w="6350">
            <a:solidFill>
              <a:srgbClr val="2A3139"/>
            </a:solidFill>
            <a:prstDash val="solid"/>
          </a:ln>
        </p:spPr>
      </p:sp>
      <p:sp>
        <p:nvSpPr>
          <p:cNvPr id="11" name="Text 9"/>
          <p:cNvSpPr/>
          <p:nvPr/>
        </p:nvSpPr>
        <p:spPr>
          <a:xfrm>
            <a:off x="8219033" y="2165300"/>
            <a:ext cx="298681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9CFF"/>
                </a:solidFill>
                <a:latin typeface="JetBrains Mono" pitchFamily="49" charset="0"/>
                <a:ea typeface="JetBrains Mono" pitchFamily="49" charset="-122"/>
                <a:cs typeface="JetBrains Mono" pitchFamily="49" charset="-120"/>
              </a:rPr>
              <a:t>THE EV TRANSITION</a:t>
            </a:r>
            <a:endParaRPr lang="en-US" sz="1200" dirty="0"/>
          </a:p>
        </p:txBody>
      </p:sp>
      <p:sp>
        <p:nvSpPr>
          <p:cNvPr id="12" name="Text 10"/>
          <p:cNvSpPr/>
          <p:nvPr/>
        </p:nvSpPr>
        <p:spPr>
          <a:xfrm>
            <a:off x="8219033" y="2480221"/>
            <a:ext cx="2986811" cy="459730"/>
          </a:xfrm>
          <a:prstGeom prst="rect">
            <a:avLst/>
          </a:prstGeom>
          <a:noFill/>
          <a:ln/>
        </p:spPr>
        <p:txBody>
          <a:bodyPr wrap="square" lIns="0" tIns="0" rIns="0" bIns="0" rtlCol="0" anchor="t">
            <a:normAutofit/>
          </a:bodyPr>
          <a:lstStyle/>
          <a:p>
            <a:pPr algn="l" indent="0" marL="0">
              <a:lnSpc>
                <a:spcPts val="3420"/>
              </a:lnSpc>
              <a:buNone/>
            </a:pPr>
            <a:r>
              <a:rPr lang="en-US" sz="3600" dirty="0">
                <a:solidFill>
                  <a:srgbClr val="F5F4F0"/>
                </a:solidFill>
                <a:latin typeface="Bebas Neue" pitchFamily="34" charset="0"/>
                <a:ea typeface="Bebas Neue" pitchFamily="34" charset="-122"/>
                <a:cs typeface="Bebas Neue" pitchFamily="34" charset="-120"/>
              </a:rPr>
              <a:t>CHARGER ANXIETY</a:t>
            </a:r>
            <a:endParaRPr lang="en-US" sz="3600" dirty="0"/>
          </a:p>
        </p:txBody>
      </p:sp>
      <p:sp>
        <p:nvSpPr>
          <p:cNvPr id="13" name="Text 11"/>
          <p:cNvSpPr/>
          <p:nvPr/>
        </p:nvSpPr>
        <p:spPr>
          <a:xfrm>
            <a:off x="8219033" y="4603849"/>
            <a:ext cx="29868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58% of EV drivers wait for a public charger at least 1 in 5 times.</a:t>
            </a:r>
            <a:endParaRPr lang="en-US" sz="1200" dirty="0"/>
          </a:p>
        </p:txBody>
      </p:sp>
      <p:sp>
        <p:nvSpPr>
          <p:cNvPr id="14" name="Text 12"/>
          <p:cNvSpPr/>
          <p:nvPr/>
        </p:nvSpPr>
        <p:spPr>
          <a:xfrm>
            <a:off x="812800" y="55448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spc="-25" kern="0" dirty="0">
                <a:solidFill>
                  <a:srgbClr val="F5F4F0"/>
                </a:solidFill>
                <a:latin typeface="Space Grotesk" pitchFamily="34" charset="0"/>
                <a:ea typeface="Space Grotesk" pitchFamily="34" charset="-122"/>
                <a:cs typeface="Space Grotesk" pitchFamily="34" charset="-120"/>
              </a:rPr>
              <a:t>A booking only has value if the bay is </a:t>
            </a:r>
            <a:r>
              <a:rPr lang="en-US" sz="1800" spc="-25" kern="0" dirty="0">
                <a:solidFill>
                  <a:srgbClr val="C8E946"/>
                </a:solidFill>
                <a:latin typeface="Space Grotesk" pitchFamily="34" charset="0"/>
                <a:ea typeface="Space Grotesk" pitchFamily="34" charset="-122"/>
                <a:cs typeface="Space Grotesk" pitchFamily="34" charset="-120"/>
              </a:rPr>
              <a:t>really free when you arrive.</a:t>
            </a:r>
            <a:endParaRPr lang="en-US" sz="1800" dirty="0"/>
          </a:p>
        </p:txBody>
      </p:sp>
      <p:sp>
        <p:nvSpPr>
          <p:cNvPr id="15" name="Text 13"/>
          <p:cNvSpPr/>
          <p:nvPr/>
        </p:nvSpPr>
        <p:spPr>
          <a:xfrm>
            <a:off x="812800" y="6238280"/>
            <a:ext cx="55878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Source: CTEK / YouGov EV survey 2023, five European countries.</a:t>
            </a:r>
            <a:endParaRPr lang="en-US" sz="1200" dirty="0"/>
          </a:p>
        </p:txBody>
      </p:sp>
      <p:sp>
        <p:nvSpPr>
          <p:cNvPr id="16" name="Text 14"/>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05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OUR SOLUTION</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MEET BAY</a:t>
            </a:r>
            <a:r>
              <a:rPr lang="en-US" sz="6000" b="0" i="0" dirty="0">
                <a:solidFill>
                  <a:srgbClr val="B79CFF"/>
                </a:solidFill>
                <a:latin typeface="Bebas Neue" pitchFamily="34" charset="0"/>
                <a:ea typeface="Bebas Neue" pitchFamily="34" charset="-122"/>
                <a:cs typeface="Bebas Neue" pitchFamily="34" charset="-120"/>
              </a:rPr>
              <a:t>WATCH</a:t>
            </a:r>
            <a:endParaRPr lang="en-US" sz="6000" dirty="0"/>
          </a:p>
        </p:txBody>
      </p:sp>
      <p:sp>
        <p:nvSpPr>
          <p:cNvPr id="4" name="Text 2"/>
          <p:cNvSpPr/>
          <p:nvPr/>
        </p:nvSpPr>
        <p:spPr>
          <a:xfrm>
            <a:off x="812800" y="1904950"/>
            <a:ext cx="6932930" cy="695920"/>
          </a:xfrm>
          <a:prstGeom prst="rect">
            <a:avLst/>
          </a:prstGeom>
          <a:noFill/>
          <a:ln/>
        </p:spPr>
        <p:txBody>
          <a:bodyPr wrap="square" lIns="0" tIns="0" rIns="0" bIns="0" rtlCol="0" anchor="t">
            <a:normAutofit/>
          </a:bodyPr>
          <a:lstStyle/>
          <a:p>
            <a:pPr algn="l" indent="0" marL="0">
              <a:lnSpc>
                <a:spcPts val="2640"/>
              </a:lnSpc>
              <a:buNone/>
            </a:pPr>
            <a:r>
              <a:rPr lang="en-US" sz="2200" spc="-50" kern="0" dirty="0">
                <a:solidFill>
                  <a:srgbClr val="F5F4F0"/>
                </a:solidFill>
                <a:latin typeface="Space Grotesk" pitchFamily="34" charset="0"/>
                <a:ea typeface="Space Grotesk" pitchFamily="34" charset="-122"/>
                <a:cs typeface="Space Grotesk" pitchFamily="34" charset="-120"/>
              </a:rPr>
              <a:t>Reserve a bay in the app. </a:t>
            </a:r>
            <a:r>
              <a:rPr lang="en-US" sz="2200" spc="-50" kern="0" dirty="0">
                <a:solidFill>
                  <a:srgbClr val="C8E946"/>
                </a:solidFill>
                <a:latin typeface="Space Grotesk" pitchFamily="34" charset="0"/>
                <a:ea typeface="Space Grotesk" pitchFamily="34" charset="-122"/>
                <a:cs typeface="Space Grotesk" pitchFamily="34" charset="-120"/>
              </a:rPr>
              <a:t>The bay is physically held until you arrive.</a:t>
            </a:r>
            <a:endParaRPr lang="en-US" sz="2200" dirty="0"/>
          </a:p>
        </p:txBody>
      </p:sp>
      <p:sp>
        <p:nvSpPr>
          <p:cNvPr id="5" name="Shape 3"/>
          <p:cNvSpPr/>
          <p:nvPr/>
        </p:nvSpPr>
        <p:spPr>
          <a:xfrm>
            <a:off x="812800" y="4834930"/>
            <a:ext cx="2108200" cy="0"/>
          </a:xfrm>
          <a:prstGeom prst="line">
            <a:avLst/>
          </a:prstGeom>
          <a:noFill/>
          <a:ln w="12700">
            <a:solidFill>
              <a:srgbClr val="C8E946"/>
            </a:solidFill>
            <a:prstDash val="solid"/>
          </a:ln>
        </p:spPr>
      </p:sp>
      <p:sp>
        <p:nvSpPr>
          <p:cNvPr id="6" name="Text 4"/>
          <p:cNvSpPr/>
          <p:nvPr/>
        </p:nvSpPr>
        <p:spPr>
          <a:xfrm>
            <a:off x="812800" y="4968280"/>
            <a:ext cx="2171446"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F5F4F0"/>
                </a:solidFill>
                <a:latin typeface="Bebas Neue" pitchFamily="34" charset="0"/>
                <a:ea typeface="Bebas Neue" pitchFamily="34" charset="-122"/>
                <a:cs typeface="Bebas Neue" pitchFamily="34" charset="-120"/>
              </a:rPr>
              <a:t>GUARANTEED BAY</a:t>
            </a:r>
            <a:endParaRPr lang="en-US" sz="2400" dirty="0"/>
          </a:p>
        </p:txBody>
      </p:sp>
      <p:sp>
        <p:nvSpPr>
          <p:cNvPr id="7" name="Text 5"/>
          <p:cNvSpPr/>
          <p:nvPr/>
        </p:nvSpPr>
        <p:spPr>
          <a:xfrm>
            <a:off x="812800" y="532388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Hardware keeps it free</a:t>
            </a:r>
            <a:endParaRPr lang="en-US" sz="1200" dirty="0"/>
          </a:p>
        </p:txBody>
      </p:sp>
      <p:sp>
        <p:nvSpPr>
          <p:cNvPr id="8" name="Shape 6"/>
          <p:cNvSpPr/>
          <p:nvPr/>
        </p:nvSpPr>
        <p:spPr>
          <a:xfrm>
            <a:off x="3124200" y="4834930"/>
            <a:ext cx="2108200" cy="0"/>
          </a:xfrm>
          <a:prstGeom prst="line">
            <a:avLst/>
          </a:prstGeom>
          <a:noFill/>
          <a:ln w="12700">
            <a:solidFill>
              <a:srgbClr val="B79CFF"/>
            </a:solidFill>
            <a:prstDash val="solid"/>
          </a:ln>
        </p:spPr>
      </p:sp>
      <p:sp>
        <p:nvSpPr>
          <p:cNvPr id="9" name="Text 7"/>
          <p:cNvSpPr/>
          <p:nvPr/>
        </p:nvSpPr>
        <p:spPr>
          <a:xfrm>
            <a:off x="3124200" y="4968280"/>
            <a:ext cx="2171446" cy="6350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F5F4F0"/>
                </a:solidFill>
                <a:latin typeface="Bebas Neue" pitchFamily="34" charset="0"/>
                <a:ea typeface="Bebas Neue" pitchFamily="34" charset="-122"/>
                <a:cs typeface="Bebas Neue" pitchFamily="34" charset="-120"/>
              </a:rPr>
              <a:t>YOUR PLATE IS THE KEY</a:t>
            </a:r>
            <a:endParaRPr lang="en-US" sz="2400" dirty="0"/>
          </a:p>
        </p:txBody>
      </p:sp>
      <p:sp>
        <p:nvSpPr>
          <p:cNvPr id="10" name="Text 8"/>
          <p:cNvSpPr/>
          <p:nvPr/>
        </p:nvSpPr>
        <p:spPr>
          <a:xfrm>
            <a:off x="3124200" y="562868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Camera opens the bay</a:t>
            </a:r>
            <a:endParaRPr lang="en-US" sz="1200" dirty="0"/>
          </a:p>
        </p:txBody>
      </p:sp>
      <p:sp>
        <p:nvSpPr>
          <p:cNvPr id="11" name="Shape 9"/>
          <p:cNvSpPr/>
          <p:nvPr/>
        </p:nvSpPr>
        <p:spPr>
          <a:xfrm>
            <a:off x="5435600" y="4834930"/>
            <a:ext cx="2108200" cy="0"/>
          </a:xfrm>
          <a:prstGeom prst="line">
            <a:avLst/>
          </a:prstGeom>
          <a:noFill/>
          <a:ln w="12700">
            <a:solidFill>
              <a:srgbClr val="B79CFF"/>
            </a:solidFill>
            <a:prstDash val="solid"/>
          </a:ln>
        </p:spPr>
      </p:sp>
      <p:sp>
        <p:nvSpPr>
          <p:cNvPr id="12" name="Text 10"/>
          <p:cNvSpPr/>
          <p:nvPr/>
        </p:nvSpPr>
        <p:spPr>
          <a:xfrm>
            <a:off x="5435600" y="4968280"/>
            <a:ext cx="2171446"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F5F4F0"/>
                </a:solidFill>
                <a:latin typeface="Bebas Neue" pitchFamily="34" charset="0"/>
                <a:ea typeface="Bebas Neue" pitchFamily="34" charset="-122"/>
                <a:cs typeface="Bebas Neue" pitchFamily="34" charset="-120"/>
              </a:rPr>
              <a:t>FAIR RULES</a:t>
            </a:r>
            <a:endParaRPr lang="en-US" sz="2400" dirty="0"/>
          </a:p>
        </p:txBody>
      </p:sp>
      <p:sp>
        <p:nvSpPr>
          <p:cNvPr id="13" name="Text 11"/>
          <p:cNvSpPr/>
          <p:nvPr/>
        </p:nvSpPr>
        <p:spPr>
          <a:xfrm>
            <a:off x="5435600" y="532388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For no-shows and blockers</a:t>
            </a:r>
            <a:endParaRPr lang="en-US" sz="1200" dirty="0"/>
          </a:p>
        </p:txBody>
      </p:sp>
      <p:sp>
        <p:nvSpPr>
          <p:cNvPr id="14" name="Shape 12"/>
          <p:cNvSpPr/>
          <p:nvPr/>
        </p:nvSpPr>
        <p:spPr>
          <a:xfrm>
            <a:off x="8591550" y="1022350"/>
            <a:ext cx="2146300" cy="4432300"/>
          </a:xfrm>
          <a:prstGeom prst="roundRect">
            <a:avLst>
              <a:gd name="adj" fmla="val 15089"/>
            </a:avLst>
          </a:prstGeom>
          <a:solidFill>
            <a:srgbClr val="0A0E12"/>
          </a:solidFill>
          <a:ln w="12700">
            <a:solidFill>
              <a:srgbClr val="2A3139"/>
            </a:solidFill>
            <a:prstDash val="solid"/>
          </a:ln>
        </p:spPr>
      </p:sp>
      <p:sp>
        <p:nvSpPr>
          <p:cNvPr id="15" name="Shape 13"/>
          <p:cNvSpPr/>
          <p:nvPr/>
        </p:nvSpPr>
        <p:spPr>
          <a:xfrm>
            <a:off x="8674100" y="1104900"/>
            <a:ext cx="1981200" cy="4267200"/>
          </a:xfrm>
          <a:prstGeom prst="roundRect">
            <a:avLst>
              <a:gd name="adj" fmla="val 13462"/>
            </a:avLst>
          </a:prstGeom>
          <a:solidFill>
            <a:srgbClr val="F5F4F0"/>
          </a:solidFill>
          <a:ln/>
        </p:spPr>
      </p:sp>
      <p:sp>
        <p:nvSpPr>
          <p:cNvPr id="16" name="Text 14"/>
          <p:cNvSpPr/>
          <p:nvPr/>
        </p:nvSpPr>
        <p:spPr>
          <a:xfrm>
            <a:off x="8801100" y="1257300"/>
            <a:ext cx="1779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1CF0"/>
                </a:solidFill>
                <a:latin typeface="JetBrains Mono" pitchFamily="49" charset="0"/>
                <a:ea typeface="JetBrains Mono" pitchFamily="49" charset="-122"/>
                <a:cs typeface="JetBrains Mono" pitchFamily="49" charset="-120"/>
              </a:rPr>
              <a:t>BOOKED BY YOU</a:t>
            </a:r>
            <a:endParaRPr lang="en-US" sz="1200" dirty="0"/>
          </a:p>
        </p:txBody>
      </p:sp>
      <p:pic>
        <p:nvPicPr>
          <p:cNvPr id="17" name="Image 0" descr="Booked-by-you map pin with the guard raised">    </p:cNvPr>
          <p:cNvPicPr>
            <a:picLocks noChangeAspect="1"/>
          </p:cNvPicPr>
          <p:nvPr/>
        </p:nvPicPr>
        <p:blipFill>
          <a:blip r:embed="rId1"/>
          <a:srcRect l="0" r="0" t="0" b="0"/>
          <a:stretch/>
        </p:blipFill>
        <p:spPr>
          <a:xfrm>
            <a:off x="9283700" y="1559520"/>
            <a:ext cx="762000" cy="914400"/>
          </a:xfrm>
          <a:prstGeom prst="rect">
            <a:avLst/>
          </a:prstGeom>
        </p:spPr>
      </p:pic>
      <p:sp>
        <p:nvSpPr>
          <p:cNvPr id="18" name="Text 15"/>
          <p:cNvSpPr/>
          <p:nvPr/>
        </p:nvSpPr>
        <p:spPr>
          <a:xfrm>
            <a:off x="8775192" y="2562820"/>
            <a:ext cx="1779016" cy="330200"/>
          </a:xfrm>
          <a:prstGeom prst="rect">
            <a:avLst/>
          </a:prstGeom>
          <a:noFill/>
          <a:ln/>
        </p:spPr>
        <p:txBody>
          <a:bodyPr wrap="square" lIns="0" tIns="0" rIns="0" bIns="0" rtlCol="0" anchor="t">
            <a:normAutofit/>
          </a:bodyPr>
          <a:lstStyle/>
          <a:p>
            <a:pPr algn="ctr" indent="0" marL="0">
              <a:lnSpc>
                <a:spcPts val="2400"/>
              </a:lnSpc>
              <a:buNone/>
            </a:pPr>
            <a:r>
              <a:rPr lang="en-US" sz="2400" dirty="0">
                <a:solidFill>
                  <a:srgbClr val="0F1419"/>
                </a:solidFill>
                <a:latin typeface="Bebas Neue" pitchFamily="34" charset="0"/>
                <a:ea typeface="Bebas Neue" pitchFamily="34" charset="-122"/>
                <a:cs typeface="Bebas Neue" pitchFamily="34" charset="-120"/>
              </a:rPr>
              <a:t>TEST BAY</a:t>
            </a:r>
            <a:endParaRPr lang="en-US" sz="2400" dirty="0"/>
          </a:p>
        </p:txBody>
      </p:sp>
      <p:sp>
        <p:nvSpPr>
          <p:cNvPr id="19" name="Text 16"/>
          <p:cNvSpPr/>
          <p:nvPr/>
        </p:nvSpPr>
        <p:spPr>
          <a:xfrm>
            <a:off x="8775192" y="2956520"/>
            <a:ext cx="177901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Today · 18:00–20:00</a:t>
            </a:r>
            <a:endParaRPr lang="en-US" sz="1200" dirty="0"/>
          </a:p>
        </p:txBody>
      </p:sp>
      <p:sp>
        <p:nvSpPr>
          <p:cNvPr id="20" name="Text 17"/>
          <p:cNvSpPr/>
          <p:nvPr/>
        </p:nvSpPr>
        <p:spPr>
          <a:xfrm>
            <a:off x="8810625" y="3268266"/>
            <a:ext cx="1708150" cy="308570"/>
          </a:xfrm>
          <a:custGeom>
            <a:avLst/>
            <a:gdLst/>
            <a:ahLst/>
            <a:cxnLst/>
            <a:rect l="l" t="t" r="r" b="b"/>
            <a:pathLst>
              <a:path w="1708150" h="308570">
                <a:moveTo>
                  <a:pt x="41275" y="0"/>
                </a:moveTo>
                <a:lnTo>
                  <a:pt x="1666875" y="0"/>
                </a:lnTo>
                <a:arcTo hR="41275" wR="41275" stAng="16200000" swAng="5400000"/>
                <a:lnTo>
                  <a:pt x="1708150" y="267295"/>
                </a:lnTo>
                <a:arcTo hR="41275" wR="41275" stAng="0" swAng="5400000"/>
                <a:lnTo>
                  <a:pt x="41275" y="308570"/>
                </a:lnTo>
                <a:arcTo hR="41275" wR="41275" stAng="5400000" swAng="5400000"/>
                <a:lnTo>
                  <a:pt x="0" y="41275"/>
                </a:lnTo>
                <a:arcTo hR="41275" wR="41275" stAng="10800000" swAng="5400000"/>
                <a:close/>
              </a:path>
            </a:pathLst>
          </a:custGeom>
          <a:solidFill>
            <a:srgbClr val="FFFFFF"/>
          </a:solidFill>
          <a:ln w="19050">
            <a:solidFill>
              <a:srgbClr val="0F1419"/>
            </a:solidFill>
            <a:prstDash val="solid"/>
          </a:ln>
        </p:spPr>
        <p:txBody>
          <a:bodyPr wrap="square" lIns="22225" tIns="47625" rIns="22225" bIns="22225" rtlCol="0" anchor="t">
            <a:normAutofit/>
          </a:bodyPr>
          <a:lstStyle/>
          <a:p>
            <a:pPr algn="ctr" indent="0" marL="0">
              <a:lnSpc>
                <a:spcPts val="1680"/>
              </a:lnSpc>
              <a:buNone/>
            </a:pPr>
            <a:r>
              <a:rPr lang="en-US" sz="1200" b="1" dirty="0">
                <a:solidFill>
                  <a:srgbClr val="0F1419"/>
                </a:solidFill>
                <a:latin typeface="JetBrains Mono" pitchFamily="49" charset="0"/>
                <a:ea typeface="JetBrains Mono" pitchFamily="49" charset="-122"/>
                <a:cs typeface="JetBrains Mono" pitchFamily="49" charset="-120"/>
              </a:rPr>
              <a:t>M-XX 1234</a:t>
            </a:r>
            <a:endParaRPr lang="en-US" sz="1200" dirty="0"/>
          </a:p>
        </p:txBody>
      </p:sp>
      <p:sp>
        <p:nvSpPr>
          <p:cNvPr id="21" name="Text 18"/>
          <p:cNvSpPr/>
          <p:nvPr/>
        </p:nvSpPr>
        <p:spPr>
          <a:xfrm>
            <a:off x="8801100" y="4828580"/>
            <a:ext cx="1727200" cy="391120"/>
          </a:xfrm>
          <a:custGeom>
            <a:avLst/>
            <a:gdLst/>
            <a:ahLst/>
            <a:cxnLst/>
            <a:rect l="l" t="t" r="r" b="b"/>
            <a:pathLst>
              <a:path w="1727200" h="391120">
                <a:moveTo>
                  <a:pt x="177800" y="0"/>
                </a:moveTo>
                <a:lnTo>
                  <a:pt x="1549400" y="0"/>
                </a:lnTo>
                <a:arcTo hR="177800" wR="177800" stAng="16200000" swAng="5400000"/>
                <a:lnTo>
                  <a:pt x="1727200" y="213320"/>
                </a:lnTo>
                <a:arcTo hR="177800" wR="177800" stAng="0" swAng="5400000"/>
                <a:lnTo>
                  <a:pt x="177800" y="391120"/>
                </a:lnTo>
                <a:arcTo hR="177800" wR="177800" stAng="5400000" swAng="5400000"/>
                <a:lnTo>
                  <a:pt x="0" y="177800"/>
                </a:lnTo>
                <a:arcTo hR="177800" wR="177800" stAng="10800000" swAng="5400000"/>
                <a:close/>
              </a:path>
            </a:pathLst>
          </a:custGeom>
          <a:solidFill>
            <a:srgbClr val="C8E946"/>
          </a:solidFill>
          <a:ln/>
        </p:spPr>
        <p:txBody>
          <a:bodyPr wrap="square" lIns="63500" tIns="88900" rIns="63500" bIns="63500" rtlCol="0" anchor="t">
            <a:normAutofit/>
          </a:bodyPr>
          <a:lstStyle/>
          <a:p>
            <a:pPr algn="ctr" indent="0" marL="0">
              <a:lnSpc>
                <a:spcPts val="1680"/>
              </a:lnSpc>
              <a:buNone/>
            </a:pPr>
            <a:r>
              <a:rPr lang="en-US" sz="1200" b="1" dirty="0">
                <a:solidFill>
                  <a:srgbClr val="0F1419"/>
                </a:solidFill>
                <a:latin typeface="Space Grotesk" pitchFamily="34" charset="0"/>
                <a:ea typeface="Space Grotesk" pitchFamily="34" charset="-122"/>
                <a:cs typeface="Space Grotesk" pitchFamily="34" charset="-120"/>
              </a:rPr>
              <a:t>Navigate to bay</a:t>
            </a:r>
            <a:endParaRPr lang="en-US" sz="1200" dirty="0"/>
          </a:p>
        </p:txBody>
      </p:sp>
      <p:sp>
        <p:nvSpPr>
          <p:cNvPr id="22" name="Text 19"/>
          <p:cNvSpPr/>
          <p:nvPr/>
        </p:nvSpPr>
        <p:spPr>
          <a:xfrm>
            <a:off x="812800" y="6238280"/>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0A7"/>
                </a:solidFill>
                <a:latin typeface="JetBrains Mono" pitchFamily="49" charset="0"/>
                <a:ea typeface="JetBrains Mono" pitchFamily="49" charset="-122"/>
                <a:cs typeface="JetBrains Mono" pitchFamily="49" charset="-120"/>
              </a:rPr>
              <a:t>POWERED BY ECURIOUS</a:t>
            </a:r>
            <a:endParaRPr lang="en-US" sz="1200" dirty="0"/>
          </a:p>
        </p:txBody>
      </p:sp>
      <p:sp>
        <p:nvSpPr>
          <p:cNvPr id="23" name="Text 20"/>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06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5B1CF0"/>
                </a:solidFill>
                <a:latin typeface="JetBrains Mono" pitchFamily="49" charset="0"/>
                <a:ea typeface="JetBrains Mono" pitchFamily="49" charset="-122"/>
                <a:cs typeface="JetBrains Mono" pitchFamily="49" charset="-120"/>
              </a:rPr>
              <a:t>HOW IT WORKS</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0F1419"/>
                </a:solidFill>
                <a:latin typeface="Bebas Neue" pitchFamily="34" charset="0"/>
                <a:ea typeface="Bebas Neue" pitchFamily="34" charset="-122"/>
                <a:cs typeface="Bebas Neue" pitchFamily="34" charset="-120"/>
              </a:rPr>
              <a:t>FIVE STEPS, ZERO GUESSWORK</a:t>
            </a:r>
            <a:endParaRPr lang="en-US" sz="6000" dirty="0"/>
          </a:p>
        </p:txBody>
      </p:sp>
      <p:sp>
        <p:nvSpPr>
          <p:cNvPr id="4" name="Shape 2"/>
          <p:cNvSpPr/>
          <p:nvPr/>
        </p:nvSpPr>
        <p:spPr>
          <a:xfrm>
            <a:off x="812800" y="1904950"/>
            <a:ext cx="2032000" cy="3209379"/>
          </a:xfrm>
          <a:prstGeom prst="roundRect">
            <a:avLst>
              <a:gd name="adj" fmla="val 7500"/>
            </a:avLst>
          </a:prstGeom>
          <a:solidFill>
            <a:srgbClr val="FFFFFF"/>
          </a:solidFill>
          <a:ln/>
        </p:spPr>
      </p:sp>
      <p:sp>
        <p:nvSpPr>
          <p:cNvPr id="5" name="Text 3"/>
          <p:cNvSpPr/>
          <p:nvPr/>
        </p:nvSpPr>
        <p:spPr>
          <a:xfrm>
            <a:off x="990600" y="2108150"/>
            <a:ext cx="1727200" cy="543520"/>
          </a:xfrm>
          <a:prstGeom prst="rect">
            <a:avLst/>
          </a:prstGeom>
          <a:noFill/>
          <a:ln/>
        </p:spPr>
        <p:txBody>
          <a:bodyPr wrap="square" lIns="0" tIns="0" rIns="0" bIns="0" rtlCol="0" anchor="t">
            <a:normAutofit/>
          </a:bodyPr>
          <a:lstStyle/>
          <a:p>
            <a:pPr algn="l" indent="0" marL="0">
              <a:lnSpc>
                <a:spcPts val="4080"/>
              </a:lnSpc>
              <a:buNone/>
            </a:pPr>
            <a:r>
              <a:rPr lang="en-US" sz="4800" dirty="0">
                <a:solidFill>
                  <a:srgbClr val="5B1CF0"/>
                </a:solidFill>
                <a:latin typeface="Bebas Neue" pitchFamily="34" charset="0"/>
                <a:ea typeface="Bebas Neue" pitchFamily="34" charset="-122"/>
                <a:cs typeface="Bebas Neue" pitchFamily="34" charset="-120"/>
              </a:rPr>
              <a:t>01</a:t>
            </a:r>
            <a:endParaRPr lang="en-US" sz="4800" dirty="0"/>
          </a:p>
        </p:txBody>
      </p:sp>
      <p:sp>
        <p:nvSpPr>
          <p:cNvPr id="6" name="Text 4"/>
          <p:cNvSpPr/>
          <p:nvPr/>
        </p:nvSpPr>
        <p:spPr>
          <a:xfrm>
            <a:off x="990600" y="2715171"/>
            <a:ext cx="172720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RESERVE</a:t>
            </a:r>
            <a:endParaRPr lang="en-US" sz="2800" dirty="0"/>
          </a:p>
        </p:txBody>
      </p:sp>
      <p:sp>
        <p:nvSpPr>
          <p:cNvPr id="7" name="Text 5"/>
          <p:cNvSpPr/>
          <p:nvPr/>
        </p:nvSpPr>
        <p:spPr>
          <a:xfrm>
            <a:off x="990600" y="315967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Pick a bay and slot in the app, pay the fee.</a:t>
            </a:r>
            <a:endParaRPr lang="en-US" sz="1200" dirty="0"/>
          </a:p>
        </p:txBody>
      </p:sp>
      <p:sp>
        <p:nvSpPr>
          <p:cNvPr id="8" name="Shape 6"/>
          <p:cNvSpPr/>
          <p:nvPr/>
        </p:nvSpPr>
        <p:spPr>
          <a:xfrm>
            <a:off x="2946400" y="1904950"/>
            <a:ext cx="2032000" cy="3209379"/>
          </a:xfrm>
          <a:prstGeom prst="roundRect">
            <a:avLst>
              <a:gd name="adj" fmla="val 7500"/>
            </a:avLst>
          </a:prstGeom>
          <a:solidFill>
            <a:srgbClr val="FFFFFF"/>
          </a:solidFill>
          <a:ln/>
        </p:spPr>
      </p:sp>
      <p:sp>
        <p:nvSpPr>
          <p:cNvPr id="9" name="Text 7"/>
          <p:cNvSpPr/>
          <p:nvPr/>
        </p:nvSpPr>
        <p:spPr>
          <a:xfrm>
            <a:off x="3124200" y="2108150"/>
            <a:ext cx="1727200" cy="543520"/>
          </a:xfrm>
          <a:prstGeom prst="rect">
            <a:avLst/>
          </a:prstGeom>
          <a:noFill/>
          <a:ln/>
        </p:spPr>
        <p:txBody>
          <a:bodyPr wrap="square" lIns="0" tIns="0" rIns="0" bIns="0" rtlCol="0" anchor="t">
            <a:normAutofit/>
          </a:bodyPr>
          <a:lstStyle/>
          <a:p>
            <a:pPr algn="l" indent="0" marL="0">
              <a:lnSpc>
                <a:spcPts val="4080"/>
              </a:lnSpc>
              <a:buNone/>
            </a:pPr>
            <a:r>
              <a:rPr lang="en-US" sz="4800" dirty="0">
                <a:solidFill>
                  <a:srgbClr val="5B1CF0"/>
                </a:solidFill>
                <a:latin typeface="Bebas Neue" pitchFamily="34" charset="0"/>
                <a:ea typeface="Bebas Neue" pitchFamily="34" charset="-122"/>
                <a:cs typeface="Bebas Neue" pitchFamily="34" charset="-120"/>
              </a:rPr>
              <a:t>02</a:t>
            </a:r>
            <a:endParaRPr lang="en-US" sz="4800" dirty="0"/>
          </a:p>
        </p:txBody>
      </p:sp>
      <p:sp>
        <p:nvSpPr>
          <p:cNvPr id="10" name="Text 8"/>
          <p:cNvSpPr/>
          <p:nvPr/>
        </p:nvSpPr>
        <p:spPr>
          <a:xfrm>
            <a:off x="3124200" y="2715171"/>
            <a:ext cx="172720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HOLD</a:t>
            </a:r>
            <a:endParaRPr lang="en-US" sz="2800" dirty="0"/>
          </a:p>
        </p:txBody>
      </p:sp>
      <p:sp>
        <p:nvSpPr>
          <p:cNvPr id="11" name="Text 9"/>
          <p:cNvSpPr/>
          <p:nvPr/>
        </p:nvSpPr>
        <p:spPr>
          <a:xfrm>
            <a:off x="3124200" y="315967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Ecurious hardware keeps the bay free.</a:t>
            </a:r>
            <a:endParaRPr lang="en-US" sz="1200" dirty="0"/>
          </a:p>
        </p:txBody>
      </p:sp>
      <p:sp>
        <p:nvSpPr>
          <p:cNvPr id="12" name="Shape 10"/>
          <p:cNvSpPr/>
          <p:nvPr/>
        </p:nvSpPr>
        <p:spPr>
          <a:xfrm>
            <a:off x="5080000" y="1904950"/>
            <a:ext cx="2032000" cy="3209379"/>
          </a:xfrm>
          <a:prstGeom prst="roundRect">
            <a:avLst>
              <a:gd name="adj" fmla="val 7500"/>
            </a:avLst>
          </a:prstGeom>
          <a:solidFill>
            <a:srgbClr val="0F1419"/>
          </a:solidFill>
          <a:ln/>
        </p:spPr>
      </p:sp>
      <p:sp>
        <p:nvSpPr>
          <p:cNvPr id="13" name="Text 11"/>
          <p:cNvSpPr/>
          <p:nvPr/>
        </p:nvSpPr>
        <p:spPr>
          <a:xfrm>
            <a:off x="5257800" y="2108150"/>
            <a:ext cx="1727200" cy="543520"/>
          </a:xfrm>
          <a:prstGeom prst="rect">
            <a:avLst/>
          </a:prstGeom>
          <a:noFill/>
          <a:ln/>
        </p:spPr>
        <p:txBody>
          <a:bodyPr wrap="square" lIns="0" tIns="0" rIns="0" bIns="0" rtlCol="0" anchor="t">
            <a:normAutofit/>
          </a:bodyPr>
          <a:lstStyle/>
          <a:p>
            <a:pPr algn="l" indent="0" marL="0">
              <a:lnSpc>
                <a:spcPts val="4080"/>
              </a:lnSpc>
              <a:buNone/>
            </a:pPr>
            <a:r>
              <a:rPr lang="en-US" sz="4800" dirty="0">
                <a:solidFill>
                  <a:srgbClr val="C8E946"/>
                </a:solidFill>
                <a:latin typeface="Bebas Neue" pitchFamily="34" charset="0"/>
                <a:ea typeface="Bebas Neue" pitchFamily="34" charset="-122"/>
                <a:cs typeface="Bebas Neue" pitchFamily="34" charset="-120"/>
              </a:rPr>
              <a:t>03</a:t>
            </a:r>
            <a:endParaRPr lang="en-US" sz="4800" dirty="0"/>
          </a:p>
        </p:txBody>
      </p:sp>
      <p:sp>
        <p:nvSpPr>
          <p:cNvPr id="14" name="Text 12"/>
          <p:cNvSpPr/>
          <p:nvPr/>
        </p:nvSpPr>
        <p:spPr>
          <a:xfrm>
            <a:off x="5257800" y="2715171"/>
            <a:ext cx="172720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5F4F0"/>
                </a:solidFill>
                <a:latin typeface="Bebas Neue" pitchFamily="34" charset="0"/>
                <a:ea typeface="Bebas Neue" pitchFamily="34" charset="-122"/>
                <a:cs typeface="Bebas Neue" pitchFamily="34" charset="-120"/>
              </a:rPr>
              <a:t>ARRIVE</a:t>
            </a:r>
            <a:endParaRPr lang="en-US" sz="2800" dirty="0"/>
          </a:p>
        </p:txBody>
      </p:sp>
      <p:sp>
        <p:nvSpPr>
          <p:cNvPr id="15" name="Text 13"/>
          <p:cNvSpPr/>
          <p:nvPr/>
        </p:nvSpPr>
        <p:spPr>
          <a:xfrm>
            <a:off x="5257800" y="315967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Camera reads your plate, the bay opens.</a:t>
            </a:r>
            <a:endParaRPr lang="en-US" sz="1200" dirty="0"/>
          </a:p>
        </p:txBody>
      </p:sp>
      <p:sp>
        <p:nvSpPr>
          <p:cNvPr id="16" name="Shape 14"/>
          <p:cNvSpPr/>
          <p:nvPr/>
        </p:nvSpPr>
        <p:spPr>
          <a:xfrm>
            <a:off x="7213600" y="1904950"/>
            <a:ext cx="2032000" cy="3209379"/>
          </a:xfrm>
          <a:prstGeom prst="roundRect">
            <a:avLst>
              <a:gd name="adj" fmla="val 7500"/>
            </a:avLst>
          </a:prstGeom>
          <a:solidFill>
            <a:srgbClr val="FFFFFF"/>
          </a:solidFill>
          <a:ln/>
        </p:spPr>
      </p:sp>
      <p:sp>
        <p:nvSpPr>
          <p:cNvPr id="17" name="Text 15"/>
          <p:cNvSpPr/>
          <p:nvPr/>
        </p:nvSpPr>
        <p:spPr>
          <a:xfrm>
            <a:off x="7391400" y="2108150"/>
            <a:ext cx="1727200" cy="543520"/>
          </a:xfrm>
          <a:prstGeom prst="rect">
            <a:avLst/>
          </a:prstGeom>
          <a:noFill/>
          <a:ln/>
        </p:spPr>
        <p:txBody>
          <a:bodyPr wrap="square" lIns="0" tIns="0" rIns="0" bIns="0" rtlCol="0" anchor="t">
            <a:normAutofit/>
          </a:bodyPr>
          <a:lstStyle/>
          <a:p>
            <a:pPr algn="l" indent="0" marL="0">
              <a:lnSpc>
                <a:spcPts val="4080"/>
              </a:lnSpc>
              <a:buNone/>
            </a:pPr>
            <a:r>
              <a:rPr lang="en-US" sz="4800" dirty="0">
                <a:solidFill>
                  <a:srgbClr val="5B1CF0"/>
                </a:solidFill>
                <a:latin typeface="Bebas Neue" pitchFamily="34" charset="0"/>
                <a:ea typeface="Bebas Neue" pitchFamily="34" charset="-122"/>
                <a:cs typeface="Bebas Neue" pitchFamily="34" charset="-120"/>
              </a:rPr>
              <a:t>04</a:t>
            </a:r>
            <a:endParaRPr lang="en-US" sz="4800" dirty="0"/>
          </a:p>
        </p:txBody>
      </p:sp>
      <p:sp>
        <p:nvSpPr>
          <p:cNvPr id="18" name="Text 16"/>
          <p:cNvSpPr/>
          <p:nvPr/>
        </p:nvSpPr>
        <p:spPr>
          <a:xfrm>
            <a:off x="7391400" y="2715171"/>
            <a:ext cx="172720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CHARGE</a:t>
            </a:r>
            <a:endParaRPr lang="en-US" sz="2800" dirty="0"/>
          </a:p>
        </p:txBody>
      </p:sp>
      <p:sp>
        <p:nvSpPr>
          <p:cNvPr id="19" name="Text 17"/>
          <p:cNvSpPr/>
          <p:nvPr/>
        </p:nvSpPr>
        <p:spPr>
          <a:xfrm>
            <a:off x="7391400" y="315967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Plug in at the charger as usual.</a:t>
            </a:r>
            <a:endParaRPr lang="en-US" sz="1200" dirty="0"/>
          </a:p>
        </p:txBody>
      </p:sp>
      <p:sp>
        <p:nvSpPr>
          <p:cNvPr id="20" name="Shape 18"/>
          <p:cNvSpPr/>
          <p:nvPr/>
        </p:nvSpPr>
        <p:spPr>
          <a:xfrm>
            <a:off x="9347200" y="1904950"/>
            <a:ext cx="2032000" cy="3209379"/>
          </a:xfrm>
          <a:prstGeom prst="roundRect">
            <a:avLst>
              <a:gd name="adj" fmla="val 7500"/>
            </a:avLst>
          </a:prstGeom>
          <a:solidFill>
            <a:srgbClr val="FFFFFF"/>
          </a:solidFill>
          <a:ln/>
        </p:spPr>
      </p:sp>
      <p:sp>
        <p:nvSpPr>
          <p:cNvPr id="21" name="Text 19"/>
          <p:cNvSpPr/>
          <p:nvPr/>
        </p:nvSpPr>
        <p:spPr>
          <a:xfrm>
            <a:off x="9525000" y="2108150"/>
            <a:ext cx="1727200" cy="543520"/>
          </a:xfrm>
          <a:prstGeom prst="rect">
            <a:avLst/>
          </a:prstGeom>
          <a:noFill/>
          <a:ln/>
        </p:spPr>
        <p:txBody>
          <a:bodyPr wrap="square" lIns="0" tIns="0" rIns="0" bIns="0" rtlCol="0" anchor="t">
            <a:normAutofit/>
          </a:bodyPr>
          <a:lstStyle/>
          <a:p>
            <a:pPr algn="l" indent="0" marL="0">
              <a:lnSpc>
                <a:spcPts val="4080"/>
              </a:lnSpc>
              <a:buNone/>
            </a:pPr>
            <a:r>
              <a:rPr lang="en-US" sz="4800" dirty="0">
                <a:solidFill>
                  <a:srgbClr val="5B1CF0"/>
                </a:solidFill>
                <a:latin typeface="Bebas Neue" pitchFamily="34" charset="0"/>
                <a:ea typeface="Bebas Neue" pitchFamily="34" charset="-122"/>
                <a:cs typeface="Bebas Neue" pitchFamily="34" charset="-120"/>
              </a:rPr>
              <a:t>05</a:t>
            </a:r>
            <a:endParaRPr lang="en-US" sz="4800" dirty="0"/>
          </a:p>
        </p:txBody>
      </p:sp>
      <p:sp>
        <p:nvSpPr>
          <p:cNvPr id="22" name="Text 20"/>
          <p:cNvSpPr/>
          <p:nvPr/>
        </p:nvSpPr>
        <p:spPr>
          <a:xfrm>
            <a:off x="9525000" y="2715171"/>
            <a:ext cx="172720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RELEASE</a:t>
            </a:r>
            <a:endParaRPr lang="en-US" sz="2800" dirty="0"/>
          </a:p>
        </p:txBody>
      </p:sp>
      <p:sp>
        <p:nvSpPr>
          <p:cNvPr id="23" name="Text 21"/>
          <p:cNvSpPr/>
          <p:nvPr/>
        </p:nvSpPr>
        <p:spPr>
          <a:xfrm>
            <a:off x="9525000" y="315967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Bay detected clear, the next driver is in.</a:t>
            </a:r>
            <a:endParaRPr lang="en-US" sz="1200" dirty="0"/>
          </a:p>
        </p:txBody>
      </p:sp>
      <p:sp>
        <p:nvSpPr>
          <p:cNvPr id="24" name="Shape 22"/>
          <p:cNvSpPr/>
          <p:nvPr/>
        </p:nvSpPr>
        <p:spPr>
          <a:xfrm>
            <a:off x="812800" y="5371505"/>
            <a:ext cx="10566400" cy="0"/>
          </a:xfrm>
          <a:prstGeom prst="line">
            <a:avLst/>
          </a:prstGeom>
          <a:noFill/>
          <a:ln w="6350">
            <a:solidFill>
              <a:srgbClr val="C9C6BE"/>
            </a:solidFill>
            <a:prstDash val="solid"/>
          </a:ln>
        </p:spPr>
      </p:sp>
      <p:sp>
        <p:nvSpPr>
          <p:cNvPr id="25" name="Text 23"/>
          <p:cNvSpPr/>
          <p:nvPr/>
        </p:nvSpPr>
        <p:spPr>
          <a:xfrm>
            <a:off x="812800" y="5501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A6068"/>
                </a:solidFill>
                <a:latin typeface="JetBrains Mono" pitchFamily="49" charset="0"/>
                <a:ea typeface="JetBrains Mono" pitchFamily="49" charset="-122"/>
                <a:cs typeface="JetBrains Mono" pitchFamily="49" charset="-120"/>
              </a:rPr>
              <a:t>APP → BAYWATCH BACKEND → </a:t>
            </a:r>
            <a:r>
              <a:rPr lang="en-US" sz="1200" spc="100" kern="0" dirty="0">
                <a:solidFill>
                  <a:srgbClr val="5B1CF0"/>
                </a:solidFill>
                <a:latin typeface="JetBrains Mono" pitchFamily="49" charset="0"/>
                <a:ea typeface="JetBrains Mono" pitchFamily="49" charset="-122"/>
                <a:cs typeface="JetBrains Mono" pitchFamily="49" charset="-120"/>
              </a:rPr>
              <a:t>ECURIOUS SERVER</a:t>
            </a:r>
            <a:r>
              <a:rPr lang="en-US" sz="1200" spc="100" kern="0" dirty="0">
                <a:solidFill>
                  <a:srgbClr val="5A6068"/>
                </a:solidFill>
                <a:latin typeface="JetBrains Mono" pitchFamily="49" charset="0"/>
                <a:ea typeface="JetBrains Mono" pitchFamily="49" charset="-122"/>
                <a:cs typeface="JetBrains Mono" pitchFamily="49" charset="-120"/>
              </a:rPr>
              <a:t> → BAY HARDWARE + CAMERA</a:t>
            </a:r>
            <a:endParaRPr lang="en-US" sz="1200" dirty="0"/>
          </a:p>
        </p:txBody>
      </p:sp>
      <p:sp>
        <p:nvSpPr>
          <p:cNvPr id="26" name="Text 24"/>
          <p:cNvSpPr/>
          <p:nvPr/>
        </p:nvSpPr>
        <p:spPr>
          <a:xfrm>
            <a:off x="812800" y="6238280"/>
            <a:ext cx="66860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Charger data from GoingElectric. Camera trouble? Manual unlock in the app.</a:t>
            </a:r>
            <a:endParaRPr lang="en-US" sz="1200" dirty="0"/>
          </a:p>
        </p:txBody>
      </p:sp>
      <p:sp>
        <p:nvSpPr>
          <p:cNvPr id="27" name="Text 25"/>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8"/>
                </a:solidFill>
                <a:latin typeface="JetBrains Mono" pitchFamily="49" charset="0"/>
                <a:ea typeface="JetBrains Mono" pitchFamily="49" charset="-122"/>
                <a:cs typeface="JetBrains Mono" pitchFamily="49" charset="-120"/>
              </a:rPr>
              <a:t>07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5B1CF0"/>
                </a:solidFill>
                <a:latin typeface="JetBrains Mono" pitchFamily="49" charset="0"/>
                <a:ea typeface="JetBrains Mono" pitchFamily="49" charset="-122"/>
                <a:cs typeface="JetBrains Mono" pitchFamily="49" charset="-120"/>
              </a:rPr>
              <a:t>COMPETITION</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0F1419"/>
                </a:solidFill>
                <a:latin typeface="Bebas Neue" pitchFamily="34" charset="0"/>
                <a:ea typeface="Bebas Neue" pitchFamily="34" charset="-122"/>
                <a:cs typeface="Bebas Neue" pitchFamily="34" charset="-120"/>
              </a:rPr>
              <a:t>THE ONLY ONE THAT </a:t>
            </a:r>
            <a:r>
              <a:rPr lang="en-US" sz="6000" b="0" i="0" dirty="0">
                <a:solidFill>
                  <a:srgbClr val="5B1CF0"/>
                </a:solidFill>
                <a:latin typeface="Bebas Neue" pitchFamily="34" charset="0"/>
                <a:ea typeface="Bebas Neue" pitchFamily="34" charset="-122"/>
                <a:cs typeface="Bebas Neue" pitchFamily="34" charset="-120"/>
              </a:rPr>
              <a:t>HOLDS THE BAY</a:t>
            </a:r>
            <a:endParaRPr lang="en-US" sz="6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7650"/>
          <a:ext cx="10553700" cy="1930053"/>
        </p:xfrm>
        <a:graphic>
          <a:graphicData uri="http://schemas.openxmlformats.org/drawingml/2006/table">
            <a:tbl>
              <a:tblPr/>
              <a:tblGrid>
                <a:gridCol w="2955036"/>
                <a:gridCol w="1477518"/>
                <a:gridCol w="1477518"/>
                <a:gridCol w="1688592"/>
                <a:gridCol w="1477518"/>
                <a:gridCol w="1477518"/>
              </a:tblGrid>
              <a:tr h="386011">
                <a:tc>
                  <a:txBody>
                    <a:bodyPr/>
                    <a:lstStyle/>
                    <a:p>
                      <a:pPr indent="0" marL="0">
                        <a:lnSpc>
                          <a:spcPts val="1960"/>
                        </a:lnSpc>
                        <a:buNone/>
                      </a:pP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c>
                  <a:txBody>
                    <a:bodyPr/>
                    <a:lstStyle/>
                    <a:p>
                      <a:pPr algn="ctr" indent="0" marL="0">
                        <a:lnSpc>
                          <a:spcPts val="1960"/>
                        </a:lnSpc>
                        <a:buNone/>
                      </a:pPr>
                      <a:r>
                        <a:rPr lang="en-US" sz="1400" b="1" dirty="0">
                          <a:solidFill>
                            <a:srgbClr val="0F1419"/>
                          </a:solidFill>
                          <a:latin typeface="Space Grotesk" pitchFamily="34" charset="0"/>
                          <a:ea typeface="Space Grotesk" pitchFamily="34" charset="-122"/>
                          <a:cs typeface="Space Grotesk" pitchFamily="34" charset="-120"/>
                        </a:rPr>
                        <a:t>Find</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BB9B4"/>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c>
                  <a:txBody>
                    <a:bodyPr/>
                    <a:lstStyle/>
                    <a:p>
                      <a:pPr algn="ctr" indent="0" marL="0">
                        <a:lnSpc>
                          <a:spcPts val="1960"/>
                        </a:lnSpc>
                        <a:buNone/>
                      </a:pPr>
                      <a:r>
                        <a:rPr lang="en-US" sz="1400" b="1" dirty="0">
                          <a:solidFill>
                            <a:srgbClr val="0F1419"/>
                          </a:solidFill>
                          <a:latin typeface="Space Grotesk" pitchFamily="34" charset="0"/>
                          <a:ea typeface="Space Grotesk" pitchFamily="34" charset="-122"/>
                          <a:cs typeface="Space Grotesk" pitchFamily="34" charset="-120"/>
                        </a:rPr>
                        <a:t>Reserve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BB9B4"/>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c>
                  <a:txBody>
                    <a:bodyPr/>
                    <a:lstStyle/>
                    <a:p>
                      <a:pPr algn="ctr" indent="0" marL="0">
                        <a:lnSpc>
                          <a:spcPts val="1960"/>
                        </a:lnSpc>
                        <a:buNone/>
                      </a:pPr>
                      <a:r>
                        <a:rPr lang="en-US" sz="1400" b="1" dirty="0">
                          <a:solidFill>
                            <a:srgbClr val="0F1419"/>
                          </a:solidFill>
                          <a:latin typeface="Space Grotesk" pitchFamily="34" charset="0"/>
                          <a:ea typeface="Space Grotesk" pitchFamily="34" charset="-122"/>
                          <a:cs typeface="Space Grotesk" pitchFamily="34" charset="-120"/>
                        </a:rPr>
                        <a:t>Bay held</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BB9B4"/>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c>
                  <a:txBody>
                    <a:bodyPr/>
                    <a:lstStyle/>
                    <a:p>
                      <a:pPr algn="ctr" indent="0" marL="0">
                        <a:lnSpc>
                          <a:spcPts val="1960"/>
                        </a:lnSpc>
                        <a:buNone/>
                      </a:pPr>
                      <a:r>
                        <a:rPr lang="en-US" sz="1400" b="1" dirty="0">
                          <a:solidFill>
                            <a:srgbClr val="0F1419"/>
                          </a:solidFill>
                          <a:latin typeface="Space Grotesk" pitchFamily="34" charset="0"/>
                          <a:ea typeface="Space Grotesk" pitchFamily="34" charset="-122"/>
                          <a:cs typeface="Space Grotesk" pitchFamily="34" charset="-120"/>
                        </a:rPr>
                        <a:t>Plate access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BB9B4"/>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c>
                  <a:txBody>
                    <a:bodyPr/>
                    <a:lstStyle/>
                    <a:p>
                      <a:pPr algn="ctr" indent="0" marL="0">
                        <a:lnSpc>
                          <a:spcPts val="1960"/>
                        </a:lnSpc>
                        <a:buNone/>
                      </a:pPr>
                      <a:r>
                        <a:rPr lang="en-US" sz="1400" b="1" dirty="0">
                          <a:solidFill>
                            <a:srgbClr val="0F1419"/>
                          </a:solidFill>
                          <a:latin typeface="Space Grotesk" pitchFamily="34" charset="0"/>
                          <a:ea typeface="Space Grotesk" pitchFamily="34" charset="-122"/>
                          <a:cs typeface="Space Grotesk" pitchFamily="34" charset="-120"/>
                        </a:rPr>
                        <a:t>Any network</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BBB9B4"/>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r>
              <a:tr h="386011">
                <a:tc>
                  <a:txBody>
                    <a:bodyPr/>
                    <a:lstStyle/>
                    <a:p>
                      <a:pP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Charging map apps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Operator apps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Parking booking apps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0F1419"/>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F5F4F0"/>
                          </a:solidFill>
                          <a:latin typeface="Space Grotesk" pitchFamily="34" charset="0"/>
                          <a:ea typeface="Space Grotesk" pitchFamily="34" charset="-122"/>
                          <a:cs typeface="Space Grotesk" pitchFamily="34" charset="-120"/>
                        </a:rPr>
                        <a:t>BAYWATCH</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10141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01418"/>
                      </a:solidFill>
                      <a:prstDash val="solid"/>
                      <a:round/>
                      <a:headEnd type="none" w="med" len="med"/>
                      <a:tailEnd type="none" w="med" len="med"/>
                    </a:lnB>
                    <a:solidFill>
                      <a:srgbClr val="0F1419"/>
                    </a:solidFill>
                  </a:tcPr>
                </a:tc>
                <a:tc>
                  <a:txBody>
                    <a:bodyPr/>
                    <a:lstStyle/>
                    <a:p>
                      <a:pPr algn="ctr" indent="0" marL="0">
                        <a:lnSpc>
                          <a:spcPts val="1960"/>
                        </a:lnSpc>
                        <a:buNone/>
                      </a:pPr>
                      <a:r>
                        <a:rPr lang="en-US" sz="1400" dirty="0">
                          <a:solidFill>
                            <a:srgbClr val="C8E946"/>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01418"/>
                      </a:solidFill>
                      <a:prstDash val="solid"/>
                      <a:round/>
                      <a:headEnd type="none" w="med" len="med"/>
                      <a:tailEnd type="none" w="med" len="med"/>
                    </a:lnL>
                    <a:lnR w="12700" cap="flat" cmpd="sng" algn="ctr">
                      <a:solidFill>
                        <a:srgbClr val="10141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01418"/>
                      </a:solidFill>
                      <a:prstDash val="solid"/>
                      <a:round/>
                      <a:headEnd type="none" w="med" len="med"/>
                      <a:tailEnd type="none" w="med" len="med"/>
                    </a:lnB>
                    <a:solidFill>
                      <a:srgbClr val="0F1419"/>
                    </a:solidFill>
                  </a:tcPr>
                </a:tc>
                <a:tc>
                  <a:txBody>
                    <a:bodyPr/>
                    <a:lstStyle/>
                    <a:p>
                      <a:pPr algn="ctr" indent="0" marL="0">
                        <a:lnSpc>
                          <a:spcPts val="1960"/>
                        </a:lnSpc>
                        <a:buNone/>
                      </a:pPr>
                      <a:r>
                        <a:rPr lang="en-US" sz="1400" dirty="0">
                          <a:solidFill>
                            <a:srgbClr val="C8E946"/>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01418"/>
                      </a:solidFill>
                      <a:prstDash val="solid"/>
                      <a:round/>
                      <a:headEnd type="none" w="med" len="med"/>
                      <a:tailEnd type="none" w="med" len="med"/>
                    </a:lnL>
                    <a:lnR w="12700" cap="flat" cmpd="sng" algn="ctr">
                      <a:solidFill>
                        <a:srgbClr val="10141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01418"/>
                      </a:solidFill>
                      <a:prstDash val="solid"/>
                      <a:round/>
                      <a:headEnd type="none" w="med" len="med"/>
                      <a:tailEnd type="none" w="med" len="med"/>
                    </a:lnB>
                    <a:solidFill>
                      <a:srgbClr val="0F1419"/>
                    </a:solidFill>
                  </a:tcPr>
                </a:tc>
                <a:tc>
                  <a:txBody>
                    <a:bodyPr/>
                    <a:lstStyle/>
                    <a:p>
                      <a:pPr algn="ctr" indent="0" marL="0">
                        <a:lnSpc>
                          <a:spcPts val="1960"/>
                        </a:lnSpc>
                        <a:buNone/>
                      </a:pPr>
                      <a:r>
                        <a:rPr lang="en-US" sz="1400" dirty="0">
                          <a:solidFill>
                            <a:srgbClr val="C8E946"/>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01418"/>
                      </a:solidFill>
                      <a:prstDash val="solid"/>
                      <a:round/>
                      <a:headEnd type="none" w="med" len="med"/>
                      <a:tailEnd type="none" w="med" len="med"/>
                    </a:lnL>
                    <a:lnR w="12700" cap="flat" cmpd="sng" algn="ctr">
                      <a:solidFill>
                        <a:srgbClr val="10141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01418"/>
                      </a:solidFill>
                      <a:prstDash val="solid"/>
                      <a:round/>
                      <a:headEnd type="none" w="med" len="med"/>
                      <a:tailEnd type="none" w="med" len="med"/>
                    </a:lnB>
                    <a:solidFill>
                      <a:srgbClr val="0F1419"/>
                    </a:solidFill>
                  </a:tcPr>
                </a:tc>
                <a:tc>
                  <a:txBody>
                    <a:bodyPr/>
                    <a:lstStyle/>
                    <a:p>
                      <a:pPr algn="ctr" indent="0" marL="0">
                        <a:lnSpc>
                          <a:spcPts val="1960"/>
                        </a:lnSpc>
                        <a:buNone/>
                      </a:pPr>
                      <a:r>
                        <a:rPr lang="en-US" sz="1400" dirty="0">
                          <a:solidFill>
                            <a:srgbClr val="C8E946"/>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01418"/>
                      </a:solidFill>
                      <a:prstDash val="solid"/>
                      <a:round/>
                      <a:headEnd type="none" w="med" len="med"/>
                      <a:tailEnd type="none" w="med" len="med"/>
                    </a:lnL>
                    <a:lnR w="12700" cap="flat" cmpd="sng" algn="ctr">
                      <a:solidFill>
                        <a:srgbClr val="10141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01418"/>
                      </a:solidFill>
                      <a:prstDash val="solid"/>
                      <a:round/>
                      <a:headEnd type="none" w="med" len="med"/>
                      <a:tailEnd type="none" w="med" len="med"/>
                    </a:lnB>
                    <a:solidFill>
                      <a:srgbClr val="0F1419"/>
                    </a:solidFill>
                  </a:tcPr>
                </a:tc>
                <a:tc>
                  <a:txBody>
                    <a:bodyPr/>
                    <a:lstStyle/>
                    <a:p>
                      <a:pPr algn="ctr" indent="0" marL="0">
                        <a:lnSpc>
                          <a:spcPts val="1960"/>
                        </a:lnSpc>
                        <a:buNone/>
                      </a:pPr>
                      <a:r>
                        <a:rPr lang="en-US" sz="1400" dirty="0">
                          <a:solidFill>
                            <a:srgbClr val="B79CFF"/>
                          </a:solidFill>
                          <a:latin typeface="Space Grotesk" pitchFamily="34" charset="0"/>
                          <a:ea typeface="Space Grotesk" pitchFamily="34" charset="-122"/>
                          <a:cs typeface="Space Grotesk" pitchFamily="34" charset="-120"/>
                        </a:rPr>
                        <a:t>◐</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01418"/>
                      </a:solidFill>
                      <a:prstDash val="solid"/>
                      <a:round/>
                      <a:headEnd type="none" w="med" len="med"/>
                      <a:tailEnd type="none" w="med" len="med"/>
                    </a:lnL>
                    <a:lnR w="12700" cap="flat" cmpd="sng" algn="ctr">
                      <a:solidFill>
                        <a:srgbClr val="10141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01418"/>
                      </a:solidFill>
                      <a:prstDash val="solid"/>
                      <a:round/>
                      <a:headEnd type="none" w="med" len="med"/>
                      <a:tailEnd type="none" w="med" len="med"/>
                    </a:lnB>
                    <a:solidFill>
                      <a:srgbClr val="0F1419"/>
                    </a:solidFill>
                  </a:tcPr>
                </a:tc>
              </a:tr>
            </a:tbl>
          </a:graphicData>
        </a:graphic>
      </p:graphicFrame>
      <p:sp>
        <p:nvSpPr>
          <p:cNvPr id="5" name="Text 2"/>
          <p:cNvSpPr/>
          <p:nvPr/>
        </p:nvSpPr>
        <p:spPr>
          <a:xfrm>
            <a:off x="812800" y="55448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spc="-25" kern="0" dirty="0">
                <a:solidFill>
                  <a:srgbClr val="0F1419"/>
                </a:solidFill>
                <a:latin typeface="Space Grotesk" pitchFamily="34" charset="0"/>
                <a:ea typeface="Space Grotesk" pitchFamily="34" charset="-122"/>
                <a:cs typeface="Space Grotesk" pitchFamily="34" charset="-120"/>
              </a:rPr>
              <a:t>Others tell you where a charger is. </a:t>
            </a:r>
            <a:r>
              <a:rPr lang="en-US" sz="1800" spc="-25" kern="0" dirty="0">
                <a:solidFill>
                  <a:srgbClr val="5B1CF0"/>
                </a:solidFill>
                <a:latin typeface="Space Grotesk" pitchFamily="34" charset="0"/>
                <a:ea typeface="Space Grotesk" pitchFamily="34" charset="-122"/>
                <a:cs typeface="Space Grotesk" pitchFamily="34" charset="-120"/>
              </a:rPr>
              <a:t>We make sure it’s yours when you get there.</a:t>
            </a:r>
            <a:endParaRPr lang="en-US" sz="1800" dirty="0"/>
          </a:p>
        </p:txBody>
      </p:sp>
      <p:sp>
        <p:nvSpPr>
          <p:cNvPr id="6" name="Text 3"/>
          <p:cNvSpPr/>
          <p:nvPr/>
        </p:nvSpPr>
        <p:spPr>
          <a:xfrm>
            <a:off x="812800" y="6238280"/>
            <a:ext cx="68774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 yes ◐ partly / planned ○ no. Typical category capabilities, our assessment.</a:t>
            </a:r>
            <a:endParaRPr lang="en-US" sz="1200" dirty="0"/>
          </a:p>
        </p:txBody>
      </p:sp>
      <p:sp>
        <p:nvSpPr>
          <p:cNvPr id="7" name="Text 4"/>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8"/>
                </a:solidFill>
                <a:latin typeface="JetBrains Mono" pitchFamily="49" charset="0"/>
                <a:ea typeface="JetBrains Mono" pitchFamily="49" charset="-122"/>
                <a:cs typeface="JetBrains Mono" pitchFamily="49" charset="-120"/>
              </a:rPr>
              <a:t>08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195644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8E946"/>
                </a:solidFill>
                <a:latin typeface="JetBrains Mono" pitchFamily="49" charset="0"/>
                <a:ea typeface="JetBrains Mono" pitchFamily="49" charset="-122"/>
                <a:cs typeface="JetBrains Mono" pitchFamily="49" charset="-120"/>
              </a:rPr>
              <a:t>● LIVE ON THE ECURIOUS BAY</a:t>
            </a:r>
            <a:endParaRPr lang="en-US" sz="1200" dirty="0"/>
          </a:p>
        </p:txBody>
      </p:sp>
      <p:sp>
        <p:nvSpPr>
          <p:cNvPr id="3" name="Text 1"/>
          <p:cNvSpPr/>
          <p:nvPr>
            <p:ph type="title"/>
          </p:nvPr>
        </p:nvSpPr>
        <p:spPr>
          <a:xfrm>
            <a:off x="812800" y="2423765"/>
            <a:ext cx="10883392" cy="1644650"/>
          </a:xfrm>
          <a:prstGeom prst="rect">
            <a:avLst/>
          </a:prstGeom>
          <a:noFill/>
          <a:ln/>
        </p:spPr>
        <p:txBody>
          <a:bodyPr wrap="square" lIns="0" tIns="0" rIns="0" bIns="0" rtlCol="0" anchor="t">
            <a:normAutofit/>
          </a:bodyPr>
          <a:lstStyle/>
          <a:p>
            <a:pPr algn="l" indent="0" marL="0">
              <a:lnSpc>
                <a:spcPts val="12750"/>
              </a:lnSpc>
              <a:buNone/>
            </a:pPr>
            <a:r>
              <a:rPr lang="en-US" sz="15000" b="0" i="0" dirty="0">
                <a:solidFill>
                  <a:srgbClr val="F5F4F0"/>
                </a:solidFill>
                <a:latin typeface="Bebas Neue" pitchFamily="34" charset="0"/>
                <a:ea typeface="Bebas Neue" pitchFamily="34" charset="-122"/>
                <a:cs typeface="Bebas Neue" pitchFamily="34" charset="-120"/>
              </a:rPr>
              <a:t>LIVE </a:t>
            </a:r>
            <a:r>
              <a:rPr lang="en-US" sz="15000" b="0" i="0" dirty="0">
                <a:solidFill>
                  <a:srgbClr val="B79CFF"/>
                </a:solidFill>
                <a:latin typeface="Bebas Neue" pitchFamily="34" charset="0"/>
                <a:ea typeface="Bebas Neue" pitchFamily="34" charset="-122"/>
                <a:cs typeface="Bebas Neue" pitchFamily="34" charset="-120"/>
              </a:rPr>
              <a:t>DEMO</a:t>
            </a:r>
            <a:endParaRPr lang="en-US" sz="15000" dirty="0"/>
          </a:p>
        </p:txBody>
      </p:sp>
      <p:sp>
        <p:nvSpPr>
          <p:cNvPr id="4" name="Text 2"/>
          <p:cNvSpPr/>
          <p:nvPr/>
        </p:nvSpPr>
        <p:spPr>
          <a:xfrm>
            <a:off x="812800" y="429701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9AA0A7"/>
                </a:solidFill>
                <a:latin typeface="JetBrains Mono" pitchFamily="49" charset="0"/>
                <a:ea typeface="JetBrains Mono" pitchFamily="49" charset="-122"/>
                <a:cs typeface="JetBrains Mono" pitchFamily="49" charset="-120"/>
              </a:rPr>
              <a:t>RESERVE → PLATE CHECK → BAY OPENS → CHARGE → RELEASE</a:t>
            </a:r>
            <a:endParaRPr lang="en-US" sz="1400" dirty="0"/>
          </a:p>
        </p:txBody>
      </p:sp>
      <p:sp>
        <p:nvSpPr>
          <p:cNvPr id="5" name="Text 3"/>
          <p:cNvSpPr/>
          <p:nvPr/>
        </p:nvSpPr>
        <p:spPr>
          <a:xfrm>
            <a:off x="812800" y="6238280"/>
            <a:ext cx="53766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DEMO STATUS: [ ] PASSED [ ] PARTIAL [ ] SIMULATED</a:t>
            </a:r>
            <a:endParaRPr lang="en-US" sz="1200" dirty="0"/>
          </a:p>
        </p:txBody>
      </p:sp>
      <p:sp>
        <p:nvSpPr>
          <p:cNvPr id="6" name="Text 4"/>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09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5B1CF0"/>
                </a:solidFill>
                <a:latin typeface="JetBrains Mono" pitchFamily="49" charset="0"/>
                <a:ea typeface="JetBrains Mono" pitchFamily="49" charset="-122"/>
                <a:cs typeface="JetBrains Mono" pitchFamily="49" charset="-120"/>
              </a:rPr>
              <a:t>SOLVING NO-SHOWS</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0F1419"/>
                </a:solidFill>
                <a:latin typeface="Bebas Neue" pitchFamily="34" charset="0"/>
                <a:ea typeface="Bebas Neue" pitchFamily="34" charset="-122"/>
                <a:cs typeface="Bebas Neue" pitchFamily="34" charset="-120"/>
              </a:rPr>
              <a:t>CANCEL EARLY, </a:t>
            </a:r>
            <a:r>
              <a:rPr lang="en-US" sz="6000" b="0" i="0" dirty="0">
                <a:solidFill>
                  <a:srgbClr val="5B1CF0"/>
                </a:solidFill>
                <a:latin typeface="Bebas Neue" pitchFamily="34" charset="0"/>
                <a:ea typeface="Bebas Neue" pitchFamily="34" charset="-122"/>
                <a:cs typeface="Bebas Neue" pitchFamily="34" charset="-120"/>
              </a:rPr>
              <a:t>PAY LESS</a:t>
            </a:r>
            <a:endParaRPr lang="en-US" sz="6000" dirty="0"/>
          </a:p>
        </p:txBody>
      </p:sp>
      <p:sp>
        <p:nvSpPr>
          <p:cNvPr id="4" name="Text 2"/>
          <p:cNvSpPr/>
          <p:nvPr/>
        </p:nvSpPr>
        <p:spPr>
          <a:xfrm>
            <a:off x="812800" y="4198739"/>
            <a:ext cx="2030161"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9AA0A7"/>
                </a:solidFill>
                <a:latin typeface="Bebas Neue" pitchFamily="34" charset="0"/>
                <a:ea typeface="Bebas Neue" pitchFamily="34" charset="-122"/>
                <a:cs typeface="Bebas Neue" pitchFamily="34" charset="-120"/>
              </a:rPr>
              <a:t>0%</a:t>
            </a:r>
            <a:endParaRPr lang="en-US" sz="3200" dirty="0"/>
          </a:p>
        </p:txBody>
      </p:sp>
      <p:sp>
        <p:nvSpPr>
          <p:cNvPr id="5" name="Shape 3"/>
          <p:cNvSpPr/>
          <p:nvPr/>
        </p:nvSpPr>
        <p:spPr>
          <a:xfrm>
            <a:off x="812800" y="4681339"/>
            <a:ext cx="1971030" cy="63500"/>
          </a:xfrm>
          <a:custGeom>
            <a:avLst/>
            <a:gdLst/>
            <a:ahLst/>
            <a:cxnLst/>
            <a:rect l="l" t="t" r="r" b="b"/>
            <a:pathLst>
              <a:path w="1971030" h="63500">
                <a:moveTo>
                  <a:pt x="63500" y="0"/>
                </a:moveTo>
                <a:lnTo>
                  <a:pt x="1907530" y="0"/>
                </a:lnTo>
                <a:arcTo hR="63500" wR="63500" stAng="16200000" swAng="5400000"/>
                <a:lnTo>
                  <a:pt x="1971030" y="63500"/>
                </a:lnTo>
                <a:lnTo>
                  <a:pt x="0" y="63500"/>
                </a:lnTo>
                <a:lnTo>
                  <a:pt x="0" y="63500"/>
                </a:lnTo>
                <a:arcTo hR="63500" wR="63500" stAng="10800000" swAng="5400000"/>
                <a:close/>
              </a:path>
            </a:pathLst>
          </a:custGeom>
          <a:solidFill>
            <a:srgbClr val="9AA0A7"/>
          </a:solidFill>
          <a:ln/>
        </p:spPr>
      </p:sp>
      <p:sp>
        <p:nvSpPr>
          <p:cNvPr id="6" name="Text 4"/>
          <p:cNvSpPr/>
          <p:nvPr/>
        </p:nvSpPr>
        <p:spPr>
          <a:xfrm>
            <a:off x="812800" y="4821039"/>
            <a:ext cx="203016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F1419"/>
                </a:solidFill>
                <a:latin typeface="JetBrains Mono" pitchFamily="49" charset="0"/>
                <a:ea typeface="JetBrains Mono" pitchFamily="49" charset="-122"/>
                <a:cs typeface="JetBrains Mono" pitchFamily="49" charset="-120"/>
              </a:rPr>
              <a:t>&gt;24 H BEFORE</a:t>
            </a:r>
            <a:endParaRPr lang="en-US" sz="1200" dirty="0"/>
          </a:p>
        </p:txBody>
      </p:sp>
      <p:sp>
        <p:nvSpPr>
          <p:cNvPr id="7" name="Text 5"/>
          <p:cNvSpPr/>
          <p:nvPr/>
        </p:nvSpPr>
        <p:spPr>
          <a:xfrm>
            <a:off x="812800" y="5110559"/>
            <a:ext cx="2030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€0 kept</a:t>
            </a:r>
            <a:endParaRPr lang="en-US" sz="1200" dirty="0"/>
          </a:p>
        </p:txBody>
      </p:sp>
      <p:sp>
        <p:nvSpPr>
          <p:cNvPr id="8" name="Text 6"/>
          <p:cNvSpPr/>
          <p:nvPr/>
        </p:nvSpPr>
        <p:spPr>
          <a:xfrm>
            <a:off x="2961630" y="3785989"/>
            <a:ext cx="2030212"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B79CFF"/>
                </a:solidFill>
                <a:latin typeface="Bebas Neue" pitchFamily="34" charset="0"/>
                <a:ea typeface="Bebas Neue" pitchFamily="34" charset="-122"/>
                <a:cs typeface="Bebas Neue" pitchFamily="34" charset="-120"/>
              </a:rPr>
              <a:t>25%</a:t>
            </a:r>
            <a:endParaRPr lang="en-US" sz="3200" dirty="0"/>
          </a:p>
        </p:txBody>
      </p:sp>
      <p:sp>
        <p:nvSpPr>
          <p:cNvPr id="9" name="Shape 7"/>
          <p:cNvSpPr/>
          <p:nvPr/>
        </p:nvSpPr>
        <p:spPr>
          <a:xfrm>
            <a:off x="2961630" y="4268589"/>
            <a:ext cx="1971080" cy="476250"/>
          </a:xfrm>
          <a:custGeom>
            <a:avLst/>
            <a:gdLst/>
            <a:ahLst/>
            <a:cxnLst/>
            <a:rect l="l" t="t" r="r" b="b"/>
            <a:pathLst>
              <a:path w="1971080" h="476250">
                <a:moveTo>
                  <a:pt x="76200" y="0"/>
                </a:moveTo>
                <a:lnTo>
                  <a:pt x="1894880" y="0"/>
                </a:lnTo>
                <a:arcTo hR="76200" wR="76200" stAng="16200000" swAng="5400000"/>
                <a:lnTo>
                  <a:pt x="1971080" y="476250"/>
                </a:lnTo>
                <a:lnTo>
                  <a:pt x="0" y="476250"/>
                </a:lnTo>
                <a:lnTo>
                  <a:pt x="0" y="76200"/>
                </a:lnTo>
                <a:arcTo hR="76200" wR="76200" stAng="10800000" swAng="5400000"/>
                <a:close/>
              </a:path>
            </a:pathLst>
          </a:custGeom>
          <a:solidFill>
            <a:srgbClr val="B79CFF"/>
          </a:solidFill>
          <a:ln/>
        </p:spPr>
      </p:sp>
      <p:sp>
        <p:nvSpPr>
          <p:cNvPr id="10" name="Text 8"/>
          <p:cNvSpPr/>
          <p:nvPr/>
        </p:nvSpPr>
        <p:spPr>
          <a:xfrm>
            <a:off x="2961630" y="4821039"/>
            <a:ext cx="203021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F1419"/>
                </a:solidFill>
                <a:latin typeface="JetBrains Mono" pitchFamily="49" charset="0"/>
                <a:ea typeface="JetBrains Mono" pitchFamily="49" charset="-122"/>
                <a:cs typeface="JetBrains Mono" pitchFamily="49" charset="-120"/>
              </a:rPr>
              <a:t>24 H – 2 H</a:t>
            </a:r>
            <a:endParaRPr lang="en-US" sz="1200" dirty="0"/>
          </a:p>
        </p:txBody>
      </p:sp>
      <p:sp>
        <p:nvSpPr>
          <p:cNvPr id="11" name="Text 9"/>
          <p:cNvSpPr/>
          <p:nvPr/>
        </p:nvSpPr>
        <p:spPr>
          <a:xfrm>
            <a:off x="2961630" y="5110559"/>
            <a:ext cx="20302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€1.25 kept</a:t>
            </a:r>
            <a:endParaRPr lang="en-US" sz="1200" dirty="0"/>
          </a:p>
        </p:txBody>
      </p:sp>
      <p:sp>
        <p:nvSpPr>
          <p:cNvPr id="12" name="Text 10"/>
          <p:cNvSpPr/>
          <p:nvPr/>
        </p:nvSpPr>
        <p:spPr>
          <a:xfrm>
            <a:off x="5110510" y="3309739"/>
            <a:ext cx="2030161"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8A5CF6"/>
                </a:solidFill>
                <a:latin typeface="Bebas Neue" pitchFamily="34" charset="0"/>
                <a:ea typeface="Bebas Neue" pitchFamily="34" charset="-122"/>
                <a:cs typeface="Bebas Neue" pitchFamily="34" charset="-120"/>
              </a:rPr>
              <a:t>50%</a:t>
            </a:r>
            <a:endParaRPr lang="en-US" sz="3200" dirty="0"/>
          </a:p>
        </p:txBody>
      </p:sp>
      <p:sp>
        <p:nvSpPr>
          <p:cNvPr id="13" name="Shape 11"/>
          <p:cNvSpPr/>
          <p:nvPr/>
        </p:nvSpPr>
        <p:spPr>
          <a:xfrm>
            <a:off x="5110510" y="3792339"/>
            <a:ext cx="1971030" cy="952500"/>
          </a:xfrm>
          <a:custGeom>
            <a:avLst/>
            <a:gdLst/>
            <a:ahLst/>
            <a:cxnLst/>
            <a:rect l="l" t="t" r="r" b="b"/>
            <a:pathLst>
              <a:path w="1971030" h="952500">
                <a:moveTo>
                  <a:pt x="76200" y="0"/>
                </a:moveTo>
                <a:lnTo>
                  <a:pt x="1894830" y="0"/>
                </a:lnTo>
                <a:arcTo hR="76200" wR="76200" stAng="16200000" swAng="5400000"/>
                <a:lnTo>
                  <a:pt x="1971030" y="952500"/>
                </a:lnTo>
                <a:lnTo>
                  <a:pt x="0" y="952500"/>
                </a:lnTo>
                <a:lnTo>
                  <a:pt x="0" y="76200"/>
                </a:lnTo>
                <a:arcTo hR="76200" wR="76200" stAng="10800000" swAng="5400000"/>
                <a:close/>
              </a:path>
            </a:pathLst>
          </a:custGeom>
          <a:solidFill>
            <a:srgbClr val="8A5CF6"/>
          </a:solidFill>
          <a:ln/>
        </p:spPr>
      </p:sp>
      <p:sp>
        <p:nvSpPr>
          <p:cNvPr id="14" name="Text 12"/>
          <p:cNvSpPr/>
          <p:nvPr/>
        </p:nvSpPr>
        <p:spPr>
          <a:xfrm>
            <a:off x="5110510" y="4821039"/>
            <a:ext cx="203016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F1419"/>
                </a:solidFill>
                <a:latin typeface="JetBrains Mono" pitchFamily="49" charset="0"/>
                <a:ea typeface="JetBrains Mono" pitchFamily="49" charset="-122"/>
                <a:cs typeface="JetBrains Mono" pitchFamily="49" charset="-120"/>
              </a:rPr>
              <a:t>2 H – 30 MIN</a:t>
            </a:r>
            <a:endParaRPr lang="en-US" sz="1200" dirty="0"/>
          </a:p>
        </p:txBody>
      </p:sp>
      <p:sp>
        <p:nvSpPr>
          <p:cNvPr id="15" name="Text 13"/>
          <p:cNvSpPr/>
          <p:nvPr/>
        </p:nvSpPr>
        <p:spPr>
          <a:xfrm>
            <a:off x="5110510" y="5110559"/>
            <a:ext cx="2030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€2.50 kept</a:t>
            </a:r>
            <a:endParaRPr lang="en-US" sz="1200" dirty="0"/>
          </a:p>
        </p:txBody>
      </p:sp>
      <p:sp>
        <p:nvSpPr>
          <p:cNvPr id="16" name="Text 14"/>
          <p:cNvSpPr/>
          <p:nvPr/>
        </p:nvSpPr>
        <p:spPr>
          <a:xfrm>
            <a:off x="7259340" y="2738239"/>
            <a:ext cx="2030161"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5B1CF0"/>
                </a:solidFill>
                <a:latin typeface="Bebas Neue" pitchFamily="34" charset="0"/>
                <a:ea typeface="Bebas Neue" pitchFamily="34" charset="-122"/>
                <a:cs typeface="Bebas Neue" pitchFamily="34" charset="-120"/>
              </a:rPr>
              <a:t>80%</a:t>
            </a:r>
            <a:endParaRPr lang="en-US" sz="3200" dirty="0"/>
          </a:p>
        </p:txBody>
      </p:sp>
      <p:sp>
        <p:nvSpPr>
          <p:cNvPr id="17" name="Shape 15"/>
          <p:cNvSpPr/>
          <p:nvPr/>
        </p:nvSpPr>
        <p:spPr>
          <a:xfrm>
            <a:off x="7259340" y="3220839"/>
            <a:ext cx="1971030" cy="1524000"/>
          </a:xfrm>
          <a:custGeom>
            <a:avLst/>
            <a:gdLst/>
            <a:ahLst/>
            <a:cxnLst/>
            <a:rect l="l" t="t" r="r" b="b"/>
            <a:pathLst>
              <a:path w="1971030" h="1524000">
                <a:moveTo>
                  <a:pt x="76200" y="0"/>
                </a:moveTo>
                <a:lnTo>
                  <a:pt x="1894830" y="0"/>
                </a:lnTo>
                <a:arcTo hR="76200" wR="76200" stAng="16200000" swAng="5400000"/>
                <a:lnTo>
                  <a:pt x="1971030" y="1524000"/>
                </a:lnTo>
                <a:lnTo>
                  <a:pt x="0" y="1524000"/>
                </a:lnTo>
                <a:lnTo>
                  <a:pt x="0" y="76200"/>
                </a:lnTo>
                <a:arcTo hR="76200" wR="76200" stAng="10800000" swAng="5400000"/>
                <a:close/>
              </a:path>
            </a:pathLst>
          </a:custGeom>
          <a:solidFill>
            <a:srgbClr val="5B1CF0"/>
          </a:solidFill>
          <a:ln/>
        </p:spPr>
      </p:sp>
      <p:sp>
        <p:nvSpPr>
          <p:cNvPr id="18" name="Text 16"/>
          <p:cNvSpPr/>
          <p:nvPr/>
        </p:nvSpPr>
        <p:spPr>
          <a:xfrm>
            <a:off x="7259340" y="4821039"/>
            <a:ext cx="203016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F1419"/>
                </a:solidFill>
                <a:latin typeface="JetBrains Mono" pitchFamily="49" charset="0"/>
                <a:ea typeface="JetBrains Mono" pitchFamily="49" charset="-122"/>
                <a:cs typeface="JetBrains Mono" pitchFamily="49" charset="-120"/>
              </a:rPr>
              <a:t>&lt;30 MIN</a:t>
            </a:r>
            <a:endParaRPr lang="en-US" sz="1200" dirty="0"/>
          </a:p>
        </p:txBody>
      </p:sp>
      <p:sp>
        <p:nvSpPr>
          <p:cNvPr id="19" name="Text 17"/>
          <p:cNvSpPr/>
          <p:nvPr/>
        </p:nvSpPr>
        <p:spPr>
          <a:xfrm>
            <a:off x="7259340" y="5110559"/>
            <a:ext cx="2030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€4.00 kept</a:t>
            </a:r>
            <a:endParaRPr lang="en-US" sz="1200" dirty="0"/>
          </a:p>
        </p:txBody>
      </p:sp>
      <p:sp>
        <p:nvSpPr>
          <p:cNvPr id="20" name="Text 18"/>
          <p:cNvSpPr/>
          <p:nvPr/>
        </p:nvSpPr>
        <p:spPr>
          <a:xfrm>
            <a:off x="9408170" y="2357239"/>
            <a:ext cx="2030161"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F1419"/>
                </a:solidFill>
                <a:latin typeface="Bebas Neue" pitchFamily="34" charset="0"/>
                <a:ea typeface="Bebas Neue" pitchFamily="34" charset="-122"/>
                <a:cs typeface="Bebas Neue" pitchFamily="34" charset="-120"/>
              </a:rPr>
              <a:t>100%</a:t>
            </a:r>
            <a:endParaRPr lang="en-US" sz="3200" dirty="0"/>
          </a:p>
        </p:txBody>
      </p:sp>
      <p:sp>
        <p:nvSpPr>
          <p:cNvPr id="21" name="Shape 19"/>
          <p:cNvSpPr/>
          <p:nvPr/>
        </p:nvSpPr>
        <p:spPr>
          <a:xfrm>
            <a:off x="9408170" y="2839839"/>
            <a:ext cx="1971030" cy="1905000"/>
          </a:xfrm>
          <a:custGeom>
            <a:avLst/>
            <a:gdLst/>
            <a:ahLst/>
            <a:cxnLst/>
            <a:rect l="l" t="t" r="r" b="b"/>
            <a:pathLst>
              <a:path w="1971030" h="1905000">
                <a:moveTo>
                  <a:pt x="76200" y="0"/>
                </a:moveTo>
                <a:lnTo>
                  <a:pt x="1894830" y="0"/>
                </a:lnTo>
                <a:arcTo hR="76200" wR="76200" stAng="16200000" swAng="5400000"/>
                <a:lnTo>
                  <a:pt x="1971030" y="1905000"/>
                </a:lnTo>
                <a:lnTo>
                  <a:pt x="0" y="1905000"/>
                </a:lnTo>
                <a:lnTo>
                  <a:pt x="0" y="76200"/>
                </a:lnTo>
                <a:arcTo hR="76200" wR="76200" stAng="10800000" swAng="5400000"/>
                <a:close/>
              </a:path>
            </a:pathLst>
          </a:custGeom>
          <a:solidFill>
            <a:srgbClr val="0F1419"/>
          </a:solidFill>
          <a:ln/>
        </p:spPr>
      </p:sp>
      <p:sp>
        <p:nvSpPr>
          <p:cNvPr id="22" name="Text 20"/>
          <p:cNvSpPr/>
          <p:nvPr/>
        </p:nvSpPr>
        <p:spPr>
          <a:xfrm>
            <a:off x="9408170" y="4821039"/>
            <a:ext cx="203016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F1419"/>
                </a:solidFill>
                <a:latin typeface="JetBrains Mono" pitchFamily="49" charset="0"/>
                <a:ea typeface="JetBrains Mono" pitchFamily="49" charset="-122"/>
                <a:cs typeface="JetBrains Mono" pitchFamily="49" charset="-120"/>
              </a:rPr>
              <a:t>NO-SHOW</a:t>
            </a:r>
            <a:endParaRPr lang="en-US" sz="1200" dirty="0"/>
          </a:p>
        </p:txBody>
      </p:sp>
      <p:sp>
        <p:nvSpPr>
          <p:cNvPr id="23" name="Text 21"/>
          <p:cNvSpPr/>
          <p:nvPr/>
        </p:nvSpPr>
        <p:spPr>
          <a:xfrm>
            <a:off x="9408170" y="5110559"/>
            <a:ext cx="2030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€5.00 kept</a:t>
            </a:r>
            <a:endParaRPr lang="en-US" sz="1200" dirty="0"/>
          </a:p>
        </p:txBody>
      </p:sp>
      <p:sp>
        <p:nvSpPr>
          <p:cNvPr id="24" name="Text 2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419"/>
                </a:solidFill>
                <a:latin typeface="Space Grotesk" pitchFamily="34" charset="0"/>
                <a:ea typeface="Space Grotesk" pitchFamily="34" charset="-122"/>
                <a:cs typeface="Space Grotesk" pitchFamily="34" charset="-120"/>
              </a:rPr>
              <a:t>Reminders at 24 h, 2 h, 30 min and 5 min. </a:t>
            </a:r>
            <a:r>
              <a:rPr lang="en-US" sz="1600" dirty="0">
                <a:solidFill>
                  <a:srgbClr val="5B1CF0"/>
                </a:solidFill>
                <a:latin typeface="Space Grotesk" pitchFamily="34" charset="0"/>
                <a:ea typeface="Space Grotesk" pitchFamily="34" charset="-122"/>
                <a:cs typeface="Space Grotesk" pitchFamily="34" charset="-120"/>
              </a:rPr>
              <a:t>Drivers cancel in time, bays go back to others.</a:t>
            </a:r>
            <a:endParaRPr lang="en-US" sz="1600" dirty="0"/>
          </a:p>
        </p:txBody>
      </p:sp>
      <p:sp>
        <p:nvSpPr>
          <p:cNvPr id="25" name="Text 23"/>
          <p:cNvSpPr/>
          <p:nvPr/>
        </p:nvSpPr>
        <p:spPr>
          <a:xfrm>
            <a:off x="812800" y="6238280"/>
            <a:ext cx="75876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Share of a €5 booking kept by BayWatch, never an extra penalty. Proposed pilot rules.</a:t>
            </a:r>
            <a:endParaRPr lang="en-US" sz="1200" dirty="0"/>
          </a:p>
        </p:txBody>
      </p:sp>
      <p:sp>
        <p:nvSpPr>
          <p:cNvPr id="26" name="Text 24"/>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8"/>
                </a:solidFill>
                <a:latin typeface="JetBrains Mono" pitchFamily="49" charset="0"/>
                <a:ea typeface="JetBrains Mono" pitchFamily="49" charset="-122"/>
                <a:cs typeface="JetBrains Mono" pitchFamily="49"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SOLVING BLOCKED BAYS</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BLOCKED? </a:t>
            </a:r>
            <a:r>
              <a:rPr lang="en-US" sz="6000" b="0" i="0" dirty="0">
                <a:solidFill>
                  <a:srgbClr val="C8E946"/>
                </a:solidFill>
                <a:latin typeface="Bebas Neue" pitchFamily="34" charset="0"/>
                <a:ea typeface="Bebas Neue" pitchFamily="34" charset="-122"/>
                <a:cs typeface="Bebas Neue" pitchFamily="34" charset="-120"/>
              </a:rPr>
              <a:t>WE’VE GOT YOU.</a:t>
            </a:r>
            <a:endParaRPr lang="en-US" sz="6000" dirty="0"/>
          </a:p>
        </p:txBody>
      </p:sp>
      <p:sp>
        <p:nvSpPr>
          <p:cNvPr id="4" name="Shape 2"/>
          <p:cNvSpPr/>
          <p:nvPr/>
        </p:nvSpPr>
        <p:spPr>
          <a:xfrm>
            <a:off x="815975" y="1908125"/>
            <a:ext cx="5175250" cy="3930700"/>
          </a:xfrm>
          <a:prstGeom prst="roundRect">
            <a:avLst>
              <a:gd name="adj" fmla="val 3796"/>
            </a:avLst>
          </a:prstGeom>
          <a:solidFill>
            <a:srgbClr val="161C22"/>
          </a:solidFill>
          <a:ln w="6350">
            <a:solidFill>
              <a:srgbClr val="2A3139"/>
            </a:solidFill>
            <a:prstDash val="solid"/>
          </a:ln>
        </p:spPr>
      </p:sp>
      <p:sp>
        <p:nvSpPr>
          <p:cNvPr id="5" name="Text 3"/>
          <p:cNvSpPr/>
          <p:nvPr/>
        </p:nvSpPr>
        <p:spPr>
          <a:xfrm>
            <a:off x="1098550" y="219070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9CFF"/>
                </a:solidFill>
                <a:latin typeface="JetBrains Mono" pitchFamily="49" charset="0"/>
                <a:ea typeface="JetBrains Mono" pitchFamily="49" charset="-122"/>
                <a:cs typeface="JetBrains Mono" pitchFamily="49" charset="-120"/>
              </a:rPr>
              <a:t>BAY BLOCKED BEFORE YOU ARRIVE</a:t>
            </a:r>
            <a:endParaRPr lang="en-US" sz="1200" dirty="0"/>
          </a:p>
        </p:txBody>
      </p:sp>
      <p:sp>
        <p:nvSpPr>
          <p:cNvPr id="6" name="Text 4"/>
          <p:cNvSpPr/>
          <p:nvPr/>
        </p:nvSpPr>
        <p:spPr>
          <a:xfrm>
            <a:off x="1098550" y="2556421"/>
            <a:ext cx="4748403"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F5F4F0"/>
                </a:solidFill>
                <a:latin typeface="Bebas Neue" pitchFamily="34" charset="0"/>
                <a:ea typeface="Bebas Neue" pitchFamily="34" charset="-122"/>
                <a:cs typeface="Bebas Neue" pitchFamily="34" charset="-120"/>
              </a:rPr>
              <a:t>CAMERA SPOTS IT</a:t>
            </a:r>
            <a:endParaRPr lang="en-US" sz="3200" dirty="0"/>
          </a:p>
        </p:txBody>
      </p:sp>
      <p:sp>
        <p:nvSpPr>
          <p:cNvPr id="7" name="Text 5"/>
          <p:cNvSpPr/>
          <p:nvPr/>
        </p:nvSpPr>
        <p:spPr>
          <a:xfrm>
            <a:off x="1098550" y="3115221"/>
            <a:ext cx="4748403"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9AA0A7"/>
                </a:solidFill>
                <a:latin typeface="Bebas Neue" pitchFamily="34" charset="0"/>
                <a:ea typeface="Bebas Neue" pitchFamily="34" charset="-122"/>
                <a:cs typeface="Bebas Neue" pitchFamily="34" charset="-120"/>
              </a:rPr>
              <a:t>REROUTE 10 MIN EARLY</a:t>
            </a:r>
            <a:endParaRPr lang="en-US" sz="3200" dirty="0"/>
          </a:p>
        </p:txBody>
      </p:sp>
      <p:sp>
        <p:nvSpPr>
          <p:cNvPr id="8" name="Text 6"/>
          <p:cNvSpPr/>
          <p:nvPr/>
        </p:nvSpPr>
        <p:spPr>
          <a:xfrm>
            <a:off x="1098550" y="3674021"/>
            <a:ext cx="4748403"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C8E946"/>
                </a:solidFill>
                <a:latin typeface="Bebas Neue" pitchFamily="34" charset="0"/>
                <a:ea typeface="Bebas Neue" pitchFamily="34" charset="-122"/>
                <a:cs typeface="Bebas Neue" pitchFamily="34" charset="-120"/>
              </a:rPr>
              <a:t>+ €5 CREDIT</a:t>
            </a:r>
            <a:endParaRPr lang="en-US" sz="3200" dirty="0"/>
          </a:p>
        </p:txBody>
      </p:sp>
      <p:sp>
        <p:nvSpPr>
          <p:cNvPr id="9" name="Text 7"/>
          <p:cNvSpPr/>
          <p:nvPr/>
        </p:nvSpPr>
        <p:spPr>
          <a:xfrm>
            <a:off x="1098550" y="5342930"/>
            <a:ext cx="47484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Works for ICE cars, idle EVs or cars still charging.</a:t>
            </a:r>
            <a:endParaRPr lang="en-US" sz="1200" dirty="0"/>
          </a:p>
        </p:txBody>
      </p:sp>
      <p:sp>
        <p:nvSpPr>
          <p:cNvPr id="10" name="Shape 8"/>
          <p:cNvSpPr/>
          <p:nvPr/>
        </p:nvSpPr>
        <p:spPr>
          <a:xfrm>
            <a:off x="6200775" y="1908125"/>
            <a:ext cx="5175250" cy="3930700"/>
          </a:xfrm>
          <a:prstGeom prst="roundRect">
            <a:avLst>
              <a:gd name="adj" fmla="val 3796"/>
            </a:avLst>
          </a:prstGeom>
          <a:solidFill>
            <a:srgbClr val="161C22"/>
          </a:solidFill>
          <a:ln w="6350">
            <a:solidFill>
              <a:srgbClr val="2A3139"/>
            </a:solidFill>
            <a:prstDash val="solid"/>
          </a:ln>
        </p:spPr>
      </p:sp>
      <p:sp>
        <p:nvSpPr>
          <p:cNvPr id="11" name="Text 9"/>
          <p:cNvSpPr/>
          <p:nvPr/>
        </p:nvSpPr>
        <p:spPr>
          <a:xfrm>
            <a:off x="6483350" y="219070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79CFF"/>
                </a:solidFill>
                <a:latin typeface="JetBrains Mono" pitchFamily="49" charset="0"/>
                <a:ea typeface="JetBrains Mono" pitchFamily="49" charset="-122"/>
                <a:cs typeface="JetBrains Mono" pitchFamily="49" charset="-120"/>
              </a:rPr>
              <a:t>DRIVER OVERSTAYS</a:t>
            </a:r>
            <a:endParaRPr lang="en-US" sz="1200" dirty="0"/>
          </a:p>
        </p:txBody>
      </p:sp>
      <p:sp>
        <p:nvSpPr>
          <p:cNvPr id="12" name="Text 10"/>
          <p:cNvSpPr/>
          <p:nvPr/>
        </p:nvSpPr>
        <p:spPr>
          <a:xfrm>
            <a:off x="6483350" y="2556421"/>
            <a:ext cx="4748403"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F5F4F0"/>
                </a:solidFill>
                <a:latin typeface="Bebas Neue" pitchFamily="34" charset="0"/>
                <a:ea typeface="Bebas Neue" pitchFamily="34" charset="-122"/>
                <a:cs typeface="Bebas Neue" pitchFamily="34" charset="-120"/>
              </a:rPr>
              <a:t>REMINDER 5 MIN BEFORE</a:t>
            </a:r>
            <a:endParaRPr lang="en-US" sz="3200" dirty="0"/>
          </a:p>
        </p:txBody>
      </p:sp>
      <p:sp>
        <p:nvSpPr>
          <p:cNvPr id="13" name="Text 11"/>
          <p:cNvSpPr/>
          <p:nvPr/>
        </p:nvSpPr>
        <p:spPr>
          <a:xfrm>
            <a:off x="6483350" y="3115221"/>
            <a:ext cx="4748403"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9AA0A7"/>
                </a:solidFill>
                <a:latin typeface="Bebas Neue" pitchFamily="34" charset="0"/>
                <a:ea typeface="Bebas Neue" pitchFamily="34" charset="-122"/>
                <a:cs typeface="Bebas Neue" pitchFamily="34" charset="-120"/>
              </a:rPr>
              <a:t>5 MIN GRACE</a:t>
            </a:r>
            <a:endParaRPr lang="en-US" sz="3200" dirty="0"/>
          </a:p>
        </p:txBody>
      </p:sp>
      <p:sp>
        <p:nvSpPr>
          <p:cNvPr id="14" name="Text 12"/>
          <p:cNvSpPr/>
          <p:nvPr/>
        </p:nvSpPr>
        <p:spPr>
          <a:xfrm>
            <a:off x="6483350" y="3674021"/>
            <a:ext cx="4748403"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C8E946"/>
                </a:solidFill>
                <a:latin typeface="Bebas Neue" pitchFamily="34" charset="0"/>
                <a:ea typeface="Bebas Neue" pitchFamily="34" charset="-122"/>
                <a:cs typeface="Bebas Neue" pitchFamily="34" charset="-120"/>
              </a:rPr>
              <a:t>€0.30 / MIN</a:t>
            </a:r>
            <a:endParaRPr lang="en-US" sz="3200" dirty="0"/>
          </a:p>
        </p:txBody>
      </p:sp>
      <p:sp>
        <p:nvSpPr>
          <p:cNvPr id="15" name="Text 13"/>
          <p:cNvSpPr/>
          <p:nvPr/>
        </p:nvSpPr>
        <p:spPr>
          <a:xfrm>
            <a:off x="6483350" y="5342930"/>
            <a:ext cx="47484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Blocking fee shared 50/50 with the operator.</a:t>
            </a:r>
            <a:endParaRPr lang="en-US" sz="1200" dirty="0"/>
          </a:p>
        </p:txBody>
      </p:sp>
      <p:sp>
        <p:nvSpPr>
          <p:cNvPr id="16" name="Text 14"/>
          <p:cNvSpPr/>
          <p:nvPr/>
        </p:nvSpPr>
        <p:spPr>
          <a:xfrm>
            <a:off x="812800" y="6238280"/>
            <a:ext cx="65707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Proposed policy: credit, fee and revenue split to be agreed with operators.</a:t>
            </a:r>
            <a:endParaRPr lang="en-US" sz="1200" dirty="0"/>
          </a:p>
        </p:txBody>
      </p:sp>
      <p:sp>
        <p:nvSpPr>
          <p:cNvPr id="17" name="Text 15"/>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5B1CF0"/>
                </a:solidFill>
                <a:latin typeface="JetBrains Mono" pitchFamily="49" charset="0"/>
                <a:ea typeface="JetBrains Mono" pitchFamily="49" charset="-122"/>
                <a:cs typeface="JetBrains Mono" pitchFamily="49" charset="-120"/>
              </a:rPr>
              <a:t>MORE UTILISATION</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0F1419"/>
                </a:solidFill>
                <a:latin typeface="Bebas Neue" pitchFamily="34" charset="0"/>
                <a:ea typeface="Bebas Neue" pitchFamily="34" charset="-122"/>
                <a:cs typeface="Bebas Neue" pitchFamily="34" charset="-120"/>
              </a:rPr>
              <a:t>MORE CHARGING, </a:t>
            </a:r>
            <a:r>
              <a:rPr lang="en-US" sz="6000" b="0" i="0" dirty="0">
                <a:solidFill>
                  <a:srgbClr val="5B1CF0"/>
                </a:solidFill>
                <a:latin typeface="Bebas Neue" pitchFamily="34" charset="0"/>
                <a:ea typeface="Bebas Neue" pitchFamily="34" charset="-122"/>
                <a:cs typeface="Bebas Neue" pitchFamily="34" charset="-120"/>
              </a:rPr>
              <a:t>SAME BAYS</a:t>
            </a:r>
            <a:endParaRPr lang="en-US" sz="6000" dirty="0"/>
          </a:p>
        </p:txBody>
      </p:sp>
      <p:sp>
        <p:nvSpPr>
          <p:cNvPr id="4" name="Shape 2"/>
          <p:cNvSpPr/>
          <p:nvPr/>
        </p:nvSpPr>
        <p:spPr>
          <a:xfrm>
            <a:off x="812800" y="1904950"/>
            <a:ext cx="3420517" cy="3937050"/>
          </a:xfrm>
          <a:prstGeom prst="roundRect">
            <a:avLst>
              <a:gd name="adj" fmla="val 4455"/>
            </a:avLst>
          </a:prstGeom>
          <a:solidFill>
            <a:srgbClr val="FFFFFF"/>
          </a:solidFill>
          <a:ln/>
        </p:spPr>
      </p:sp>
      <p:sp>
        <p:nvSpPr>
          <p:cNvPr id="5" name="Text 3"/>
          <p:cNvSpPr/>
          <p:nvPr/>
        </p:nvSpPr>
        <p:spPr>
          <a:xfrm>
            <a:off x="1066800" y="2158950"/>
            <a:ext cx="2999892" cy="781050"/>
          </a:xfrm>
          <a:prstGeom prst="rect">
            <a:avLst/>
          </a:prstGeom>
          <a:noFill/>
          <a:ln/>
        </p:spPr>
        <p:txBody>
          <a:bodyPr wrap="square" lIns="0" tIns="0" rIns="0" bIns="0" rtlCol="0" anchor="t">
            <a:normAutofit/>
          </a:bodyPr>
          <a:lstStyle/>
          <a:p>
            <a:pPr algn="l" indent="0" marL="0">
              <a:lnSpc>
                <a:spcPts val="5950"/>
              </a:lnSpc>
              <a:buNone/>
            </a:pPr>
            <a:r>
              <a:rPr lang="en-US" sz="7000" dirty="0">
                <a:solidFill>
                  <a:srgbClr val="5B1CF0"/>
                </a:solidFill>
                <a:latin typeface="Bebas Neue" pitchFamily="34" charset="0"/>
                <a:ea typeface="Bebas Neue" pitchFamily="34" charset="-122"/>
                <a:cs typeface="Bebas Neue" pitchFamily="34" charset="-120"/>
              </a:rPr>
              <a:t>€0</a:t>
            </a:r>
            <a:endParaRPr lang="en-US" sz="7000" dirty="0"/>
          </a:p>
        </p:txBody>
      </p:sp>
      <p:sp>
        <p:nvSpPr>
          <p:cNvPr id="6" name="Text 4"/>
          <p:cNvSpPr/>
          <p:nvPr/>
        </p:nvSpPr>
        <p:spPr>
          <a:xfrm>
            <a:off x="1066800" y="3016200"/>
            <a:ext cx="2999892"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WALK-UP ACCESS</a:t>
            </a:r>
            <a:endParaRPr lang="en-US" sz="2800" dirty="0"/>
          </a:p>
        </p:txBody>
      </p:sp>
      <p:sp>
        <p:nvSpPr>
          <p:cNvPr id="7" name="Text 5"/>
          <p:cNvSpPr/>
          <p:nvPr/>
        </p:nvSpPr>
        <p:spPr>
          <a:xfrm>
            <a:off x="1066800" y="3473400"/>
            <a:ext cx="29998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Empty bays open to anyone, no fee. Every walk-up driver meets the app.</a:t>
            </a:r>
            <a:endParaRPr lang="en-US" sz="1200" dirty="0"/>
          </a:p>
        </p:txBody>
      </p:sp>
      <p:sp>
        <p:nvSpPr>
          <p:cNvPr id="8" name="Shape 6"/>
          <p:cNvSpPr/>
          <p:nvPr/>
        </p:nvSpPr>
        <p:spPr>
          <a:xfrm>
            <a:off x="4385717" y="1904950"/>
            <a:ext cx="3420566" cy="3937050"/>
          </a:xfrm>
          <a:prstGeom prst="roundRect">
            <a:avLst>
              <a:gd name="adj" fmla="val 4455"/>
            </a:avLst>
          </a:prstGeom>
          <a:solidFill>
            <a:srgbClr val="0F1419"/>
          </a:solidFill>
          <a:ln/>
        </p:spPr>
      </p:sp>
      <p:sp>
        <p:nvSpPr>
          <p:cNvPr id="9" name="Text 7"/>
          <p:cNvSpPr/>
          <p:nvPr/>
        </p:nvSpPr>
        <p:spPr>
          <a:xfrm>
            <a:off x="4639717" y="2158950"/>
            <a:ext cx="2999943" cy="781050"/>
          </a:xfrm>
          <a:prstGeom prst="rect">
            <a:avLst/>
          </a:prstGeom>
          <a:noFill/>
          <a:ln/>
        </p:spPr>
        <p:txBody>
          <a:bodyPr wrap="square" lIns="0" tIns="0" rIns="0" bIns="0" rtlCol="0" anchor="t">
            <a:normAutofit/>
          </a:bodyPr>
          <a:lstStyle/>
          <a:p>
            <a:pPr algn="l" indent="0" marL="0">
              <a:lnSpc>
                <a:spcPts val="5950"/>
              </a:lnSpc>
              <a:buNone/>
            </a:pPr>
            <a:r>
              <a:rPr lang="en-US" sz="7000" dirty="0">
                <a:solidFill>
                  <a:srgbClr val="C8E946"/>
                </a:solidFill>
                <a:latin typeface="Bebas Neue" pitchFamily="34" charset="0"/>
                <a:ea typeface="Bebas Neue" pitchFamily="34" charset="-122"/>
                <a:cs typeface="Bebas Neue" pitchFamily="34" charset="-120"/>
              </a:rPr>
              <a:t>€3–6</a:t>
            </a:r>
            <a:endParaRPr lang="en-US" sz="7000" dirty="0"/>
          </a:p>
        </p:txBody>
      </p:sp>
      <p:sp>
        <p:nvSpPr>
          <p:cNvPr id="10" name="Text 8"/>
          <p:cNvSpPr/>
          <p:nvPr/>
        </p:nvSpPr>
        <p:spPr>
          <a:xfrm>
            <a:off x="4639717" y="3016200"/>
            <a:ext cx="299994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5F4F0"/>
                </a:solidFill>
                <a:latin typeface="Bebas Neue" pitchFamily="34" charset="0"/>
                <a:ea typeface="Bebas Neue" pitchFamily="34" charset="-122"/>
                <a:cs typeface="Bebas Neue" pitchFamily="34" charset="-120"/>
              </a:rPr>
              <a:t>PREDICTIVE PRICING</a:t>
            </a:r>
            <a:endParaRPr lang="en-US" sz="2800" dirty="0"/>
          </a:p>
        </p:txBody>
      </p:sp>
      <p:sp>
        <p:nvSpPr>
          <p:cNvPr id="11" name="Text 9"/>
          <p:cNvSpPr/>
          <p:nvPr/>
        </p:nvSpPr>
        <p:spPr>
          <a:xfrm>
            <a:off x="4639717" y="3473400"/>
            <a:ext cx="29999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Cheaper at quiet times, higher at peaks. Demand spreads out.</a:t>
            </a:r>
            <a:endParaRPr lang="en-US" sz="1200" dirty="0"/>
          </a:p>
        </p:txBody>
      </p:sp>
      <p:sp>
        <p:nvSpPr>
          <p:cNvPr id="12" name="Shape 10"/>
          <p:cNvSpPr/>
          <p:nvPr/>
        </p:nvSpPr>
        <p:spPr>
          <a:xfrm>
            <a:off x="7958683" y="1904950"/>
            <a:ext cx="3420517" cy="3937050"/>
          </a:xfrm>
          <a:prstGeom prst="roundRect">
            <a:avLst>
              <a:gd name="adj" fmla="val 4455"/>
            </a:avLst>
          </a:prstGeom>
          <a:solidFill>
            <a:srgbClr val="FFFFFF"/>
          </a:solidFill>
          <a:ln/>
        </p:spPr>
      </p:sp>
      <p:sp>
        <p:nvSpPr>
          <p:cNvPr id="13" name="Text 11"/>
          <p:cNvSpPr/>
          <p:nvPr/>
        </p:nvSpPr>
        <p:spPr>
          <a:xfrm>
            <a:off x="8212683" y="2158950"/>
            <a:ext cx="2999892" cy="781050"/>
          </a:xfrm>
          <a:prstGeom prst="rect">
            <a:avLst/>
          </a:prstGeom>
          <a:noFill/>
          <a:ln/>
        </p:spPr>
        <p:txBody>
          <a:bodyPr wrap="square" lIns="0" tIns="0" rIns="0" bIns="0" rtlCol="0" anchor="t">
            <a:normAutofit/>
          </a:bodyPr>
          <a:lstStyle/>
          <a:p>
            <a:pPr algn="l" indent="0" marL="0">
              <a:lnSpc>
                <a:spcPts val="5950"/>
              </a:lnSpc>
              <a:buNone/>
            </a:pPr>
            <a:r>
              <a:rPr lang="en-US" sz="7000" dirty="0">
                <a:solidFill>
                  <a:srgbClr val="5B1CF0"/>
                </a:solidFill>
                <a:latin typeface="Bebas Neue" pitchFamily="34" charset="0"/>
                <a:ea typeface="Bebas Neue" pitchFamily="34" charset="-122"/>
                <a:cs typeface="Bebas Neue" pitchFamily="34" charset="-120"/>
              </a:rPr>
              <a:t>B2B</a:t>
            </a:r>
            <a:endParaRPr lang="en-US" sz="7000" dirty="0"/>
          </a:p>
        </p:txBody>
      </p:sp>
      <p:sp>
        <p:nvSpPr>
          <p:cNvPr id="14" name="Text 12"/>
          <p:cNvSpPr/>
          <p:nvPr/>
        </p:nvSpPr>
        <p:spPr>
          <a:xfrm>
            <a:off x="8212683" y="3016200"/>
            <a:ext cx="2999892"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FLEET PARTNERS</a:t>
            </a:r>
            <a:endParaRPr lang="en-US" sz="2800" dirty="0"/>
          </a:p>
        </p:txBody>
      </p:sp>
      <p:sp>
        <p:nvSpPr>
          <p:cNvPr id="15" name="Text 13"/>
          <p:cNvSpPr/>
          <p:nvPr/>
        </p:nvSpPr>
        <p:spPr>
          <a:xfrm>
            <a:off x="8212683" y="3473400"/>
            <a:ext cx="29998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Quiet bays go to e-taxi and ride-hailing fleets at a discount.</a:t>
            </a:r>
            <a:endParaRPr lang="en-US" sz="1200" dirty="0"/>
          </a:p>
        </p:txBody>
      </p:sp>
      <p:sp>
        <p:nvSpPr>
          <p:cNvPr id="16" name="Text 14"/>
          <p:cNvSpPr/>
          <p:nvPr/>
        </p:nvSpPr>
        <p:spPr>
          <a:xfrm>
            <a:off x="812800" y="6238280"/>
            <a:ext cx="54274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Pricing range and partnerships are tested in the 90-day pilot.</a:t>
            </a:r>
            <a:endParaRPr lang="en-US" sz="1200" dirty="0"/>
          </a:p>
        </p:txBody>
      </p:sp>
      <p:sp>
        <p:nvSpPr>
          <p:cNvPr id="17" name="Text 15"/>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8"/>
                </a:solidFill>
                <a:latin typeface="JetBrains Mono" pitchFamily="49" charset="0"/>
                <a:ea typeface="JetBrains Mono" pitchFamily="49" charset="-122"/>
                <a:cs typeface="JetBrains Mono" pitchFamily="49"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BUSINESS MODEL</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HOW WE MAKE MONEY</a:t>
            </a:r>
            <a:endParaRPr lang="en-US" sz="6000" dirty="0"/>
          </a:p>
        </p:txBody>
      </p:sp>
      <p:sp>
        <p:nvSpPr>
          <p:cNvPr id="4" name="Text 2"/>
          <p:cNvSpPr/>
          <p:nvPr/>
        </p:nvSpPr>
        <p:spPr>
          <a:xfrm>
            <a:off x="812800" y="190495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0A7"/>
                </a:solidFill>
                <a:latin typeface="JetBrains Mono" pitchFamily="49" charset="0"/>
                <a:ea typeface="JetBrains Mono" pitchFamily="49" charset="-122"/>
                <a:cs typeface="JetBrains Mono" pitchFamily="49" charset="-120"/>
              </a:rPr>
              <a:t>RESERVATION FEES</a:t>
            </a:r>
            <a:endParaRPr lang="en-US" sz="1200" dirty="0"/>
          </a:p>
        </p:txBody>
      </p:sp>
      <p:sp>
        <p:nvSpPr>
          <p:cNvPr id="5" name="Shape 3"/>
          <p:cNvSpPr/>
          <p:nvPr/>
        </p:nvSpPr>
        <p:spPr>
          <a:xfrm>
            <a:off x="812800" y="2197646"/>
            <a:ext cx="5080000" cy="0"/>
          </a:xfrm>
          <a:prstGeom prst="line">
            <a:avLst/>
          </a:prstGeom>
          <a:noFill/>
          <a:ln w="6350">
            <a:solidFill>
              <a:srgbClr val="2A3139"/>
            </a:solidFill>
            <a:prstDash val="solid"/>
          </a:ln>
        </p:spPr>
      </p:sp>
      <p:sp>
        <p:nvSpPr>
          <p:cNvPr id="6" name="Text 4"/>
          <p:cNvSpPr/>
          <p:nvPr/>
        </p:nvSpPr>
        <p:spPr>
          <a:xfrm>
            <a:off x="812800" y="2381796"/>
            <a:ext cx="1766233" cy="52323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F5F4F0"/>
                </a:solidFill>
                <a:latin typeface="Bebas Neue" pitchFamily="34" charset="0"/>
                <a:ea typeface="Bebas Neue" pitchFamily="34" charset="-122"/>
                <a:cs typeface="Bebas Neue" pitchFamily="34" charset="-120"/>
              </a:rPr>
              <a:t>FAST · 1 HOUR</a:t>
            </a:r>
            <a:endParaRPr lang="en-US" sz="2800" dirty="0"/>
          </a:p>
        </p:txBody>
      </p:sp>
      <p:sp>
        <p:nvSpPr>
          <p:cNvPr id="7" name="Text 5"/>
          <p:cNvSpPr/>
          <p:nvPr/>
        </p:nvSpPr>
        <p:spPr>
          <a:xfrm>
            <a:off x="5405120" y="2327821"/>
            <a:ext cx="487680" cy="533400"/>
          </a:xfrm>
          <a:prstGeom prst="rect">
            <a:avLst/>
          </a:prstGeom>
          <a:noFill/>
          <a:ln/>
        </p:spPr>
        <p:txBody>
          <a:bodyPr wrap="square" lIns="0" tIns="0" rIns="0" bIns="0" rtlCol="0" anchor="t">
            <a:normAutofit/>
          </a:bodyPr>
          <a:lstStyle/>
          <a:p>
            <a:pPr algn="r" indent="0" marL="0">
              <a:lnSpc>
                <a:spcPts val="4000"/>
              </a:lnSpc>
              <a:buNone/>
            </a:pPr>
            <a:r>
              <a:rPr lang="en-US" sz="4000" dirty="0">
                <a:solidFill>
                  <a:srgbClr val="F5F4F0"/>
                </a:solidFill>
                <a:latin typeface="Bebas Neue" pitchFamily="34" charset="0"/>
                <a:ea typeface="Bebas Neue" pitchFamily="34" charset="-122"/>
                <a:cs typeface="Bebas Neue" pitchFamily="34" charset="-120"/>
              </a:rPr>
              <a:t>€3</a:t>
            </a:r>
            <a:endParaRPr lang="en-US" sz="4000" dirty="0"/>
          </a:p>
        </p:txBody>
      </p:sp>
      <p:sp>
        <p:nvSpPr>
          <p:cNvPr id="8" name="Shape 6"/>
          <p:cNvSpPr/>
          <p:nvPr/>
        </p:nvSpPr>
        <p:spPr>
          <a:xfrm>
            <a:off x="812800" y="3009801"/>
            <a:ext cx="5080000" cy="0"/>
          </a:xfrm>
          <a:prstGeom prst="line">
            <a:avLst/>
          </a:prstGeom>
          <a:noFill/>
          <a:ln w="6350">
            <a:solidFill>
              <a:srgbClr val="2A3139"/>
            </a:solidFill>
            <a:prstDash val="solid"/>
          </a:ln>
        </p:spPr>
      </p:sp>
      <p:sp>
        <p:nvSpPr>
          <p:cNvPr id="9" name="Text 7"/>
          <p:cNvSpPr/>
          <p:nvPr/>
        </p:nvSpPr>
        <p:spPr>
          <a:xfrm>
            <a:off x="812800" y="3193951"/>
            <a:ext cx="1924943" cy="52323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C8E946"/>
                </a:solidFill>
                <a:latin typeface="Bebas Neue" pitchFamily="34" charset="0"/>
                <a:ea typeface="Bebas Neue" pitchFamily="34" charset="-122"/>
                <a:cs typeface="Bebas Neue" pitchFamily="34" charset="-120"/>
              </a:rPr>
              <a:t>FAST · 2 HOURS</a:t>
            </a:r>
            <a:endParaRPr lang="en-US" sz="2800" dirty="0"/>
          </a:p>
        </p:txBody>
      </p:sp>
      <p:sp>
        <p:nvSpPr>
          <p:cNvPr id="10" name="Text 8"/>
          <p:cNvSpPr/>
          <p:nvPr/>
        </p:nvSpPr>
        <p:spPr>
          <a:xfrm>
            <a:off x="5405120" y="3139976"/>
            <a:ext cx="487680" cy="533400"/>
          </a:xfrm>
          <a:prstGeom prst="rect">
            <a:avLst/>
          </a:prstGeom>
          <a:noFill/>
          <a:ln/>
        </p:spPr>
        <p:txBody>
          <a:bodyPr wrap="square" lIns="0" tIns="0" rIns="0" bIns="0" rtlCol="0" anchor="t">
            <a:normAutofit/>
          </a:bodyPr>
          <a:lstStyle/>
          <a:p>
            <a:pPr algn="r" indent="0" marL="0">
              <a:lnSpc>
                <a:spcPts val="4000"/>
              </a:lnSpc>
              <a:buNone/>
            </a:pPr>
            <a:r>
              <a:rPr lang="en-US" sz="4000" dirty="0">
                <a:solidFill>
                  <a:srgbClr val="C8E946"/>
                </a:solidFill>
                <a:latin typeface="Bebas Neue" pitchFamily="34" charset="0"/>
                <a:ea typeface="Bebas Neue" pitchFamily="34" charset="-122"/>
                <a:cs typeface="Bebas Neue" pitchFamily="34" charset="-120"/>
              </a:rPr>
              <a:t>€5</a:t>
            </a:r>
            <a:endParaRPr lang="en-US" sz="4000" dirty="0"/>
          </a:p>
        </p:txBody>
      </p:sp>
      <p:sp>
        <p:nvSpPr>
          <p:cNvPr id="11" name="Shape 9"/>
          <p:cNvSpPr/>
          <p:nvPr/>
        </p:nvSpPr>
        <p:spPr>
          <a:xfrm>
            <a:off x="812800" y="3821956"/>
            <a:ext cx="5080000" cy="0"/>
          </a:xfrm>
          <a:prstGeom prst="line">
            <a:avLst/>
          </a:prstGeom>
          <a:noFill/>
          <a:ln w="6350">
            <a:solidFill>
              <a:srgbClr val="2A3139"/>
            </a:solidFill>
            <a:prstDash val="solid"/>
          </a:ln>
        </p:spPr>
      </p:sp>
      <p:sp>
        <p:nvSpPr>
          <p:cNvPr id="12" name="Shape 10"/>
          <p:cNvSpPr/>
          <p:nvPr/>
        </p:nvSpPr>
        <p:spPr>
          <a:xfrm>
            <a:off x="812800" y="4634111"/>
            <a:ext cx="5080000" cy="0"/>
          </a:xfrm>
          <a:prstGeom prst="line">
            <a:avLst/>
          </a:prstGeom>
          <a:noFill/>
          <a:ln w="6350">
            <a:solidFill>
              <a:srgbClr val="2A3139"/>
            </a:solidFill>
            <a:prstDash val="solid"/>
          </a:ln>
        </p:spPr>
      </p:sp>
      <p:sp>
        <p:nvSpPr>
          <p:cNvPr id="13" name="Text 11"/>
          <p:cNvSpPr/>
          <p:nvPr/>
        </p:nvSpPr>
        <p:spPr>
          <a:xfrm>
            <a:off x="812800" y="4006106"/>
            <a:ext cx="2020133" cy="52323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F5F4F0"/>
                </a:solidFill>
                <a:latin typeface="Bebas Neue" pitchFamily="34" charset="0"/>
                <a:ea typeface="Bebas Neue" pitchFamily="34" charset="-122"/>
                <a:cs typeface="Bebas Neue" pitchFamily="34" charset="-120"/>
              </a:rPr>
              <a:t>SLOW · 4 HOURS</a:t>
            </a:r>
            <a:endParaRPr lang="en-US" sz="2800" dirty="0"/>
          </a:p>
        </p:txBody>
      </p:sp>
      <p:sp>
        <p:nvSpPr>
          <p:cNvPr id="14" name="Text 12"/>
          <p:cNvSpPr/>
          <p:nvPr/>
        </p:nvSpPr>
        <p:spPr>
          <a:xfrm>
            <a:off x="5405120" y="3952131"/>
            <a:ext cx="487680" cy="533400"/>
          </a:xfrm>
          <a:prstGeom prst="rect">
            <a:avLst/>
          </a:prstGeom>
          <a:noFill/>
          <a:ln/>
        </p:spPr>
        <p:txBody>
          <a:bodyPr wrap="square" lIns="0" tIns="0" rIns="0" bIns="0" rtlCol="0" anchor="t">
            <a:normAutofit/>
          </a:bodyPr>
          <a:lstStyle/>
          <a:p>
            <a:pPr algn="r" indent="0" marL="0">
              <a:lnSpc>
                <a:spcPts val="4000"/>
              </a:lnSpc>
              <a:buNone/>
            </a:pPr>
            <a:r>
              <a:rPr lang="en-US" sz="4000" dirty="0">
                <a:solidFill>
                  <a:srgbClr val="F5F4F0"/>
                </a:solidFill>
                <a:latin typeface="Bebas Neue" pitchFamily="34" charset="0"/>
                <a:ea typeface="Bebas Neue" pitchFamily="34" charset="-122"/>
                <a:cs typeface="Bebas Neue" pitchFamily="34" charset="-120"/>
              </a:rPr>
              <a:t>€4</a:t>
            </a:r>
            <a:endParaRPr lang="en-US" sz="4000" dirty="0"/>
          </a:p>
        </p:txBody>
      </p:sp>
      <p:sp>
        <p:nvSpPr>
          <p:cNvPr id="15" name="Text 13"/>
          <p:cNvSpPr/>
          <p:nvPr/>
        </p:nvSpPr>
        <p:spPr>
          <a:xfrm>
            <a:off x="812800" y="4738886"/>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Electricity is billed separately at the charger.</a:t>
            </a:r>
            <a:endParaRPr lang="en-US" sz="1200" dirty="0"/>
          </a:p>
        </p:txBody>
      </p:sp>
      <p:sp>
        <p:nvSpPr>
          <p:cNvPr id="16" name="Text 14"/>
          <p:cNvSpPr/>
          <p:nvPr/>
        </p:nvSpPr>
        <p:spPr>
          <a:xfrm>
            <a:off x="6299200" y="190495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0A7"/>
                </a:solidFill>
                <a:latin typeface="JetBrains Mono" pitchFamily="49" charset="0"/>
                <a:ea typeface="JetBrains Mono" pitchFamily="49" charset="-122"/>
                <a:cs typeface="JetBrains Mono" pitchFamily="49" charset="-120"/>
              </a:rPr>
              <a:t>PLUS</a:t>
            </a:r>
            <a:endParaRPr lang="en-US" sz="1200" dirty="0"/>
          </a:p>
        </p:txBody>
      </p:sp>
      <p:sp>
        <p:nvSpPr>
          <p:cNvPr id="17" name="Text 15"/>
          <p:cNvSpPr/>
          <p:nvPr/>
        </p:nvSpPr>
        <p:spPr>
          <a:xfrm>
            <a:off x="6299200" y="2245271"/>
            <a:ext cx="523240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B79CFF"/>
                </a:solidFill>
                <a:latin typeface="Space Grotesk" pitchFamily="34" charset="0"/>
                <a:ea typeface="Space Grotesk" pitchFamily="34" charset="-122"/>
                <a:cs typeface="Space Grotesk" pitchFamily="34" charset="-120"/>
              </a:rPr>
              <a:t>No-show &amp; late-cancel fees</a:t>
            </a:r>
            <a:endParaRPr lang="en-US" sz="1800" dirty="0"/>
          </a:p>
        </p:txBody>
      </p:sp>
      <p:sp>
        <p:nvSpPr>
          <p:cNvPr id="18" name="Text 16"/>
          <p:cNvSpPr/>
          <p:nvPr/>
        </p:nvSpPr>
        <p:spPr>
          <a:xfrm>
            <a:off x="6299200" y="2658021"/>
            <a:ext cx="523240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B79CFF"/>
                </a:solidFill>
                <a:latin typeface="Space Grotesk" pitchFamily="34" charset="0"/>
                <a:ea typeface="Space Grotesk" pitchFamily="34" charset="-122"/>
                <a:cs typeface="Space Grotesk" pitchFamily="34" charset="-120"/>
              </a:rPr>
              <a:t>Blocking fees,</a:t>
            </a:r>
            <a:r>
              <a:rPr lang="en-US" sz="1800" dirty="0">
                <a:solidFill>
                  <a:srgbClr val="F5F4F0"/>
                </a:solidFill>
                <a:latin typeface="Space Grotesk" pitchFamily="34" charset="0"/>
                <a:ea typeface="Space Grotesk" pitchFamily="34" charset="-122"/>
                <a:cs typeface="Space Grotesk" pitchFamily="34" charset="-120"/>
              </a:rPr>
              <a:t> 50/50 with operators</a:t>
            </a:r>
            <a:endParaRPr lang="en-US" sz="1800" dirty="0"/>
          </a:p>
        </p:txBody>
      </p:sp>
      <p:sp>
        <p:nvSpPr>
          <p:cNvPr id="19" name="Text 17"/>
          <p:cNvSpPr/>
          <p:nvPr/>
        </p:nvSpPr>
        <p:spPr>
          <a:xfrm>
            <a:off x="6299200" y="3070771"/>
            <a:ext cx="523240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B79CFF"/>
                </a:solidFill>
                <a:latin typeface="Space Grotesk" pitchFamily="34" charset="0"/>
                <a:ea typeface="Space Grotesk" pitchFamily="34" charset="-122"/>
                <a:cs typeface="Space Grotesk" pitchFamily="34" charset="-120"/>
              </a:rPr>
              <a:t>Fleet deals</a:t>
            </a:r>
            <a:r>
              <a:rPr lang="en-US" sz="1800" dirty="0">
                <a:solidFill>
                  <a:srgbClr val="F5F4F0"/>
                </a:solidFill>
                <a:latin typeface="Space Grotesk" pitchFamily="34" charset="0"/>
                <a:ea typeface="Space Grotesk" pitchFamily="34" charset="-122"/>
                <a:cs typeface="Space Grotesk" pitchFamily="34" charset="-120"/>
              </a:rPr>
              <a:t> for quiet bays</a:t>
            </a:r>
            <a:endParaRPr lang="en-US" sz="1800" dirty="0"/>
          </a:p>
        </p:txBody>
      </p:sp>
      <p:sp>
        <p:nvSpPr>
          <p:cNvPr id="20" name="Text 18"/>
          <p:cNvSpPr/>
          <p:nvPr/>
        </p:nvSpPr>
        <p:spPr>
          <a:xfrm>
            <a:off x="6299200" y="3483521"/>
            <a:ext cx="523240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9AA0A7"/>
                </a:solidFill>
                <a:latin typeface="Space Grotesk" pitchFamily="34" charset="0"/>
                <a:ea typeface="Space Grotesk" pitchFamily="34" charset="-122"/>
                <a:cs typeface="Space Grotesk" pitchFamily="34" charset="-120"/>
              </a:rPr>
              <a:t>Later: 1–5% charging commission</a:t>
            </a:r>
            <a:endParaRPr lang="en-US" sz="1800" dirty="0"/>
          </a:p>
        </p:txBody>
      </p:sp>
      <p:sp>
        <p:nvSpPr>
          <p:cNvPr id="21" name="Shape 19"/>
          <p:cNvSpPr/>
          <p:nvPr/>
        </p:nvSpPr>
        <p:spPr>
          <a:xfrm>
            <a:off x="6299200" y="4439940"/>
            <a:ext cx="5080000" cy="1402060"/>
          </a:xfrm>
          <a:prstGeom prst="roundRect">
            <a:avLst>
              <a:gd name="adj" fmla="val 9058"/>
            </a:avLst>
          </a:prstGeom>
          <a:solidFill>
            <a:srgbClr val="C8E946"/>
          </a:solidFill>
          <a:ln/>
        </p:spPr>
      </p:sp>
      <p:sp>
        <p:nvSpPr>
          <p:cNvPr id="22" name="Text 20"/>
          <p:cNvSpPr/>
          <p:nvPr/>
        </p:nvSpPr>
        <p:spPr>
          <a:xfrm>
            <a:off x="6502400" y="4592340"/>
            <a:ext cx="802035" cy="1122660"/>
          </a:xfrm>
          <a:prstGeom prst="rect">
            <a:avLst/>
          </a:prstGeom>
          <a:noFill/>
          <a:ln/>
        </p:spPr>
        <p:txBody>
          <a:bodyPr wrap="square" lIns="0" tIns="0" rIns="0" bIns="0" rtlCol="0" anchor="t">
            <a:normAutofit/>
          </a:bodyPr>
          <a:lstStyle/>
          <a:p>
            <a:pPr algn="l" indent="0" marL="0">
              <a:lnSpc>
                <a:spcPts val="4320"/>
              </a:lnSpc>
              <a:buNone/>
            </a:pPr>
            <a:r>
              <a:rPr lang="en-US" sz="4800" dirty="0">
                <a:solidFill>
                  <a:srgbClr val="0F1419"/>
                </a:solidFill>
                <a:latin typeface="Bebas Neue" pitchFamily="34" charset="0"/>
                <a:ea typeface="Bebas Neue" pitchFamily="34" charset="-122"/>
                <a:cs typeface="Bebas Neue" pitchFamily="34" charset="-120"/>
              </a:rPr>
              <a:t>20%</a:t>
            </a:r>
            <a:endParaRPr lang="en-US" sz="4800" dirty="0"/>
          </a:p>
        </p:txBody>
      </p:sp>
      <p:sp>
        <p:nvSpPr>
          <p:cNvPr id="23" name="Text 21"/>
          <p:cNvSpPr/>
          <p:nvPr/>
        </p:nvSpPr>
        <p:spPr>
          <a:xfrm>
            <a:off x="7406035" y="4918720"/>
            <a:ext cx="3883064"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1419"/>
                </a:solidFill>
                <a:latin typeface="Space Grotesk" pitchFamily="34" charset="0"/>
                <a:ea typeface="Space Grotesk" pitchFamily="34" charset="-122"/>
                <a:cs typeface="Space Grotesk" pitchFamily="34" charset="-120"/>
              </a:rPr>
              <a:t>of net reservation revenue goes to the bay owner</a:t>
            </a:r>
            <a:endParaRPr lang="en-US" sz="1400" dirty="0"/>
          </a:p>
        </p:txBody>
      </p:sp>
      <p:sp>
        <p:nvSpPr>
          <p:cNvPr id="24" name="Text 22"/>
          <p:cNvSpPr/>
          <p:nvPr/>
        </p:nvSpPr>
        <p:spPr>
          <a:xfrm>
            <a:off x="812800" y="6238280"/>
            <a:ext cx="49240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Proposed pilot prices; subject to change after the pilot.</a:t>
            </a:r>
            <a:endParaRPr lang="en-US" sz="1200" dirty="0"/>
          </a:p>
        </p:txBody>
      </p:sp>
      <p:sp>
        <p:nvSpPr>
          <p:cNvPr id="25" name="Text 23"/>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UNIT ECONOMICS</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€200 BACK IN </a:t>
            </a:r>
            <a:r>
              <a:rPr lang="en-US" sz="6000" b="0" i="0" dirty="0">
                <a:solidFill>
                  <a:srgbClr val="C8E946"/>
                </a:solidFill>
                <a:latin typeface="Bebas Neue" pitchFamily="34" charset="0"/>
                <a:ea typeface="Bebas Neue" pitchFamily="34" charset="-122"/>
                <a:cs typeface="Bebas Neue" pitchFamily="34" charset="-120"/>
              </a:rPr>
              <a:t>67 BOOKINGS</a:t>
            </a:r>
            <a:endParaRPr lang="en-US" sz="6000" dirty="0"/>
          </a:p>
        </p:txBody>
      </p:sp>
      <p:sp>
        <p:nvSpPr>
          <p:cNvPr id="4" name="Shape 2"/>
          <p:cNvSpPr/>
          <p:nvPr/>
        </p:nvSpPr>
        <p:spPr>
          <a:xfrm>
            <a:off x="815975" y="1908125"/>
            <a:ext cx="2048470" cy="1121370"/>
          </a:xfrm>
          <a:prstGeom prst="roundRect">
            <a:avLst>
              <a:gd name="adj" fmla="val 8777"/>
            </a:avLst>
          </a:prstGeom>
          <a:noFill/>
          <a:ln w="6350">
            <a:solidFill>
              <a:srgbClr val="2A3139"/>
            </a:solidFill>
            <a:prstDash val="solid"/>
          </a:ln>
        </p:spPr>
      </p:sp>
      <p:sp>
        <p:nvSpPr>
          <p:cNvPr id="5" name="Text 3"/>
          <p:cNvSpPr/>
          <p:nvPr/>
        </p:nvSpPr>
        <p:spPr>
          <a:xfrm>
            <a:off x="971550" y="2063700"/>
            <a:ext cx="178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DRIVER PAYS</a:t>
            </a:r>
            <a:endParaRPr lang="en-US" sz="1200" dirty="0"/>
          </a:p>
        </p:txBody>
      </p:sp>
      <p:sp>
        <p:nvSpPr>
          <p:cNvPr id="6" name="Text 4"/>
          <p:cNvSpPr/>
          <p:nvPr/>
        </p:nvSpPr>
        <p:spPr>
          <a:xfrm>
            <a:off x="971550" y="2315121"/>
            <a:ext cx="1789440"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F5F4F0"/>
                </a:solidFill>
                <a:latin typeface="Bebas Neue" pitchFamily="34" charset="0"/>
                <a:ea typeface="Bebas Neue" pitchFamily="34" charset="-122"/>
                <a:cs typeface="Bebas Neue" pitchFamily="34" charset="-120"/>
              </a:rPr>
              <a:t>€5.00</a:t>
            </a:r>
            <a:endParaRPr lang="en-US" sz="4400" dirty="0"/>
          </a:p>
        </p:txBody>
      </p:sp>
      <p:sp>
        <p:nvSpPr>
          <p:cNvPr id="7" name="Shape 5"/>
          <p:cNvSpPr/>
          <p:nvPr/>
        </p:nvSpPr>
        <p:spPr>
          <a:xfrm>
            <a:off x="2946995" y="1908125"/>
            <a:ext cx="2048520" cy="1121370"/>
          </a:xfrm>
          <a:prstGeom prst="roundRect">
            <a:avLst>
              <a:gd name="adj" fmla="val 8777"/>
            </a:avLst>
          </a:prstGeom>
          <a:noFill/>
          <a:ln w="6350">
            <a:solidFill>
              <a:srgbClr val="2A3139"/>
            </a:solidFill>
            <a:prstDash val="solid"/>
          </a:ln>
        </p:spPr>
      </p:sp>
      <p:sp>
        <p:nvSpPr>
          <p:cNvPr id="8" name="Text 6"/>
          <p:cNvSpPr/>
          <p:nvPr/>
        </p:nvSpPr>
        <p:spPr>
          <a:xfrm>
            <a:off x="3102570" y="2063700"/>
            <a:ext cx="17894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19% VAT</a:t>
            </a:r>
            <a:endParaRPr lang="en-US" sz="1200" dirty="0"/>
          </a:p>
        </p:txBody>
      </p:sp>
      <p:sp>
        <p:nvSpPr>
          <p:cNvPr id="9" name="Text 7"/>
          <p:cNvSpPr/>
          <p:nvPr/>
        </p:nvSpPr>
        <p:spPr>
          <a:xfrm>
            <a:off x="3102570" y="2315121"/>
            <a:ext cx="1789491"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9AA0A7"/>
                </a:solidFill>
                <a:latin typeface="Bebas Neue" pitchFamily="34" charset="0"/>
                <a:ea typeface="Bebas Neue" pitchFamily="34" charset="-122"/>
                <a:cs typeface="Bebas Neue" pitchFamily="34" charset="-120"/>
              </a:rPr>
              <a:t>−€0.80</a:t>
            </a:r>
            <a:endParaRPr lang="en-US" sz="4400" dirty="0"/>
          </a:p>
        </p:txBody>
      </p:sp>
      <p:sp>
        <p:nvSpPr>
          <p:cNvPr id="10" name="Shape 8"/>
          <p:cNvSpPr/>
          <p:nvPr/>
        </p:nvSpPr>
        <p:spPr>
          <a:xfrm>
            <a:off x="5078065" y="1908125"/>
            <a:ext cx="2048520" cy="1121370"/>
          </a:xfrm>
          <a:prstGeom prst="roundRect">
            <a:avLst>
              <a:gd name="adj" fmla="val 8777"/>
            </a:avLst>
          </a:prstGeom>
          <a:noFill/>
          <a:ln w="6350">
            <a:solidFill>
              <a:srgbClr val="2A3139"/>
            </a:solidFill>
            <a:prstDash val="solid"/>
          </a:ln>
        </p:spPr>
      </p:sp>
      <p:sp>
        <p:nvSpPr>
          <p:cNvPr id="11" name="Text 9"/>
          <p:cNvSpPr/>
          <p:nvPr/>
        </p:nvSpPr>
        <p:spPr>
          <a:xfrm>
            <a:off x="5233640" y="2063700"/>
            <a:ext cx="17894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PAYMENT FEE</a:t>
            </a:r>
            <a:endParaRPr lang="en-US" sz="1200" dirty="0"/>
          </a:p>
        </p:txBody>
      </p:sp>
      <p:sp>
        <p:nvSpPr>
          <p:cNvPr id="12" name="Text 10"/>
          <p:cNvSpPr/>
          <p:nvPr/>
        </p:nvSpPr>
        <p:spPr>
          <a:xfrm>
            <a:off x="5233640" y="2315121"/>
            <a:ext cx="1789491"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9AA0A7"/>
                </a:solidFill>
                <a:latin typeface="Bebas Neue" pitchFamily="34" charset="0"/>
                <a:ea typeface="Bebas Neue" pitchFamily="34" charset="-122"/>
                <a:cs typeface="Bebas Neue" pitchFamily="34" charset="-120"/>
              </a:rPr>
              <a:t>−€0.33</a:t>
            </a:r>
            <a:endParaRPr lang="en-US" sz="4400" dirty="0"/>
          </a:p>
        </p:txBody>
      </p:sp>
      <p:sp>
        <p:nvSpPr>
          <p:cNvPr id="13" name="Shape 11"/>
          <p:cNvSpPr/>
          <p:nvPr/>
        </p:nvSpPr>
        <p:spPr>
          <a:xfrm>
            <a:off x="7209135" y="1908125"/>
            <a:ext cx="2048520" cy="1121370"/>
          </a:xfrm>
          <a:prstGeom prst="roundRect">
            <a:avLst>
              <a:gd name="adj" fmla="val 8777"/>
            </a:avLst>
          </a:prstGeom>
          <a:noFill/>
          <a:ln w="6350">
            <a:solidFill>
              <a:srgbClr val="2A3139"/>
            </a:solidFill>
            <a:prstDash val="solid"/>
          </a:ln>
        </p:spPr>
      </p:sp>
      <p:sp>
        <p:nvSpPr>
          <p:cNvPr id="14" name="Text 12"/>
          <p:cNvSpPr/>
          <p:nvPr/>
        </p:nvSpPr>
        <p:spPr>
          <a:xfrm>
            <a:off x="7364710" y="2063700"/>
            <a:ext cx="17894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OWNER 20%</a:t>
            </a:r>
            <a:endParaRPr lang="en-US" sz="1200" dirty="0"/>
          </a:p>
        </p:txBody>
      </p:sp>
      <p:sp>
        <p:nvSpPr>
          <p:cNvPr id="15" name="Text 13"/>
          <p:cNvSpPr/>
          <p:nvPr/>
        </p:nvSpPr>
        <p:spPr>
          <a:xfrm>
            <a:off x="7364710" y="2315121"/>
            <a:ext cx="1789491"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9AA0A7"/>
                </a:solidFill>
                <a:latin typeface="Bebas Neue" pitchFamily="34" charset="0"/>
                <a:ea typeface="Bebas Neue" pitchFamily="34" charset="-122"/>
                <a:cs typeface="Bebas Neue" pitchFamily="34" charset="-120"/>
              </a:rPr>
              <a:t>−€0.84</a:t>
            </a:r>
            <a:endParaRPr lang="en-US" sz="4400" dirty="0"/>
          </a:p>
        </p:txBody>
      </p:sp>
      <p:sp>
        <p:nvSpPr>
          <p:cNvPr id="16" name="Shape 14"/>
          <p:cNvSpPr/>
          <p:nvPr/>
        </p:nvSpPr>
        <p:spPr>
          <a:xfrm>
            <a:off x="9337030" y="1904950"/>
            <a:ext cx="2042170" cy="1127720"/>
          </a:xfrm>
          <a:prstGeom prst="roundRect">
            <a:avLst>
              <a:gd name="adj" fmla="val 9009"/>
            </a:avLst>
          </a:prstGeom>
          <a:solidFill>
            <a:srgbClr val="C8E946"/>
          </a:solidFill>
          <a:ln/>
        </p:spPr>
      </p:sp>
      <p:sp>
        <p:nvSpPr>
          <p:cNvPr id="17" name="Text 15"/>
          <p:cNvSpPr/>
          <p:nvPr/>
        </p:nvSpPr>
        <p:spPr>
          <a:xfrm>
            <a:off x="9489430" y="2057350"/>
            <a:ext cx="17894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419"/>
                </a:solidFill>
                <a:latin typeface="JetBrains Mono" pitchFamily="49" charset="0"/>
                <a:ea typeface="JetBrains Mono" pitchFamily="49" charset="-122"/>
                <a:cs typeface="JetBrains Mono" pitchFamily="49" charset="-120"/>
              </a:rPr>
              <a:t>WE KEEP</a:t>
            </a:r>
            <a:endParaRPr lang="en-US" sz="1200" dirty="0"/>
          </a:p>
        </p:txBody>
      </p:sp>
      <p:sp>
        <p:nvSpPr>
          <p:cNvPr id="18" name="Text 16"/>
          <p:cNvSpPr/>
          <p:nvPr/>
        </p:nvSpPr>
        <p:spPr>
          <a:xfrm>
            <a:off x="9489430" y="2308771"/>
            <a:ext cx="1789491"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0F1419"/>
                </a:solidFill>
                <a:latin typeface="Bebas Neue" pitchFamily="34" charset="0"/>
                <a:ea typeface="Bebas Neue" pitchFamily="34" charset="-122"/>
                <a:cs typeface="Bebas Neue" pitchFamily="34" charset="-120"/>
              </a:rPr>
              <a:t>€3.03</a:t>
            </a:r>
            <a:endParaRPr lang="en-US" sz="4400" dirty="0"/>
          </a:p>
        </p:txBody>
      </p:sp>
      <p:sp>
        <p:nvSpPr>
          <p:cNvPr id="19" name="Shape 17"/>
          <p:cNvSpPr/>
          <p:nvPr/>
        </p:nvSpPr>
        <p:spPr>
          <a:xfrm>
            <a:off x="812800" y="4784130"/>
            <a:ext cx="3251200" cy="0"/>
          </a:xfrm>
          <a:prstGeom prst="line">
            <a:avLst/>
          </a:prstGeom>
          <a:noFill/>
          <a:ln w="12700">
            <a:solidFill>
              <a:srgbClr val="B79CFF"/>
            </a:solidFill>
            <a:prstDash val="solid"/>
          </a:ln>
        </p:spPr>
      </p:sp>
      <p:sp>
        <p:nvSpPr>
          <p:cNvPr id="20" name="Text 18"/>
          <p:cNvSpPr/>
          <p:nvPr/>
        </p:nvSpPr>
        <p:spPr>
          <a:xfrm>
            <a:off x="812800" y="4917480"/>
            <a:ext cx="3348736" cy="711200"/>
          </a:xfrm>
          <a:prstGeom prst="rect">
            <a:avLst/>
          </a:prstGeom>
          <a:noFill/>
          <a:ln/>
        </p:spPr>
        <p:txBody>
          <a:bodyPr wrap="square" lIns="0" tIns="0" rIns="0" bIns="0" rtlCol="0" anchor="t">
            <a:normAutofit/>
          </a:bodyPr>
          <a:lstStyle/>
          <a:p>
            <a:pPr algn="l" indent="0" marL="0">
              <a:lnSpc>
                <a:spcPts val="5400"/>
              </a:lnSpc>
              <a:buNone/>
            </a:pPr>
            <a:r>
              <a:rPr lang="en-US" sz="6000" dirty="0">
                <a:solidFill>
                  <a:srgbClr val="F5F4F0"/>
                </a:solidFill>
                <a:latin typeface="Bebas Neue" pitchFamily="34" charset="0"/>
                <a:ea typeface="Bebas Neue" pitchFamily="34" charset="-122"/>
                <a:cs typeface="Bebas Neue" pitchFamily="34" charset="-120"/>
              </a:rPr>
              <a:t>67 DAYS</a:t>
            </a:r>
            <a:endParaRPr lang="en-US" sz="6000" dirty="0"/>
          </a:p>
        </p:txBody>
      </p:sp>
      <p:sp>
        <p:nvSpPr>
          <p:cNvPr id="21" name="Text 19"/>
          <p:cNvSpPr/>
          <p:nvPr/>
        </p:nvSpPr>
        <p:spPr>
          <a:xfrm>
            <a:off x="812800" y="5628680"/>
            <a:ext cx="33487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at 1 booking a day</a:t>
            </a:r>
            <a:endParaRPr lang="en-US" sz="1200" dirty="0"/>
          </a:p>
        </p:txBody>
      </p:sp>
      <p:sp>
        <p:nvSpPr>
          <p:cNvPr id="22" name="Shape 20"/>
          <p:cNvSpPr/>
          <p:nvPr/>
        </p:nvSpPr>
        <p:spPr>
          <a:xfrm>
            <a:off x="4470400" y="4784130"/>
            <a:ext cx="3251200" cy="0"/>
          </a:xfrm>
          <a:prstGeom prst="line">
            <a:avLst/>
          </a:prstGeom>
          <a:noFill/>
          <a:ln w="12700">
            <a:solidFill>
              <a:srgbClr val="B79CFF"/>
            </a:solidFill>
            <a:prstDash val="solid"/>
          </a:ln>
        </p:spPr>
      </p:sp>
      <p:sp>
        <p:nvSpPr>
          <p:cNvPr id="23" name="Text 21"/>
          <p:cNvSpPr/>
          <p:nvPr/>
        </p:nvSpPr>
        <p:spPr>
          <a:xfrm>
            <a:off x="4470400" y="4917480"/>
            <a:ext cx="3348736" cy="711200"/>
          </a:xfrm>
          <a:prstGeom prst="rect">
            <a:avLst/>
          </a:prstGeom>
          <a:noFill/>
          <a:ln/>
        </p:spPr>
        <p:txBody>
          <a:bodyPr wrap="square" lIns="0" tIns="0" rIns="0" bIns="0" rtlCol="0" anchor="t">
            <a:normAutofit/>
          </a:bodyPr>
          <a:lstStyle/>
          <a:p>
            <a:pPr algn="l" indent="0" marL="0">
              <a:lnSpc>
                <a:spcPts val="5400"/>
              </a:lnSpc>
              <a:buNone/>
            </a:pPr>
            <a:r>
              <a:rPr lang="en-US" sz="6000" dirty="0">
                <a:solidFill>
                  <a:srgbClr val="F5F4F0"/>
                </a:solidFill>
                <a:latin typeface="Bebas Neue" pitchFamily="34" charset="0"/>
                <a:ea typeface="Bebas Neue" pitchFamily="34" charset="-122"/>
                <a:cs typeface="Bebas Neue" pitchFamily="34" charset="-120"/>
              </a:rPr>
              <a:t>23 DAYS</a:t>
            </a:r>
            <a:endParaRPr lang="en-US" sz="6000" dirty="0"/>
          </a:p>
        </p:txBody>
      </p:sp>
      <p:sp>
        <p:nvSpPr>
          <p:cNvPr id="24" name="Text 22"/>
          <p:cNvSpPr/>
          <p:nvPr/>
        </p:nvSpPr>
        <p:spPr>
          <a:xfrm>
            <a:off x="4470400" y="5628680"/>
            <a:ext cx="33487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at 3 bookings a day</a:t>
            </a:r>
            <a:endParaRPr lang="en-US" sz="1200" dirty="0"/>
          </a:p>
        </p:txBody>
      </p:sp>
      <p:sp>
        <p:nvSpPr>
          <p:cNvPr id="25" name="Shape 23"/>
          <p:cNvSpPr/>
          <p:nvPr/>
        </p:nvSpPr>
        <p:spPr>
          <a:xfrm>
            <a:off x="8128000" y="4784130"/>
            <a:ext cx="3251200" cy="0"/>
          </a:xfrm>
          <a:prstGeom prst="line">
            <a:avLst/>
          </a:prstGeom>
          <a:noFill/>
          <a:ln w="12700">
            <a:solidFill>
              <a:srgbClr val="C8E946"/>
            </a:solidFill>
            <a:prstDash val="solid"/>
          </a:ln>
        </p:spPr>
      </p:sp>
      <p:sp>
        <p:nvSpPr>
          <p:cNvPr id="26" name="Text 24"/>
          <p:cNvSpPr/>
          <p:nvPr/>
        </p:nvSpPr>
        <p:spPr>
          <a:xfrm>
            <a:off x="8128000" y="4917480"/>
            <a:ext cx="3348736" cy="711200"/>
          </a:xfrm>
          <a:prstGeom prst="rect">
            <a:avLst/>
          </a:prstGeom>
          <a:noFill/>
          <a:ln/>
        </p:spPr>
        <p:txBody>
          <a:bodyPr wrap="square" lIns="0" tIns="0" rIns="0" bIns="0" rtlCol="0" anchor="t">
            <a:normAutofit/>
          </a:bodyPr>
          <a:lstStyle/>
          <a:p>
            <a:pPr algn="l" indent="0" marL="0">
              <a:lnSpc>
                <a:spcPts val="5400"/>
              </a:lnSpc>
              <a:buNone/>
            </a:pPr>
            <a:r>
              <a:rPr lang="en-US" sz="6000" dirty="0">
                <a:solidFill>
                  <a:srgbClr val="C8E946"/>
                </a:solidFill>
                <a:latin typeface="Bebas Neue" pitchFamily="34" charset="0"/>
                <a:ea typeface="Bebas Neue" pitchFamily="34" charset="-122"/>
                <a:cs typeface="Bebas Neue" pitchFamily="34" charset="-120"/>
              </a:rPr>
              <a:t>14 DAYS</a:t>
            </a:r>
            <a:endParaRPr lang="en-US" sz="6000" dirty="0"/>
          </a:p>
        </p:txBody>
      </p:sp>
      <p:sp>
        <p:nvSpPr>
          <p:cNvPr id="27" name="Text 25"/>
          <p:cNvSpPr/>
          <p:nvPr/>
        </p:nvSpPr>
        <p:spPr>
          <a:xfrm>
            <a:off x="8128000" y="5628680"/>
            <a:ext cx="33487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at 5 bookings a day</a:t>
            </a:r>
            <a:endParaRPr lang="en-US" sz="1200" dirty="0"/>
          </a:p>
        </p:txBody>
      </p:sp>
      <p:sp>
        <p:nvSpPr>
          <p:cNvPr id="28" name="Text 26"/>
          <p:cNvSpPr/>
          <p:nvPr/>
        </p:nvSpPr>
        <p:spPr>
          <a:xfrm>
            <a:off x="812800" y="6238280"/>
            <a:ext cx="86932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€200 setup per bay, Stripe EEA card fee. Excludes other operating costs; illustrative, not a guarantee.</a:t>
            </a:r>
            <a:endParaRPr lang="en-US" sz="1200" dirty="0"/>
          </a:p>
        </p:txBody>
      </p:sp>
      <p:sp>
        <p:nvSpPr>
          <p:cNvPr id="29" name="Text 27"/>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5B1CF0"/>
                </a:solidFill>
                <a:latin typeface="JetBrains Mono" pitchFamily="49" charset="0"/>
                <a:ea typeface="JetBrains Mono" pitchFamily="49" charset="-122"/>
                <a:cs typeface="JetBrains Mono" pitchFamily="49" charset="-120"/>
              </a:rPr>
              <a:t>GROWTH</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0F1419"/>
                </a:solidFill>
                <a:latin typeface="Bebas Neue" pitchFamily="34" charset="0"/>
                <a:ea typeface="Bebas Neue" pitchFamily="34" charset="-122"/>
                <a:cs typeface="Bebas Neue" pitchFamily="34" charset="-120"/>
              </a:rPr>
              <a:t>FROM ONE BAY </a:t>
            </a:r>
            <a:r>
              <a:rPr lang="en-US" sz="6000" b="0" i="0" dirty="0">
                <a:solidFill>
                  <a:srgbClr val="5B1CF0"/>
                </a:solidFill>
                <a:latin typeface="Bebas Neue" pitchFamily="34" charset="0"/>
                <a:ea typeface="Bebas Neue" pitchFamily="34" charset="-122"/>
                <a:cs typeface="Bebas Neue" pitchFamily="34" charset="-120"/>
              </a:rPr>
              <a:t>TO THE NETWORK</a:t>
            </a:r>
            <a:endParaRPr lang="en-US" sz="6000" dirty="0"/>
          </a:p>
        </p:txBody>
      </p:sp>
      <p:sp>
        <p:nvSpPr>
          <p:cNvPr id="4" name="Shape 2"/>
          <p:cNvSpPr/>
          <p:nvPr/>
        </p:nvSpPr>
        <p:spPr>
          <a:xfrm>
            <a:off x="812800" y="1904950"/>
            <a:ext cx="2565400" cy="1767681"/>
          </a:xfrm>
          <a:prstGeom prst="roundRect">
            <a:avLst>
              <a:gd name="adj" fmla="val 8621"/>
            </a:avLst>
          </a:prstGeom>
          <a:solidFill>
            <a:srgbClr val="0F1419"/>
          </a:solidFill>
          <a:ln/>
        </p:spPr>
      </p:sp>
      <p:sp>
        <p:nvSpPr>
          <p:cNvPr id="5" name="Text 3"/>
          <p:cNvSpPr/>
          <p:nvPr/>
        </p:nvSpPr>
        <p:spPr>
          <a:xfrm>
            <a:off x="1016000" y="210815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946"/>
                </a:solidFill>
                <a:latin typeface="JetBrains Mono" pitchFamily="49" charset="0"/>
                <a:ea typeface="JetBrains Mono" pitchFamily="49" charset="-122"/>
                <a:cs typeface="JetBrains Mono" pitchFamily="49" charset="-120"/>
              </a:rPr>
              <a:t>NOW · 90 DAYS</a:t>
            </a:r>
            <a:endParaRPr lang="en-US" sz="1200" dirty="0"/>
          </a:p>
        </p:txBody>
      </p:sp>
      <p:sp>
        <p:nvSpPr>
          <p:cNvPr id="6" name="Text 4"/>
          <p:cNvSpPr/>
          <p:nvPr/>
        </p:nvSpPr>
        <p:spPr>
          <a:xfrm>
            <a:off x="1016000" y="2397671"/>
            <a:ext cx="222377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5F4F0"/>
                </a:solidFill>
                <a:latin typeface="Bebas Neue" pitchFamily="34" charset="0"/>
                <a:ea typeface="Bebas Neue" pitchFamily="34" charset="-122"/>
                <a:cs typeface="Bebas Neue" pitchFamily="34" charset="-120"/>
              </a:rPr>
              <a:t>PILOT</a:t>
            </a:r>
            <a:endParaRPr lang="en-US" sz="2800" dirty="0"/>
          </a:p>
        </p:txBody>
      </p:sp>
      <p:sp>
        <p:nvSpPr>
          <p:cNvPr id="7" name="Text 5"/>
          <p:cNvSpPr/>
          <p:nvPr/>
        </p:nvSpPr>
        <p:spPr>
          <a:xfrm>
            <a:off x="1016000" y="28294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Prove the cycle, test prices, measure no-shows.</a:t>
            </a:r>
            <a:endParaRPr lang="en-US" sz="1200" dirty="0"/>
          </a:p>
        </p:txBody>
      </p:sp>
      <p:sp>
        <p:nvSpPr>
          <p:cNvPr id="8" name="Shape 6"/>
          <p:cNvSpPr/>
          <p:nvPr/>
        </p:nvSpPr>
        <p:spPr>
          <a:xfrm>
            <a:off x="3479800" y="1904950"/>
            <a:ext cx="2565400" cy="1767681"/>
          </a:xfrm>
          <a:prstGeom prst="roundRect">
            <a:avLst>
              <a:gd name="adj" fmla="val 8621"/>
            </a:avLst>
          </a:prstGeom>
          <a:solidFill>
            <a:srgbClr val="FFFFFF"/>
          </a:solidFill>
          <a:ln/>
        </p:spPr>
      </p:sp>
      <p:sp>
        <p:nvSpPr>
          <p:cNvPr id="9" name="Text 7"/>
          <p:cNvSpPr/>
          <p:nvPr/>
        </p:nvSpPr>
        <p:spPr>
          <a:xfrm>
            <a:off x="3683000" y="210815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1CF0"/>
                </a:solidFill>
                <a:latin typeface="JetBrains Mono" pitchFamily="49" charset="0"/>
                <a:ea typeface="JetBrains Mono" pitchFamily="49" charset="-122"/>
                <a:cs typeface="JetBrains Mono" pitchFamily="49" charset="-120"/>
              </a:rPr>
              <a:t>NEXT</a:t>
            </a:r>
            <a:endParaRPr lang="en-US" sz="1200" dirty="0"/>
          </a:p>
        </p:txBody>
      </p:sp>
      <p:sp>
        <p:nvSpPr>
          <p:cNvPr id="10" name="Text 8"/>
          <p:cNvSpPr/>
          <p:nvPr/>
        </p:nvSpPr>
        <p:spPr>
          <a:xfrm>
            <a:off x="3683000" y="2397671"/>
            <a:ext cx="222377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MORE BAYS</a:t>
            </a:r>
            <a:endParaRPr lang="en-US" sz="2800" dirty="0"/>
          </a:p>
        </p:txBody>
      </p:sp>
      <p:sp>
        <p:nvSpPr>
          <p:cNvPr id="11" name="Text 9"/>
          <p:cNvSpPr/>
          <p:nvPr/>
        </p:nvSpPr>
        <p:spPr>
          <a:xfrm>
            <a:off x="3683000" y="282947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Roll out with Ecurious hardware at busy fast-charging sites.</a:t>
            </a:r>
            <a:endParaRPr lang="en-US" sz="1200" dirty="0"/>
          </a:p>
        </p:txBody>
      </p:sp>
      <p:sp>
        <p:nvSpPr>
          <p:cNvPr id="12" name="Shape 10"/>
          <p:cNvSpPr/>
          <p:nvPr/>
        </p:nvSpPr>
        <p:spPr>
          <a:xfrm>
            <a:off x="6146800" y="1904950"/>
            <a:ext cx="2565400" cy="1767681"/>
          </a:xfrm>
          <a:prstGeom prst="roundRect">
            <a:avLst>
              <a:gd name="adj" fmla="val 8621"/>
            </a:avLst>
          </a:prstGeom>
          <a:solidFill>
            <a:srgbClr val="FFFFFF"/>
          </a:solidFill>
          <a:ln/>
        </p:spPr>
      </p:sp>
      <p:sp>
        <p:nvSpPr>
          <p:cNvPr id="13" name="Text 11"/>
          <p:cNvSpPr/>
          <p:nvPr/>
        </p:nvSpPr>
        <p:spPr>
          <a:xfrm>
            <a:off x="6350000" y="210815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1CF0"/>
                </a:solidFill>
                <a:latin typeface="JetBrains Mono" pitchFamily="49" charset="0"/>
                <a:ea typeface="JetBrains Mono" pitchFamily="49" charset="-122"/>
                <a:cs typeface="JetBrains Mono" pitchFamily="49" charset="-120"/>
              </a:rPr>
              <a:t>THEN</a:t>
            </a:r>
            <a:endParaRPr lang="en-US" sz="1200" dirty="0"/>
          </a:p>
        </p:txBody>
      </p:sp>
      <p:sp>
        <p:nvSpPr>
          <p:cNvPr id="14" name="Text 12"/>
          <p:cNvSpPr/>
          <p:nvPr/>
        </p:nvSpPr>
        <p:spPr>
          <a:xfrm>
            <a:off x="6350000" y="2397671"/>
            <a:ext cx="222377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OPEN UP</a:t>
            </a:r>
            <a:endParaRPr lang="en-US" sz="2800" dirty="0"/>
          </a:p>
        </p:txBody>
      </p:sp>
      <p:sp>
        <p:nvSpPr>
          <p:cNvPr id="15" name="Text 13"/>
          <p:cNvSpPr/>
          <p:nvPr/>
        </p:nvSpPr>
        <p:spPr>
          <a:xfrm>
            <a:off x="6350000" y="28294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Other apps and operators book via open API and OCPI.</a:t>
            </a:r>
            <a:endParaRPr lang="en-US" sz="1200" dirty="0"/>
          </a:p>
        </p:txBody>
      </p:sp>
      <p:sp>
        <p:nvSpPr>
          <p:cNvPr id="16" name="Shape 14"/>
          <p:cNvSpPr/>
          <p:nvPr/>
        </p:nvSpPr>
        <p:spPr>
          <a:xfrm>
            <a:off x="8813800" y="1904950"/>
            <a:ext cx="2565400" cy="1767681"/>
          </a:xfrm>
          <a:prstGeom prst="roundRect">
            <a:avLst>
              <a:gd name="adj" fmla="val 8621"/>
            </a:avLst>
          </a:prstGeom>
          <a:solidFill>
            <a:srgbClr val="FFFFFF"/>
          </a:solidFill>
          <a:ln/>
        </p:spPr>
      </p:sp>
      <p:sp>
        <p:nvSpPr>
          <p:cNvPr id="17" name="Text 15"/>
          <p:cNvSpPr/>
          <p:nvPr/>
        </p:nvSpPr>
        <p:spPr>
          <a:xfrm>
            <a:off x="9017000" y="210815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1CF0"/>
                </a:solidFill>
                <a:latin typeface="JetBrains Mono" pitchFamily="49" charset="0"/>
                <a:ea typeface="JetBrains Mono" pitchFamily="49" charset="-122"/>
                <a:cs typeface="JetBrains Mono" pitchFamily="49" charset="-120"/>
              </a:rPr>
              <a:t>BEYOND</a:t>
            </a:r>
            <a:endParaRPr lang="en-US" sz="1200" dirty="0"/>
          </a:p>
        </p:txBody>
      </p:sp>
      <p:sp>
        <p:nvSpPr>
          <p:cNvPr id="18" name="Text 16"/>
          <p:cNvSpPr/>
          <p:nvPr/>
        </p:nvSpPr>
        <p:spPr>
          <a:xfrm>
            <a:off x="9017000" y="2397671"/>
            <a:ext cx="222377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0F1419"/>
                </a:solidFill>
                <a:latin typeface="Bebas Neue" pitchFamily="34" charset="0"/>
                <a:ea typeface="Bebas Neue" pitchFamily="34" charset="-122"/>
                <a:cs typeface="Bebas Neue" pitchFamily="34" charset="-120"/>
              </a:rPr>
              <a:t>NEW VERTICALS</a:t>
            </a:r>
            <a:endParaRPr lang="en-US" sz="2800" dirty="0"/>
          </a:p>
        </p:txBody>
      </p:sp>
      <p:sp>
        <p:nvSpPr>
          <p:cNvPr id="19" name="Text 17"/>
          <p:cNvSpPr/>
          <p:nvPr/>
        </p:nvSpPr>
        <p:spPr>
          <a:xfrm>
            <a:off x="9017000" y="28294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Fleets, retail, hotels, events, plus a voice booking agent.</a:t>
            </a:r>
            <a:endParaRPr lang="en-US" sz="1200" dirty="0"/>
          </a:p>
        </p:txBody>
      </p:sp>
      <p:sp>
        <p:nvSpPr>
          <p:cNvPr id="20" name="Text 18"/>
          <p:cNvSpPr/>
          <p:nvPr/>
        </p:nvSpPr>
        <p:spPr>
          <a:xfrm>
            <a:off x="812800" y="4762500"/>
            <a:ext cx="1846610" cy="1104900"/>
          </a:xfrm>
          <a:prstGeom prst="rect">
            <a:avLst/>
          </a:prstGeom>
          <a:noFill/>
          <a:ln/>
        </p:spPr>
        <p:txBody>
          <a:bodyPr wrap="square" lIns="0" tIns="0" rIns="0" bIns="0" rtlCol="0" anchor="t">
            <a:normAutofit/>
          </a:bodyPr>
          <a:lstStyle/>
          <a:p>
            <a:pPr algn="l" indent="0" marL="0">
              <a:lnSpc>
                <a:spcPts val="8500"/>
              </a:lnSpc>
              <a:buNone/>
            </a:pPr>
            <a:r>
              <a:rPr lang="en-US" sz="10000" dirty="0">
                <a:solidFill>
                  <a:srgbClr val="5B1CF0"/>
                </a:solidFill>
                <a:latin typeface="Bebas Neue" pitchFamily="34" charset="0"/>
                <a:ea typeface="Bebas Neue" pitchFamily="34" charset="-122"/>
                <a:cs typeface="Bebas Neue" pitchFamily="34" charset="-120"/>
              </a:rPr>
              <a:t>51K</a:t>
            </a:r>
            <a:endParaRPr lang="en-US" sz="10000" dirty="0"/>
          </a:p>
        </p:txBody>
      </p:sp>
      <p:sp>
        <p:nvSpPr>
          <p:cNvPr id="21" name="Text 19"/>
          <p:cNvSpPr/>
          <p:nvPr/>
        </p:nvSpPr>
        <p:spPr>
          <a:xfrm>
            <a:off x="2659410" y="5501680"/>
            <a:ext cx="89813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419"/>
                </a:solidFill>
                <a:latin typeface="Space Grotesk" pitchFamily="34" charset="0"/>
                <a:ea typeface="Space Grotesk" pitchFamily="34" charset="-122"/>
                <a:cs typeface="Space Grotesk" pitchFamily="34" charset="-120"/>
              </a:rPr>
              <a:t>DC fast-charging points in Germany today. </a:t>
            </a:r>
            <a:r>
              <a:rPr lang="en-US" sz="1600" dirty="0">
                <a:solidFill>
                  <a:srgbClr val="5B1CF0"/>
                </a:solidFill>
                <a:latin typeface="Space Grotesk" pitchFamily="34" charset="0"/>
                <a:ea typeface="Space Grotesk" pitchFamily="34" charset="-122"/>
                <a:cs typeface="Space Grotesk" pitchFamily="34" charset="-120"/>
              </a:rPr>
              <a:t>Just 1% of them is about 500 bays.</a:t>
            </a:r>
            <a:endParaRPr lang="en-US" sz="1600" dirty="0"/>
          </a:p>
        </p:txBody>
      </p:sp>
      <p:sp>
        <p:nvSpPr>
          <p:cNvPr id="22" name="Text 20"/>
          <p:cNvSpPr/>
          <p:nvPr/>
        </p:nvSpPr>
        <p:spPr>
          <a:xfrm>
            <a:off x="812800" y="6238280"/>
            <a:ext cx="8356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68"/>
                </a:solidFill>
                <a:latin typeface="Space Grotesk" pitchFamily="34" charset="0"/>
                <a:ea typeface="Space Grotesk" pitchFamily="34" charset="-122"/>
                <a:cs typeface="Space Grotesk" pitchFamily="34" charset="-120"/>
              </a:rPr>
              <a:t>Source: Bundesnetzagentur via electrive (May 2026). 1% figure is an illustration, not a forecast.</a:t>
            </a:r>
            <a:endParaRPr lang="en-US" sz="1200" dirty="0"/>
          </a:p>
        </p:txBody>
      </p:sp>
      <p:sp>
        <p:nvSpPr>
          <p:cNvPr id="23" name="Text 21"/>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068"/>
                </a:solidFill>
                <a:latin typeface="JetBrains Mono" pitchFamily="49" charset="0"/>
                <a:ea typeface="JetBrains Mono" pitchFamily="49" charset="-122"/>
                <a:cs typeface="JetBrains Mono" pitchFamily="49"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THE TEAM</a:t>
            </a:r>
            <a:endParaRPr lang="en-US" sz="1200" dirty="0"/>
          </a:p>
        </p:txBody>
      </p:sp>
      <p:sp>
        <p:nvSpPr>
          <p:cNvPr id="3" name="Text 1"/>
          <p:cNvSpPr/>
          <p:nvPr>
            <p:ph type="title"/>
          </p:nvPr>
        </p:nvSpPr>
        <p:spPr>
          <a:xfrm>
            <a:off x="812800" y="949920"/>
            <a:ext cx="10883392" cy="726430"/>
          </a:xfrm>
          <a:prstGeom prst="rect">
            <a:avLst/>
          </a:prstGeom>
          <a:noFill/>
          <a:ln/>
        </p:spPr>
        <p:txBody>
          <a:bodyPr wrap="square" lIns="0" tIns="0" rIns="0" bIns="0" rtlCol="0" anchor="t">
            <a:normAutofit/>
          </a:bodyPr>
          <a:lstStyle/>
          <a:p>
            <a:pPr algn="l" indent="0" marL="0">
              <a:lnSpc>
                <a:spcPts val="5520"/>
              </a:lnSpc>
              <a:buNone/>
            </a:pPr>
            <a:r>
              <a:rPr lang="en-US" sz="6000" b="0" i="0" dirty="0">
                <a:solidFill>
                  <a:srgbClr val="F5F4F0"/>
                </a:solidFill>
                <a:latin typeface="Bebas Neue" pitchFamily="34" charset="0"/>
                <a:ea typeface="Bebas Neue" pitchFamily="34" charset="-122"/>
                <a:cs typeface="Bebas Neue" pitchFamily="34" charset="-120"/>
              </a:rPr>
              <a:t>THE PEOPLE BEHIND </a:t>
            </a:r>
            <a:r>
              <a:rPr lang="en-US" sz="6000" b="0" i="0" dirty="0">
                <a:solidFill>
                  <a:srgbClr val="B79CFF"/>
                </a:solidFill>
                <a:latin typeface="Bebas Neue" pitchFamily="34" charset="0"/>
                <a:ea typeface="Bebas Neue" pitchFamily="34" charset="-122"/>
                <a:cs typeface="Bebas Neue" pitchFamily="34" charset="-120"/>
              </a:rPr>
              <a:t>BAYWATCH</a:t>
            </a:r>
            <a:endParaRPr lang="en-US" sz="6000" dirty="0"/>
          </a:p>
        </p:txBody>
      </p:sp>
      <p:sp>
        <p:nvSpPr>
          <p:cNvPr id="4" name="Shape 2"/>
          <p:cNvSpPr/>
          <p:nvPr/>
        </p:nvSpPr>
        <p:spPr>
          <a:xfrm>
            <a:off x="815975" y="1908125"/>
            <a:ext cx="2520950" cy="3930700"/>
          </a:xfrm>
          <a:prstGeom prst="roundRect">
            <a:avLst>
              <a:gd name="adj" fmla="val 5919"/>
            </a:avLst>
          </a:prstGeom>
          <a:noFill/>
          <a:ln w="6350">
            <a:solidFill>
              <a:srgbClr val="2A3139"/>
            </a:solidFill>
            <a:prstDash val="solid"/>
          </a:ln>
        </p:spPr>
      </p:sp>
      <p:sp>
        <p:nvSpPr>
          <p:cNvPr id="5" name="Text 3"/>
          <p:cNvSpPr/>
          <p:nvPr/>
        </p:nvSpPr>
        <p:spPr>
          <a:xfrm>
            <a:off x="1022350" y="2114500"/>
            <a:ext cx="1016000" cy="1016000"/>
          </a:xfrm>
          <a:custGeom>
            <a:avLst/>
            <a:gdLst/>
            <a:ahLst/>
            <a:cxnLst/>
            <a:rect l="l" t="t" r="r" b="b"/>
            <a:pathLst>
              <a:path w="1016000" h="1016000">
                <a:moveTo>
                  <a:pt x="508000" y="0"/>
                </a:moveTo>
                <a:lnTo>
                  <a:pt x="508000" y="0"/>
                </a:lnTo>
                <a:arcTo hR="508000" wR="508000" stAng="16200000" swAng="5400000"/>
                <a:lnTo>
                  <a:pt x="1016000" y="508000"/>
                </a:lnTo>
                <a:arcTo hR="508000" wR="508000" stAng="0" swAng="5400000"/>
                <a:lnTo>
                  <a:pt x="508000" y="1016000"/>
                </a:lnTo>
                <a:arcTo hR="508000" wR="508000" stAng="5400000" swAng="5400000"/>
                <a:lnTo>
                  <a:pt x="0" y="508000"/>
                </a:lnTo>
                <a:arcTo hR="508000" wR="508000" stAng="10800000" swAng="5400000"/>
                <a:close/>
              </a:path>
            </a:pathLst>
          </a:custGeom>
          <a:solidFill>
            <a:srgbClr val="1E252C"/>
          </a:solidFill>
          <a:ln/>
        </p:spPr>
        <p:txBody>
          <a:bodyPr wrap="square" lIns="0" tIns="0" rIns="0" bIns="0" rtlCol="0" anchor="ctr">
            <a:normAutofit/>
          </a:bodyPr>
          <a:lstStyle/>
          <a:p>
            <a:pPr algn="ctr" indent="0" marL="0">
              <a:lnSpc>
                <a:spcPts val="4480"/>
              </a:lnSpc>
              <a:buNone/>
            </a:pPr>
            <a:r>
              <a:rPr lang="en-US" sz="3200" dirty="0">
                <a:solidFill>
                  <a:srgbClr val="B79CFF"/>
                </a:solidFill>
                <a:latin typeface="Bebas Neue" pitchFamily="34" charset="0"/>
                <a:ea typeface="Bebas Neue" pitchFamily="34" charset="-122"/>
                <a:cs typeface="Bebas Neue" pitchFamily="34" charset="-120"/>
              </a:rPr>
              <a:t>01</a:t>
            </a:r>
            <a:endParaRPr lang="en-US" sz="3200" dirty="0"/>
          </a:p>
        </p:txBody>
      </p:sp>
      <p:sp>
        <p:nvSpPr>
          <p:cNvPr id="6" name="Text 4"/>
          <p:cNvSpPr/>
          <p:nvPr/>
        </p:nvSpPr>
        <p:spPr>
          <a:xfrm>
            <a:off x="1022350" y="4647009"/>
            <a:ext cx="2171446"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5F4F0"/>
                </a:solidFill>
                <a:latin typeface="Bebas Neue" pitchFamily="34" charset="0"/>
                <a:ea typeface="Bebas Neue" pitchFamily="34" charset="-122"/>
                <a:cs typeface="Bebas Neue" pitchFamily="34" charset="-120"/>
              </a:rPr>
              <a:t>[NAME]</a:t>
            </a:r>
            <a:endParaRPr lang="en-US" sz="2800" dirty="0"/>
          </a:p>
        </p:txBody>
      </p:sp>
      <p:sp>
        <p:nvSpPr>
          <p:cNvPr id="7" name="Text 5"/>
          <p:cNvSpPr/>
          <p:nvPr/>
        </p:nvSpPr>
        <p:spPr>
          <a:xfrm>
            <a:off x="1022350" y="5104209"/>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946"/>
                </a:solidFill>
                <a:latin typeface="JetBrains Mono" pitchFamily="49" charset="0"/>
                <a:ea typeface="JetBrains Mono" pitchFamily="49" charset="-122"/>
                <a:cs typeface="JetBrains Mono" pitchFamily="49" charset="-120"/>
              </a:rPr>
              <a:t>[ROLE]</a:t>
            </a:r>
            <a:endParaRPr lang="en-US" sz="1200" dirty="0"/>
          </a:p>
        </p:txBody>
      </p:sp>
      <p:sp>
        <p:nvSpPr>
          <p:cNvPr id="8" name="Text 6"/>
          <p:cNvSpPr/>
          <p:nvPr/>
        </p:nvSpPr>
        <p:spPr>
          <a:xfrm>
            <a:off x="1022350" y="54191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[One line: what they built]</a:t>
            </a:r>
            <a:endParaRPr lang="en-US" sz="1200" dirty="0"/>
          </a:p>
        </p:txBody>
      </p:sp>
      <p:sp>
        <p:nvSpPr>
          <p:cNvPr id="9" name="Shape 7"/>
          <p:cNvSpPr/>
          <p:nvPr/>
        </p:nvSpPr>
        <p:spPr>
          <a:xfrm>
            <a:off x="3495675" y="1908125"/>
            <a:ext cx="2520950" cy="3930700"/>
          </a:xfrm>
          <a:prstGeom prst="roundRect">
            <a:avLst>
              <a:gd name="adj" fmla="val 5919"/>
            </a:avLst>
          </a:prstGeom>
          <a:noFill/>
          <a:ln w="6350">
            <a:solidFill>
              <a:srgbClr val="2A3139"/>
            </a:solidFill>
            <a:prstDash val="solid"/>
          </a:ln>
        </p:spPr>
      </p:sp>
      <p:sp>
        <p:nvSpPr>
          <p:cNvPr id="10" name="Text 8"/>
          <p:cNvSpPr/>
          <p:nvPr/>
        </p:nvSpPr>
        <p:spPr>
          <a:xfrm>
            <a:off x="3702050" y="2114500"/>
            <a:ext cx="1016000" cy="1016000"/>
          </a:xfrm>
          <a:custGeom>
            <a:avLst/>
            <a:gdLst/>
            <a:ahLst/>
            <a:cxnLst/>
            <a:rect l="l" t="t" r="r" b="b"/>
            <a:pathLst>
              <a:path w="1016000" h="1016000">
                <a:moveTo>
                  <a:pt x="508000" y="0"/>
                </a:moveTo>
                <a:lnTo>
                  <a:pt x="508000" y="0"/>
                </a:lnTo>
                <a:arcTo hR="508000" wR="508000" stAng="16200000" swAng="5400000"/>
                <a:lnTo>
                  <a:pt x="1016000" y="508000"/>
                </a:lnTo>
                <a:arcTo hR="508000" wR="508000" stAng="0" swAng="5400000"/>
                <a:lnTo>
                  <a:pt x="508000" y="1016000"/>
                </a:lnTo>
                <a:arcTo hR="508000" wR="508000" stAng="5400000" swAng="5400000"/>
                <a:lnTo>
                  <a:pt x="0" y="508000"/>
                </a:lnTo>
                <a:arcTo hR="508000" wR="508000" stAng="10800000" swAng="5400000"/>
                <a:close/>
              </a:path>
            </a:pathLst>
          </a:custGeom>
          <a:solidFill>
            <a:srgbClr val="1E252C"/>
          </a:solidFill>
          <a:ln/>
        </p:spPr>
        <p:txBody>
          <a:bodyPr wrap="square" lIns="0" tIns="0" rIns="0" bIns="0" rtlCol="0" anchor="ctr">
            <a:normAutofit/>
          </a:bodyPr>
          <a:lstStyle/>
          <a:p>
            <a:pPr algn="ctr" indent="0" marL="0">
              <a:lnSpc>
                <a:spcPts val="4480"/>
              </a:lnSpc>
              <a:buNone/>
            </a:pPr>
            <a:r>
              <a:rPr lang="en-US" sz="3200" dirty="0">
                <a:solidFill>
                  <a:srgbClr val="B79CFF"/>
                </a:solidFill>
                <a:latin typeface="Bebas Neue" pitchFamily="34" charset="0"/>
                <a:ea typeface="Bebas Neue" pitchFamily="34" charset="-122"/>
                <a:cs typeface="Bebas Neue" pitchFamily="34" charset="-120"/>
              </a:rPr>
              <a:t>02</a:t>
            </a:r>
            <a:endParaRPr lang="en-US" sz="3200" dirty="0"/>
          </a:p>
        </p:txBody>
      </p:sp>
      <p:sp>
        <p:nvSpPr>
          <p:cNvPr id="11" name="Text 9"/>
          <p:cNvSpPr/>
          <p:nvPr/>
        </p:nvSpPr>
        <p:spPr>
          <a:xfrm>
            <a:off x="3702050" y="4647009"/>
            <a:ext cx="2171446"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5F4F0"/>
                </a:solidFill>
                <a:latin typeface="Bebas Neue" pitchFamily="34" charset="0"/>
                <a:ea typeface="Bebas Neue" pitchFamily="34" charset="-122"/>
                <a:cs typeface="Bebas Neue" pitchFamily="34" charset="-120"/>
              </a:rPr>
              <a:t>[NAME]</a:t>
            </a:r>
            <a:endParaRPr lang="en-US" sz="2800" dirty="0"/>
          </a:p>
        </p:txBody>
      </p:sp>
      <p:sp>
        <p:nvSpPr>
          <p:cNvPr id="12" name="Text 10"/>
          <p:cNvSpPr/>
          <p:nvPr/>
        </p:nvSpPr>
        <p:spPr>
          <a:xfrm>
            <a:off x="3702050" y="5104209"/>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946"/>
                </a:solidFill>
                <a:latin typeface="JetBrains Mono" pitchFamily="49" charset="0"/>
                <a:ea typeface="JetBrains Mono" pitchFamily="49" charset="-122"/>
                <a:cs typeface="JetBrains Mono" pitchFamily="49" charset="-120"/>
              </a:rPr>
              <a:t>[ROLE]</a:t>
            </a:r>
            <a:endParaRPr lang="en-US" sz="1200" dirty="0"/>
          </a:p>
        </p:txBody>
      </p:sp>
      <p:sp>
        <p:nvSpPr>
          <p:cNvPr id="13" name="Text 11"/>
          <p:cNvSpPr/>
          <p:nvPr/>
        </p:nvSpPr>
        <p:spPr>
          <a:xfrm>
            <a:off x="3702050" y="54191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[One line: what they built]</a:t>
            </a:r>
            <a:endParaRPr lang="en-US" sz="1200" dirty="0"/>
          </a:p>
        </p:txBody>
      </p:sp>
      <p:sp>
        <p:nvSpPr>
          <p:cNvPr id="14" name="Shape 12"/>
          <p:cNvSpPr/>
          <p:nvPr/>
        </p:nvSpPr>
        <p:spPr>
          <a:xfrm>
            <a:off x="6175375" y="1908125"/>
            <a:ext cx="2520950" cy="3930700"/>
          </a:xfrm>
          <a:prstGeom prst="roundRect">
            <a:avLst>
              <a:gd name="adj" fmla="val 5919"/>
            </a:avLst>
          </a:prstGeom>
          <a:noFill/>
          <a:ln w="6350">
            <a:solidFill>
              <a:srgbClr val="2A3139"/>
            </a:solidFill>
            <a:prstDash val="solid"/>
          </a:ln>
        </p:spPr>
      </p:sp>
      <p:sp>
        <p:nvSpPr>
          <p:cNvPr id="15" name="Text 13"/>
          <p:cNvSpPr/>
          <p:nvPr/>
        </p:nvSpPr>
        <p:spPr>
          <a:xfrm>
            <a:off x="6381750" y="2114500"/>
            <a:ext cx="1016000" cy="1016000"/>
          </a:xfrm>
          <a:custGeom>
            <a:avLst/>
            <a:gdLst/>
            <a:ahLst/>
            <a:cxnLst/>
            <a:rect l="l" t="t" r="r" b="b"/>
            <a:pathLst>
              <a:path w="1016000" h="1016000">
                <a:moveTo>
                  <a:pt x="508000" y="0"/>
                </a:moveTo>
                <a:lnTo>
                  <a:pt x="508000" y="0"/>
                </a:lnTo>
                <a:arcTo hR="508000" wR="508000" stAng="16200000" swAng="5400000"/>
                <a:lnTo>
                  <a:pt x="1016000" y="508000"/>
                </a:lnTo>
                <a:arcTo hR="508000" wR="508000" stAng="0" swAng="5400000"/>
                <a:lnTo>
                  <a:pt x="508000" y="1016000"/>
                </a:lnTo>
                <a:arcTo hR="508000" wR="508000" stAng="5400000" swAng="5400000"/>
                <a:lnTo>
                  <a:pt x="0" y="508000"/>
                </a:lnTo>
                <a:arcTo hR="508000" wR="508000" stAng="10800000" swAng="5400000"/>
                <a:close/>
              </a:path>
            </a:pathLst>
          </a:custGeom>
          <a:solidFill>
            <a:srgbClr val="1E252C"/>
          </a:solidFill>
          <a:ln/>
        </p:spPr>
        <p:txBody>
          <a:bodyPr wrap="square" lIns="0" tIns="0" rIns="0" bIns="0" rtlCol="0" anchor="ctr">
            <a:normAutofit/>
          </a:bodyPr>
          <a:lstStyle/>
          <a:p>
            <a:pPr algn="ctr" indent="0" marL="0">
              <a:lnSpc>
                <a:spcPts val="4480"/>
              </a:lnSpc>
              <a:buNone/>
            </a:pPr>
            <a:r>
              <a:rPr lang="en-US" sz="3200" dirty="0">
                <a:solidFill>
                  <a:srgbClr val="B79CFF"/>
                </a:solidFill>
                <a:latin typeface="Bebas Neue" pitchFamily="34" charset="0"/>
                <a:ea typeface="Bebas Neue" pitchFamily="34" charset="-122"/>
                <a:cs typeface="Bebas Neue" pitchFamily="34" charset="-120"/>
              </a:rPr>
              <a:t>03</a:t>
            </a:r>
            <a:endParaRPr lang="en-US" sz="3200" dirty="0"/>
          </a:p>
        </p:txBody>
      </p:sp>
      <p:sp>
        <p:nvSpPr>
          <p:cNvPr id="16" name="Text 14"/>
          <p:cNvSpPr/>
          <p:nvPr/>
        </p:nvSpPr>
        <p:spPr>
          <a:xfrm>
            <a:off x="6381750" y="4647009"/>
            <a:ext cx="2171446"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5F4F0"/>
                </a:solidFill>
                <a:latin typeface="Bebas Neue" pitchFamily="34" charset="0"/>
                <a:ea typeface="Bebas Neue" pitchFamily="34" charset="-122"/>
                <a:cs typeface="Bebas Neue" pitchFamily="34" charset="-120"/>
              </a:rPr>
              <a:t>[NAME]</a:t>
            </a:r>
            <a:endParaRPr lang="en-US" sz="2800" dirty="0"/>
          </a:p>
        </p:txBody>
      </p:sp>
      <p:sp>
        <p:nvSpPr>
          <p:cNvPr id="17" name="Text 15"/>
          <p:cNvSpPr/>
          <p:nvPr/>
        </p:nvSpPr>
        <p:spPr>
          <a:xfrm>
            <a:off x="6381750" y="5104209"/>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946"/>
                </a:solidFill>
                <a:latin typeface="JetBrains Mono" pitchFamily="49" charset="0"/>
                <a:ea typeface="JetBrains Mono" pitchFamily="49" charset="-122"/>
                <a:cs typeface="JetBrains Mono" pitchFamily="49" charset="-120"/>
              </a:rPr>
              <a:t>[ROLE]</a:t>
            </a:r>
            <a:endParaRPr lang="en-US" sz="1200" dirty="0"/>
          </a:p>
        </p:txBody>
      </p:sp>
      <p:sp>
        <p:nvSpPr>
          <p:cNvPr id="18" name="Text 16"/>
          <p:cNvSpPr/>
          <p:nvPr/>
        </p:nvSpPr>
        <p:spPr>
          <a:xfrm>
            <a:off x="6381750" y="54191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[One line: what they built]</a:t>
            </a:r>
            <a:endParaRPr lang="en-US" sz="1200" dirty="0"/>
          </a:p>
        </p:txBody>
      </p:sp>
      <p:sp>
        <p:nvSpPr>
          <p:cNvPr id="19" name="Shape 17"/>
          <p:cNvSpPr/>
          <p:nvPr/>
        </p:nvSpPr>
        <p:spPr>
          <a:xfrm>
            <a:off x="8855075" y="1908125"/>
            <a:ext cx="2520950" cy="3930700"/>
          </a:xfrm>
          <a:prstGeom prst="roundRect">
            <a:avLst>
              <a:gd name="adj" fmla="val 5919"/>
            </a:avLst>
          </a:prstGeom>
          <a:noFill/>
          <a:ln w="6350">
            <a:solidFill>
              <a:srgbClr val="2A3139"/>
            </a:solidFill>
            <a:prstDash val="solid"/>
          </a:ln>
        </p:spPr>
      </p:sp>
      <p:sp>
        <p:nvSpPr>
          <p:cNvPr id="20" name="Text 18"/>
          <p:cNvSpPr/>
          <p:nvPr/>
        </p:nvSpPr>
        <p:spPr>
          <a:xfrm>
            <a:off x="9061450" y="2114500"/>
            <a:ext cx="1016000" cy="1016000"/>
          </a:xfrm>
          <a:custGeom>
            <a:avLst/>
            <a:gdLst/>
            <a:ahLst/>
            <a:cxnLst/>
            <a:rect l="l" t="t" r="r" b="b"/>
            <a:pathLst>
              <a:path w="1016000" h="1016000">
                <a:moveTo>
                  <a:pt x="508000" y="0"/>
                </a:moveTo>
                <a:lnTo>
                  <a:pt x="508000" y="0"/>
                </a:lnTo>
                <a:arcTo hR="508000" wR="508000" stAng="16200000" swAng="5400000"/>
                <a:lnTo>
                  <a:pt x="1016000" y="508000"/>
                </a:lnTo>
                <a:arcTo hR="508000" wR="508000" stAng="0" swAng="5400000"/>
                <a:lnTo>
                  <a:pt x="508000" y="1016000"/>
                </a:lnTo>
                <a:arcTo hR="508000" wR="508000" stAng="5400000" swAng="5400000"/>
                <a:lnTo>
                  <a:pt x="0" y="508000"/>
                </a:lnTo>
                <a:arcTo hR="508000" wR="508000" stAng="10800000" swAng="5400000"/>
                <a:close/>
              </a:path>
            </a:pathLst>
          </a:custGeom>
          <a:solidFill>
            <a:srgbClr val="1E252C"/>
          </a:solidFill>
          <a:ln/>
        </p:spPr>
        <p:txBody>
          <a:bodyPr wrap="square" lIns="0" tIns="0" rIns="0" bIns="0" rtlCol="0" anchor="ctr">
            <a:normAutofit/>
          </a:bodyPr>
          <a:lstStyle/>
          <a:p>
            <a:pPr algn="ctr" indent="0" marL="0">
              <a:lnSpc>
                <a:spcPts val="4480"/>
              </a:lnSpc>
              <a:buNone/>
            </a:pPr>
            <a:r>
              <a:rPr lang="en-US" sz="3200" dirty="0">
                <a:solidFill>
                  <a:srgbClr val="B79CFF"/>
                </a:solidFill>
                <a:latin typeface="Bebas Neue" pitchFamily="34" charset="0"/>
                <a:ea typeface="Bebas Neue" pitchFamily="34" charset="-122"/>
                <a:cs typeface="Bebas Neue" pitchFamily="34" charset="-120"/>
              </a:rPr>
              <a:t>04</a:t>
            </a:r>
            <a:endParaRPr lang="en-US" sz="3200" dirty="0"/>
          </a:p>
        </p:txBody>
      </p:sp>
      <p:sp>
        <p:nvSpPr>
          <p:cNvPr id="21" name="Text 19"/>
          <p:cNvSpPr/>
          <p:nvPr/>
        </p:nvSpPr>
        <p:spPr>
          <a:xfrm>
            <a:off x="9061450" y="4647009"/>
            <a:ext cx="2171446"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5F4F0"/>
                </a:solidFill>
                <a:latin typeface="Bebas Neue" pitchFamily="34" charset="0"/>
                <a:ea typeface="Bebas Neue" pitchFamily="34" charset="-122"/>
                <a:cs typeface="Bebas Neue" pitchFamily="34" charset="-120"/>
              </a:rPr>
              <a:t>[NAME]</a:t>
            </a:r>
            <a:endParaRPr lang="en-US" sz="2800" dirty="0"/>
          </a:p>
        </p:txBody>
      </p:sp>
      <p:sp>
        <p:nvSpPr>
          <p:cNvPr id="22" name="Text 20"/>
          <p:cNvSpPr/>
          <p:nvPr/>
        </p:nvSpPr>
        <p:spPr>
          <a:xfrm>
            <a:off x="9061450" y="5104209"/>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946"/>
                </a:solidFill>
                <a:latin typeface="JetBrains Mono" pitchFamily="49" charset="0"/>
                <a:ea typeface="JetBrains Mono" pitchFamily="49" charset="-122"/>
                <a:cs typeface="JetBrains Mono" pitchFamily="49" charset="-120"/>
              </a:rPr>
              <a:t>[ROLE]</a:t>
            </a:r>
            <a:endParaRPr lang="en-US" sz="1200" dirty="0"/>
          </a:p>
        </p:txBody>
      </p:sp>
      <p:sp>
        <p:nvSpPr>
          <p:cNvPr id="23" name="Text 21"/>
          <p:cNvSpPr/>
          <p:nvPr/>
        </p:nvSpPr>
        <p:spPr>
          <a:xfrm>
            <a:off x="9061450" y="541913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7"/>
                </a:solidFill>
                <a:latin typeface="Space Grotesk" pitchFamily="34" charset="0"/>
                <a:ea typeface="Space Grotesk" pitchFamily="34" charset="-122"/>
                <a:cs typeface="Space Grotesk" pitchFamily="34" charset="-120"/>
              </a:rPr>
              <a:t>[One line: what they built]</a:t>
            </a:r>
            <a:endParaRPr lang="en-US" sz="1200" dirty="0"/>
          </a:p>
        </p:txBody>
      </p:sp>
      <p:sp>
        <p:nvSpPr>
          <p:cNvPr id="24" name="Text 22"/>
          <p:cNvSpPr/>
          <p:nvPr/>
        </p:nvSpPr>
        <p:spPr>
          <a:xfrm>
            <a:off x="812800" y="6238280"/>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0A7"/>
                </a:solidFill>
                <a:latin typeface="JetBrains Mono" pitchFamily="49" charset="0"/>
                <a:ea typeface="JetBrains Mono" pitchFamily="49" charset="-122"/>
                <a:cs typeface="JetBrains Mono" pitchFamily="49" charset="-120"/>
              </a:rPr>
              <a:t>POWERED BY ECURIOUS</a:t>
            </a:r>
            <a:endParaRPr lang="en-US" sz="1200" dirty="0"/>
          </a:p>
        </p:txBody>
      </p:sp>
      <p:sp>
        <p:nvSpPr>
          <p:cNvPr id="25" name="Text 23"/>
          <p:cNvSpPr/>
          <p:nvPr/>
        </p:nvSpPr>
        <p:spPr>
          <a:xfrm>
            <a:off x="10611068" y="6238280"/>
            <a:ext cx="7681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0A7"/>
                </a:solidFill>
                <a:latin typeface="JetBrains Mono" pitchFamily="49" charset="0"/>
                <a:ea typeface="JetBrains Mono" pitchFamily="49" charset="-122"/>
                <a:cs typeface="JetBrains Mono" pitchFamily="49"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419"/>
        </a:solidFill>
      </p:bgPr>
    </p:bg>
    <p:spTree>
      <p:nvGrpSpPr>
        <p:cNvPr id="1" name=""/>
        <p:cNvGrpSpPr/>
        <p:nvPr/>
      </p:nvGrpSpPr>
      <p:grpSpPr>
        <a:xfrm>
          <a:off x="0" y="0"/>
          <a:ext cx="0" cy="0"/>
          <a:chOff x="0" y="0"/>
          <a:chExt cx="0" cy="0"/>
        </a:xfrm>
      </p:grpSpPr>
      <p:pic>
        <p:nvPicPr>
          <p:cNvPr id="2" name="Image 0" descr="BayWatch held-bay symbol">    </p:cNvPr>
          <p:cNvPicPr>
            <a:picLocks noChangeAspect="1"/>
          </p:cNvPicPr>
          <p:nvPr/>
        </p:nvPicPr>
        <p:blipFill>
          <a:blip r:embed="rId1"/>
          <a:srcRect l="0" r="0" t="0" b="0"/>
          <a:stretch/>
        </p:blipFill>
        <p:spPr>
          <a:xfrm>
            <a:off x="8331200" y="1612900"/>
            <a:ext cx="2794000" cy="3073400"/>
          </a:xfrm>
          <a:prstGeom prst="rect">
            <a:avLst/>
          </a:prstGeom>
        </p:spPr>
      </p:pic>
      <p:sp>
        <p:nvSpPr>
          <p:cNvPr id="3" name="Text 0"/>
          <p:cNvSpPr/>
          <p:nvPr/>
        </p:nvSpPr>
        <p:spPr>
          <a:xfrm>
            <a:off x="812800" y="8128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79CFF"/>
                </a:solidFill>
                <a:latin typeface="JetBrains Mono" pitchFamily="49" charset="0"/>
                <a:ea typeface="JetBrains Mono" pitchFamily="49" charset="-122"/>
                <a:cs typeface="JetBrains Mono" pitchFamily="49" charset="-120"/>
              </a:rPr>
              <a:t>BAYWATCH · POWERED BY ECURIOUS</a:t>
            </a:r>
            <a:endParaRPr lang="en-US" sz="1200" dirty="0"/>
          </a:p>
        </p:txBody>
      </p:sp>
      <p:sp>
        <p:nvSpPr>
          <p:cNvPr id="4" name="Text 1"/>
          <p:cNvSpPr/>
          <p:nvPr>
            <p:ph type="title"/>
          </p:nvPr>
        </p:nvSpPr>
        <p:spPr>
          <a:xfrm>
            <a:off x="762000" y="1397000"/>
            <a:ext cx="7325360" cy="1644650"/>
          </a:xfrm>
          <a:prstGeom prst="rect">
            <a:avLst/>
          </a:prstGeom>
          <a:noFill/>
          <a:ln/>
        </p:spPr>
        <p:txBody>
          <a:bodyPr wrap="square" lIns="0" tIns="0" rIns="0" bIns="0" rtlCol="0" anchor="t">
            <a:normAutofit/>
          </a:bodyPr>
          <a:lstStyle/>
          <a:p>
            <a:pPr algn="l" indent="0" marL="0">
              <a:lnSpc>
                <a:spcPts val="12750"/>
              </a:lnSpc>
              <a:buNone/>
            </a:pPr>
            <a:r>
              <a:rPr lang="en-US" sz="15000" b="0" i="0" dirty="0">
                <a:solidFill>
                  <a:srgbClr val="F5F4F0"/>
                </a:solidFill>
                <a:latin typeface="Bebas Neue" pitchFamily="34" charset="0"/>
                <a:ea typeface="Bebas Neue" pitchFamily="34" charset="-122"/>
                <a:cs typeface="Bebas Neue" pitchFamily="34" charset="-120"/>
              </a:rPr>
              <a:t>THANK </a:t>
            </a:r>
            <a:r>
              <a:rPr lang="en-US" sz="15000" b="0" i="0" dirty="0">
                <a:solidFill>
                  <a:srgbClr val="B79CFF"/>
                </a:solidFill>
                <a:latin typeface="Bebas Neue" pitchFamily="34" charset="0"/>
                <a:ea typeface="Bebas Neue" pitchFamily="34" charset="-122"/>
                <a:cs typeface="Bebas Neue" pitchFamily="34" charset="-120"/>
              </a:rPr>
              <a:t>YOU</a:t>
            </a:r>
            <a:endParaRPr lang="en-US" sz="15000" dirty="0"/>
          </a:p>
        </p:txBody>
      </p:sp>
      <p:sp>
        <p:nvSpPr>
          <p:cNvPr id="5" name="Text 2"/>
          <p:cNvSpPr/>
          <p:nvPr/>
        </p:nvSpPr>
        <p:spPr>
          <a:xfrm>
            <a:off x="812800" y="3302000"/>
            <a:ext cx="7194550" cy="756841"/>
          </a:xfrm>
          <a:prstGeom prst="rect">
            <a:avLst/>
          </a:prstGeom>
          <a:noFill/>
          <a:ln/>
        </p:spPr>
        <p:txBody>
          <a:bodyPr wrap="square" lIns="0" tIns="0" rIns="0" bIns="0" rtlCol="0" anchor="t">
            <a:normAutofit/>
          </a:bodyPr>
          <a:lstStyle/>
          <a:p>
            <a:pPr algn="l" indent="0" marL="0">
              <a:lnSpc>
                <a:spcPts val="2880"/>
              </a:lnSpc>
              <a:buNone/>
            </a:pPr>
            <a:r>
              <a:rPr lang="en-US" sz="2400" spc="-50" kern="0" dirty="0">
                <a:solidFill>
                  <a:srgbClr val="F5F4F0"/>
                </a:solidFill>
                <a:latin typeface="Space Grotesk" pitchFamily="34" charset="0"/>
                <a:ea typeface="Space Grotesk" pitchFamily="34" charset="-122"/>
                <a:cs typeface="Space Grotesk" pitchFamily="34" charset="-120"/>
              </a:rPr>
              <a:t>Book your spot. Arrive with confidence.</a:t>
            </a:r>
            <a:endParaRPr lang="en-US" sz="2400" dirty="0"/>
          </a:p>
          <a:p>
            <a:pPr algn="l" indent="0" marL="0">
              <a:lnSpc>
                <a:spcPts val="2880"/>
              </a:lnSpc>
              <a:buNone/>
            </a:pPr>
            <a:r>
              <a:rPr lang="en-US" sz="2400" spc="-50" kern="0" dirty="0">
                <a:solidFill>
                  <a:srgbClr val="C8E946"/>
                </a:solidFill>
                <a:latin typeface="Space Grotesk" pitchFamily="34" charset="0"/>
                <a:ea typeface="Space Grotesk" pitchFamily="34" charset="-122"/>
                <a:cs typeface="Space Grotesk" pitchFamily="34" charset="-120"/>
              </a:rPr>
              <a:t>Charge without the uncertainty.</a:t>
            </a:r>
            <a:endParaRPr lang="en-US" sz="2400" dirty="0"/>
          </a:p>
        </p:txBody>
      </p:sp>
      <p:sp>
        <p:nvSpPr>
          <p:cNvPr id="6" name="Text 3"/>
          <p:cNvSpPr/>
          <p:nvPr/>
        </p:nvSpPr>
        <p:spPr>
          <a:xfrm>
            <a:off x="812800" y="533400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0A7"/>
                </a:solidFill>
                <a:latin typeface="JetBrains Mono" pitchFamily="49" charset="0"/>
                <a:ea typeface="JetBrains Mono" pitchFamily="49" charset="-122"/>
                <a:cs typeface="JetBrains Mono" pitchFamily="49" charset="-120"/>
              </a:rPr>
              <a:t>QUESTIONS? · GITHUB.COM/MOHAMEDAMINEHAMDI/BAYWATCH</a:t>
            </a:r>
            <a:endParaRPr lang="en-US" sz="1200" dirty="0"/>
          </a:p>
        </p:txBody>
      </p:sp>
    </p:spTree>
  </p:cSld>
  <p:clrMapOvr>
    <a:masterClrMapping/>
  </p:clrMapOvr>
</p:sld>
</file>

<file path=ppt/theme/theme1.xml><?xml version="1.0" encoding="utf-8"?>
<a:theme xmlns:a="http://schemas.openxmlformats.org/drawingml/2006/main" name="BayWatch — Ecurious Challenge Pitch">
  <a:themeElements>
    <a:clrScheme name="BayWatch — Ecurious Challenge Pitch">
      <a:dk1>
        <a:srgbClr val="0F1419"/>
      </a:dk1>
      <a:lt1>
        <a:srgbClr val="F5F4F0"/>
      </a:lt1>
      <a:dk2>
        <a:srgbClr val="262A2F"/>
      </a:dk2>
      <a:lt2>
        <a:srgbClr val="BCBCBA"/>
      </a:lt2>
      <a:accent1>
        <a:srgbClr val="B79CFF"/>
      </a:accent1>
      <a:accent2>
        <a:srgbClr val="5B1CF0"/>
      </a:accent2>
      <a:accent3>
        <a:srgbClr val="C8E946"/>
      </a:accent3>
      <a:accent4>
        <a:srgbClr val="8A5CF6"/>
      </a:accent4>
      <a:accent5>
        <a:srgbClr val="9AA0A7"/>
      </a:accent5>
      <a:accent6>
        <a:srgbClr val="5A6068"/>
      </a:accent6>
      <a:hlink>
        <a:srgbClr val="0563C1"/>
      </a:hlink>
      <a:folHlink>
        <a:srgbClr val="954F72"/>
      </a:folHlink>
    </a:clrScheme>
    <a:fontScheme name="BayWatch — Ecurious Challenge Pitch">
      <a:majorFont>
        <a:latin typeface="Bebas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BayWatch — Ecurious Challenge Pitch</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Bebas Neue
Copyright © 2010 by Dharma Type.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2026-10-24T13:58:11Z</dcterms:created>
  <dcterms:modified xsi:type="dcterms:W3CDTF">2026-10-24T13:58:11Z</dcterms:modified>
</cp:coreProperties>
</file>