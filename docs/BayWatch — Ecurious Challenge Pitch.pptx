
<file path=[Content_Types].xml><?xml version="1.0" encoding="utf-8"?>
<Types xmlns="http://schemas.openxmlformats.org/package/2006/content-types">
  <Default Extension="fntdata" ContentType="application/x-fontdata"/>
  <Default Extension="jpeg" ContentType="image/jpeg"/>
  <Default Extension="mov" ContentType="video/quicktime"/>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Bebas Neue" panose="020B0606020202050201" pitchFamily="34" charset="77"/>
      <p:regular r:id="rId19"/>
    </p:embeddedFont>
    <p:embeddedFont>
      <p:font typeface="JetBrains Mono" panose="02000009000000000000" pitchFamily="49" charset="0"/>
      <p:regular r:id="rId20"/>
      <p:bold r:id="rId21"/>
      <p:italic r:id="rId22"/>
      <p:boldItalic r:id="rId23"/>
    </p:embeddedFont>
    <p:embeddedFont>
      <p:font typeface="Space Grotesk" pitchFamily="2" charset="77"/>
      <p:regular r:id="rId24"/>
      <p:bold r:id="rId25"/>
      <p:italic r:id="rId26"/>
      <p:boldItalic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p:scale>
          <a:sx n="222" d="100"/>
          <a:sy n="222" d="100"/>
        </p:scale>
        <p:origin x="-8472" y="-1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401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4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31" y="1039124"/>
            <a:ext cx="10566539" cy="784087"/>
          </a:xfrm>
          <a:prstGeom prst="rect">
            <a:avLst/>
          </a:prstGeom>
          <a:noFill/>
          <a:ln/>
        </p:spPr>
        <p:txBody>
          <a:bodyPr wrap="square" lIns="0" tIns="0" rIns="0" bIns="0" rtlCol="0" anchor="t"/>
          <a:lstStyle>
            <a:lvl1pPr marL="0" indent="0" algn="l">
              <a:lnSpc>
                <a:spcPct val="115000"/>
              </a:lnSpc>
              <a:buNone/>
              <a:defRPr lang="en-US" sz="6200" dirty="0">
                <a:solidFill>
                  <a:srgbClr val="F4F3EF"/>
                </a:solidFill>
                <a:latin typeface="Bebas Neue" pitchFamily="34" charset="0"/>
                <a:ea typeface="Bebas Neue" pitchFamily="34" charset="-122"/>
                <a:cs typeface="Bebas Neue" pitchFamily="34" charset="-120"/>
              </a:defRPr>
            </a:lvl1pPr>
          </a:lstStyle>
          <a:p>
            <a:pPr marL="0" indent="0" algn="l">
              <a:lnSpc>
                <a:spcPct val="115000"/>
              </a:lnSpc>
              <a:buNone/>
            </a:pPr>
            <a:endParaRPr lang="en-US" sz="6200" dirty="0"/>
          </a:p>
        </p:txBody>
      </p:sp>
      <p:sp>
        <p:nvSpPr>
          <p:cNvPr id="3" name="Text Placeholder 2"/>
          <p:cNvSpPr>
            <a:spLocks noGrp="1"/>
          </p:cNvSpPr>
          <p:nvPr>
            <p:ph type="body" idx="101"/>
          </p:nvPr>
        </p:nvSpPr>
        <p:spPr>
          <a:xfrm>
            <a:off x="812731" y="2128011"/>
            <a:ext cx="10566469" cy="3917189"/>
          </a:xfrm>
          <a:prstGeom prst="rect">
            <a:avLst/>
          </a:prstGeom>
          <a:noFill/>
          <a:ln/>
        </p:spPr>
        <p:txBody>
          <a:bodyPr wrap="square" lIns="0" tIns="0" rIns="0" bIns="0" rtlCol="0" anchor="t"/>
          <a:lstStyle>
            <a:lvl1pPr marL="0" indent="0" algn="l">
              <a:lnSpc>
                <a:spcPct val="140000"/>
              </a:lnSpc>
              <a:buNone/>
              <a:defRPr lang="en-US" sz="1600" dirty="0">
                <a:solidFill>
                  <a:srgbClr val="F4F3EF"/>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41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31" y="1039124"/>
            <a:ext cx="10566539" cy="784087"/>
          </a:xfrm>
          <a:prstGeom prst="rect">
            <a:avLst/>
          </a:prstGeom>
          <a:noFill/>
          <a:ln/>
        </p:spPr>
        <p:txBody>
          <a:bodyPr wrap="square" lIns="0" tIns="0" rIns="0" bIns="0" rtlCol="0" anchor="t"/>
          <a:lstStyle>
            <a:lvl1pPr marL="0" indent="0" algn="l">
              <a:lnSpc>
                <a:spcPct val="115000"/>
              </a:lnSpc>
              <a:buNone/>
              <a:defRPr lang="en-US" sz="6200" dirty="0">
                <a:solidFill>
                  <a:srgbClr val="F4F3EF"/>
                </a:solidFill>
                <a:latin typeface="Bebas Neue" pitchFamily="34" charset="0"/>
                <a:ea typeface="Bebas Neue" pitchFamily="34" charset="-122"/>
                <a:cs typeface="Bebas Neue" pitchFamily="34" charset="-120"/>
              </a:defRPr>
            </a:lvl1pPr>
          </a:lstStyle>
          <a:p>
            <a:pPr marL="0" indent="0" algn="l">
              <a:lnSpc>
                <a:spcPct val="115000"/>
              </a:lnSpc>
              <a:buNone/>
            </a:pPr>
            <a:endParaRPr lang="en-US" sz="6200" dirty="0"/>
          </a:p>
        </p:txBody>
      </p:sp>
      <p:sp>
        <p:nvSpPr>
          <p:cNvPr id="3" name="Text Placeholder 2"/>
          <p:cNvSpPr>
            <a:spLocks noGrp="1"/>
          </p:cNvSpPr>
          <p:nvPr>
            <p:ph type="body" idx="101"/>
          </p:nvPr>
        </p:nvSpPr>
        <p:spPr>
          <a:xfrm>
            <a:off x="812731" y="2128011"/>
            <a:ext cx="10566469" cy="3917189"/>
          </a:xfrm>
          <a:prstGeom prst="rect">
            <a:avLst/>
          </a:prstGeom>
          <a:noFill/>
          <a:ln/>
        </p:spPr>
        <p:txBody>
          <a:bodyPr wrap="square" lIns="0" tIns="0" rIns="0" bIns="0" rtlCol="0" anchor="t"/>
          <a:lstStyle>
            <a:lvl1pPr marL="0" indent="0" algn="l">
              <a:lnSpc>
                <a:spcPct val="140000"/>
              </a:lnSpc>
              <a:buNone/>
              <a:defRPr lang="en-US" sz="1600" dirty="0">
                <a:solidFill>
                  <a:srgbClr val="F4F3EF"/>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a:effectLst/>
      </p:bgPr>
    </p:bg>
    <p:spTree>
      <p:nvGrpSpPr>
        <p:cNvPr id="1" name=""/>
        <p:cNvGrpSpPr/>
        <p:nvPr/>
      </p:nvGrpSpPr>
      <p:grpSpPr>
        <a:xfrm>
          <a:off x="0" y="0"/>
          <a:ext cx="0" cy="0"/>
          <a:chOff x="0" y="0"/>
          <a:chExt cx="0" cy="0"/>
        </a:xfrm>
      </p:grpSpPr>
      <p:pic>
        <p:nvPicPr>
          <p:cNvPr id="2" name="Image 0" descr="BayWatch logo: a charging bay frame with a large lightning bolt holding a padlock"/>
          <p:cNvPicPr>
            <a:picLocks noChangeAspect="1"/>
          </p:cNvPicPr>
          <p:nvPr/>
        </p:nvPicPr>
        <p:blipFill>
          <a:blip r:embed="rId3"/>
          <a:srcRect/>
          <a:stretch/>
        </p:blipFill>
        <p:spPr>
          <a:xfrm>
            <a:off x="7823183" y="1473183"/>
            <a:ext cx="3302000" cy="3632183"/>
          </a:xfrm>
          <a:prstGeom prst="rect">
            <a:avLst/>
          </a:prstGeom>
        </p:spPr>
      </p:pic>
      <p:sp>
        <p:nvSpPr>
          <p:cNvPr id="3" name="Text 0"/>
          <p:cNvSpPr/>
          <p:nvPr/>
        </p:nvSpPr>
        <p:spPr>
          <a:xfrm>
            <a:off x="812731" y="1570935"/>
            <a:ext cx="7063740" cy="478183"/>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ECURIOUS CHALLENGE · SMART RESERVATION FOR EV CHARGING</a:t>
            </a:r>
            <a:endParaRPr lang="en-US" sz="1300" dirty="0"/>
          </a:p>
        </p:txBody>
      </p:sp>
      <p:sp>
        <p:nvSpPr>
          <p:cNvPr id="4" name="Text 1"/>
          <p:cNvSpPr>
            <a:spLocks noGrp="1"/>
          </p:cNvSpPr>
          <p:nvPr>
            <p:ph type="title"/>
          </p:nvPr>
        </p:nvSpPr>
        <p:spPr>
          <a:xfrm>
            <a:off x="812731" y="2277718"/>
            <a:ext cx="6540500" cy="1621183"/>
          </a:xfrm>
          <a:prstGeom prst="rect">
            <a:avLst/>
          </a:prstGeom>
          <a:noFill/>
          <a:ln/>
        </p:spPr>
        <p:txBody>
          <a:bodyPr wrap="square" lIns="0" tIns="0" rIns="0" bIns="0" rtlCol="0" anchor="t">
            <a:normAutofit/>
          </a:bodyPr>
          <a:lstStyle/>
          <a:p>
            <a:pPr marL="0" indent="0" algn="l">
              <a:lnSpc>
                <a:spcPts val="12600"/>
              </a:lnSpc>
              <a:buNone/>
            </a:pPr>
            <a:r>
              <a:rPr lang="en-US" sz="14000" b="0" i="0" dirty="0">
                <a:solidFill>
                  <a:srgbClr val="F4F3EF"/>
                </a:solidFill>
                <a:latin typeface="Bebas Neue" pitchFamily="34" charset="0"/>
                <a:ea typeface="Bebas Neue" pitchFamily="34" charset="-122"/>
                <a:cs typeface="Bebas Neue" pitchFamily="34" charset="-120"/>
              </a:rPr>
              <a:t>BAY</a:t>
            </a:r>
            <a:r>
              <a:rPr lang="en-US" sz="14000" b="0" i="0" dirty="0">
                <a:solidFill>
                  <a:srgbClr val="B69CFF"/>
                </a:solidFill>
                <a:latin typeface="Bebas Neue" pitchFamily="34" charset="0"/>
                <a:ea typeface="Bebas Neue" pitchFamily="34" charset="-122"/>
                <a:cs typeface="Bebas Neue" pitchFamily="34" charset="-120"/>
              </a:rPr>
              <a:t>WATCH</a:t>
            </a:r>
            <a:endParaRPr lang="en-US" sz="14000" dirty="0"/>
          </a:p>
        </p:txBody>
      </p:sp>
      <p:sp>
        <p:nvSpPr>
          <p:cNvPr id="5" name="Text 2"/>
          <p:cNvSpPr/>
          <p:nvPr/>
        </p:nvSpPr>
        <p:spPr>
          <a:xfrm>
            <a:off x="812731" y="4127500"/>
            <a:ext cx="6540500" cy="721139"/>
          </a:xfrm>
          <a:prstGeom prst="rect">
            <a:avLst/>
          </a:prstGeom>
          <a:noFill/>
          <a:ln/>
        </p:spPr>
        <p:txBody>
          <a:bodyPr wrap="square" lIns="0" tIns="0" rIns="0" bIns="0" rtlCol="0" anchor="t">
            <a:normAutofit/>
          </a:bodyPr>
          <a:lstStyle/>
          <a:p>
            <a:pPr marL="0" indent="0" algn="l">
              <a:lnSpc>
                <a:spcPts val="2760"/>
              </a:lnSpc>
              <a:buNone/>
            </a:pPr>
            <a:r>
              <a:rPr lang="en-US" sz="2400" dirty="0">
                <a:solidFill>
                  <a:srgbClr val="F4F3EF"/>
                </a:solidFill>
                <a:latin typeface="Space Grotesk" pitchFamily="34" charset="0"/>
                <a:ea typeface="Space Grotesk" pitchFamily="34" charset="-122"/>
                <a:cs typeface="Space Grotesk" pitchFamily="34" charset="-120"/>
              </a:rPr>
              <a:t>Reserve digitally.</a:t>
            </a:r>
            <a:endParaRPr lang="en-US" sz="2400" dirty="0"/>
          </a:p>
          <a:p>
            <a:pPr marL="0" indent="0" algn="l">
              <a:lnSpc>
                <a:spcPts val="2760"/>
              </a:lnSpc>
              <a:buNone/>
            </a:pPr>
            <a:r>
              <a:rPr lang="en-US" sz="2400" dirty="0">
                <a:solidFill>
                  <a:srgbClr val="C9E847"/>
                </a:solidFill>
                <a:latin typeface="Space Grotesk" pitchFamily="34" charset="0"/>
                <a:ea typeface="Space Grotesk" pitchFamily="34" charset="-122"/>
                <a:cs typeface="Space Grotesk" pitchFamily="34" charset="-120"/>
              </a:rPr>
              <a:t>Access physically.</a:t>
            </a:r>
            <a:endParaRPr lang="en-US" sz="2400" dirty="0"/>
          </a:p>
        </p:txBody>
      </p:sp>
      <p:sp>
        <p:nvSpPr>
          <p:cNvPr id="6" name="Text 3"/>
          <p:cNvSpPr/>
          <p:nvPr/>
        </p:nvSpPr>
        <p:spPr>
          <a:xfrm>
            <a:off x="812731" y="5077239"/>
            <a:ext cx="6540500" cy="23522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8A8F96"/>
                </a:solidFill>
                <a:latin typeface="JetBrains Mono" pitchFamily="49" charset="0"/>
                <a:ea typeface="JetBrains Mono" pitchFamily="49" charset="-122"/>
                <a:cs typeface="JetBrains Mono" pitchFamily="49" charset="-120"/>
              </a:rPr>
              <a:t>INTEGRATED IN ECURIOUS · GOINGELECTRIC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812731" y="711183"/>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THE MARKET · GERMANY</a:t>
            </a:r>
            <a:endParaRPr lang="en-US" sz="1300" dirty="0"/>
          </a:p>
        </p:txBody>
      </p:sp>
      <p:sp>
        <p:nvSpPr>
          <p:cNvPr id="3" name="Text 1"/>
          <p:cNvSpPr>
            <a:spLocks noGrp="1"/>
          </p:cNvSpPr>
          <p:nvPr>
            <p:ph type="title"/>
          </p:nvPr>
        </p:nvSpPr>
        <p:spPr>
          <a:xfrm>
            <a:off x="812731" y="1115306"/>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F4F3EF"/>
                </a:solidFill>
                <a:latin typeface="Bebas Neue" pitchFamily="34" charset="0"/>
                <a:ea typeface="Bebas Neue" pitchFamily="34" charset="-122"/>
                <a:cs typeface="Bebas Neue" pitchFamily="34" charset="-120"/>
              </a:rPr>
              <a:t>THE EV WAVE IS </a:t>
            </a:r>
            <a:r>
              <a:rPr lang="en-US" sz="6200" b="0" i="0" dirty="0">
                <a:solidFill>
                  <a:srgbClr val="C9E847"/>
                </a:solidFill>
                <a:latin typeface="Bebas Neue" pitchFamily="34" charset="0"/>
                <a:ea typeface="Bebas Neue" pitchFamily="34" charset="-122"/>
                <a:cs typeface="Bebas Neue" pitchFamily="34" charset="-120"/>
              </a:rPr>
              <a:t>HERE</a:t>
            </a:r>
            <a:endParaRPr lang="en-US" sz="6200" dirty="0"/>
          </a:p>
        </p:txBody>
      </p:sp>
      <p:sp>
        <p:nvSpPr>
          <p:cNvPr id="4" name="Shape 2"/>
          <p:cNvSpPr/>
          <p:nvPr/>
        </p:nvSpPr>
        <p:spPr>
          <a:xfrm>
            <a:off x="812731" y="2159656"/>
            <a:ext cx="5156269" cy="0"/>
          </a:xfrm>
          <a:prstGeom prst="line">
            <a:avLst/>
          </a:prstGeom>
          <a:noFill/>
          <a:ln w="12700">
            <a:solidFill>
              <a:srgbClr val="9C86E8"/>
            </a:solidFill>
            <a:prstDash val="solid"/>
          </a:ln>
        </p:spPr>
        <p:txBody>
          <a:bodyPr/>
          <a:lstStyle/>
          <a:p>
            <a:endParaRPr lang="en-DE"/>
          </a:p>
        </p:txBody>
      </p:sp>
      <p:sp>
        <p:nvSpPr>
          <p:cNvPr id="5" name="Text 3"/>
          <p:cNvSpPr/>
          <p:nvPr/>
        </p:nvSpPr>
        <p:spPr>
          <a:xfrm>
            <a:off x="2634983" y="2291349"/>
            <a:ext cx="1511680" cy="809487"/>
          </a:xfrm>
          <a:prstGeom prst="rect">
            <a:avLst/>
          </a:prstGeom>
          <a:noFill/>
          <a:ln/>
        </p:spPr>
        <p:txBody>
          <a:bodyPr wrap="square" lIns="0" tIns="0" rIns="0" bIns="0" rtlCol="0" anchor="t">
            <a:normAutofit/>
          </a:bodyPr>
          <a:lstStyle/>
          <a:p>
            <a:pPr marL="0" indent="0" algn="ctr">
              <a:lnSpc>
                <a:spcPts val="6175"/>
              </a:lnSpc>
              <a:buNone/>
            </a:pPr>
            <a:r>
              <a:rPr lang="en-US" sz="6500" dirty="0">
                <a:solidFill>
                  <a:srgbClr val="F4F3EF"/>
                </a:solidFill>
                <a:latin typeface="Bebas Neue" pitchFamily="34" charset="0"/>
                <a:ea typeface="Bebas Neue" pitchFamily="34" charset="-122"/>
                <a:cs typeface="Bebas Neue" pitchFamily="34" charset="-120"/>
              </a:rPr>
              <a:t>2.0M</a:t>
            </a:r>
            <a:endParaRPr lang="en-US" sz="6500" dirty="0"/>
          </a:p>
        </p:txBody>
      </p:sp>
      <p:sp>
        <p:nvSpPr>
          <p:cNvPr id="6" name="Text 4"/>
          <p:cNvSpPr/>
          <p:nvPr/>
        </p:nvSpPr>
        <p:spPr>
          <a:xfrm>
            <a:off x="1564757" y="3126167"/>
            <a:ext cx="3652216" cy="246270"/>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A3A7AD"/>
                </a:solidFill>
                <a:latin typeface="Space Grotesk" pitchFamily="34" charset="0"/>
                <a:ea typeface="Space Grotesk" pitchFamily="34" charset="-122"/>
                <a:cs typeface="Space Grotesk" pitchFamily="34" charset="-120"/>
              </a:rPr>
              <a:t>battery-electric cars on German roads</a:t>
            </a:r>
            <a:endParaRPr lang="en-US" sz="1300" dirty="0"/>
          </a:p>
        </p:txBody>
      </p:sp>
      <p:sp>
        <p:nvSpPr>
          <p:cNvPr id="7" name="Shape 5"/>
          <p:cNvSpPr/>
          <p:nvPr/>
        </p:nvSpPr>
        <p:spPr>
          <a:xfrm>
            <a:off x="6223000" y="2159656"/>
            <a:ext cx="5156269" cy="0"/>
          </a:xfrm>
          <a:prstGeom prst="line">
            <a:avLst/>
          </a:prstGeom>
          <a:noFill/>
          <a:ln w="12700">
            <a:solidFill>
              <a:srgbClr val="9C86E8"/>
            </a:solidFill>
            <a:prstDash val="solid"/>
          </a:ln>
        </p:spPr>
        <p:txBody>
          <a:bodyPr/>
          <a:lstStyle/>
          <a:p>
            <a:endParaRPr lang="en-DE"/>
          </a:p>
        </p:txBody>
      </p:sp>
      <p:sp>
        <p:nvSpPr>
          <p:cNvPr id="8" name="Text 6"/>
          <p:cNvSpPr/>
          <p:nvPr/>
        </p:nvSpPr>
        <p:spPr>
          <a:xfrm>
            <a:off x="8001665" y="2291349"/>
            <a:ext cx="1598854" cy="809487"/>
          </a:xfrm>
          <a:prstGeom prst="rect">
            <a:avLst/>
          </a:prstGeom>
          <a:noFill/>
          <a:ln/>
        </p:spPr>
        <p:txBody>
          <a:bodyPr wrap="square" lIns="0" tIns="0" rIns="0" bIns="0" rtlCol="0" anchor="t">
            <a:normAutofit/>
          </a:bodyPr>
          <a:lstStyle/>
          <a:p>
            <a:pPr marL="0" indent="0" algn="ctr">
              <a:lnSpc>
                <a:spcPts val="6175"/>
              </a:lnSpc>
              <a:buNone/>
            </a:pPr>
            <a:r>
              <a:rPr lang="en-US" sz="6500" dirty="0">
                <a:solidFill>
                  <a:srgbClr val="F4F3EF"/>
                </a:solidFill>
                <a:latin typeface="Bebas Neue" pitchFamily="34" charset="0"/>
                <a:ea typeface="Bebas Neue" pitchFamily="34" charset="-122"/>
                <a:cs typeface="Bebas Neue" pitchFamily="34" charset="-120"/>
              </a:rPr>
              <a:t>204K</a:t>
            </a:r>
            <a:endParaRPr lang="en-US" sz="6500" dirty="0"/>
          </a:p>
        </p:txBody>
      </p:sp>
      <p:sp>
        <p:nvSpPr>
          <p:cNvPr id="9" name="Text 7"/>
          <p:cNvSpPr/>
          <p:nvPr/>
        </p:nvSpPr>
        <p:spPr>
          <a:xfrm>
            <a:off x="7009089" y="3126167"/>
            <a:ext cx="3584092" cy="246270"/>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A3A7AD"/>
                </a:solidFill>
                <a:latin typeface="Space Grotesk" pitchFamily="34" charset="0"/>
                <a:ea typeface="Space Grotesk" pitchFamily="34" charset="-122"/>
                <a:cs typeface="Space Grotesk" pitchFamily="34" charset="-120"/>
              </a:rPr>
              <a:t>public charging points, +17% in a year</a:t>
            </a:r>
            <a:endParaRPr lang="en-US" sz="1300" dirty="0"/>
          </a:p>
        </p:txBody>
      </p:sp>
      <p:sp>
        <p:nvSpPr>
          <p:cNvPr id="10" name="Shape 8"/>
          <p:cNvSpPr/>
          <p:nvPr/>
        </p:nvSpPr>
        <p:spPr>
          <a:xfrm>
            <a:off x="812731" y="3531118"/>
            <a:ext cx="5156269" cy="0"/>
          </a:xfrm>
          <a:prstGeom prst="line">
            <a:avLst/>
          </a:prstGeom>
          <a:noFill/>
          <a:ln w="12700">
            <a:solidFill>
              <a:srgbClr val="9C86E8"/>
            </a:solidFill>
            <a:prstDash val="solid"/>
          </a:ln>
        </p:spPr>
        <p:txBody>
          <a:bodyPr/>
          <a:lstStyle/>
          <a:p>
            <a:endParaRPr lang="en-DE"/>
          </a:p>
        </p:txBody>
      </p:sp>
      <p:sp>
        <p:nvSpPr>
          <p:cNvPr id="11" name="Text 9"/>
          <p:cNvSpPr/>
          <p:nvPr/>
        </p:nvSpPr>
        <p:spPr>
          <a:xfrm>
            <a:off x="2503281" y="3662811"/>
            <a:ext cx="1775170" cy="809487"/>
          </a:xfrm>
          <a:prstGeom prst="rect">
            <a:avLst/>
          </a:prstGeom>
          <a:noFill/>
          <a:ln/>
        </p:spPr>
        <p:txBody>
          <a:bodyPr wrap="square" lIns="0" tIns="0" rIns="0" bIns="0" rtlCol="0" anchor="t">
            <a:normAutofit/>
          </a:bodyPr>
          <a:lstStyle/>
          <a:p>
            <a:pPr marL="0" indent="0" algn="ctr">
              <a:lnSpc>
                <a:spcPts val="6175"/>
              </a:lnSpc>
              <a:buNone/>
            </a:pPr>
            <a:r>
              <a:rPr lang="en-US" sz="6500" dirty="0">
                <a:solidFill>
                  <a:srgbClr val="F4F3EF"/>
                </a:solidFill>
                <a:latin typeface="Bebas Neue" pitchFamily="34" charset="0"/>
                <a:ea typeface="Bebas Neue" pitchFamily="34" charset="-122"/>
                <a:cs typeface="Bebas Neue" pitchFamily="34" charset="-120"/>
              </a:rPr>
              <a:t>$2.1B</a:t>
            </a:r>
            <a:endParaRPr lang="en-US" sz="6500" dirty="0"/>
          </a:p>
        </p:txBody>
      </p:sp>
      <p:sp>
        <p:nvSpPr>
          <p:cNvPr id="12" name="Text 10"/>
          <p:cNvSpPr/>
          <p:nvPr/>
        </p:nvSpPr>
        <p:spPr>
          <a:xfrm>
            <a:off x="1533076" y="4497629"/>
            <a:ext cx="3715578" cy="246270"/>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A3A7AD"/>
                </a:solidFill>
                <a:latin typeface="Space Grotesk" pitchFamily="34" charset="0"/>
                <a:ea typeface="Space Grotesk" pitchFamily="34" charset="-122"/>
                <a:cs typeface="Space Grotesk" pitchFamily="34" charset="-120"/>
              </a:rPr>
              <a:t>total German EV charging market, 2025</a:t>
            </a:r>
            <a:endParaRPr lang="en-US" sz="1300" dirty="0"/>
          </a:p>
        </p:txBody>
      </p:sp>
      <p:sp>
        <p:nvSpPr>
          <p:cNvPr id="13" name="Shape 11"/>
          <p:cNvSpPr/>
          <p:nvPr/>
        </p:nvSpPr>
        <p:spPr>
          <a:xfrm>
            <a:off x="6223000" y="3531118"/>
            <a:ext cx="5156269" cy="0"/>
          </a:xfrm>
          <a:prstGeom prst="line">
            <a:avLst/>
          </a:prstGeom>
          <a:noFill/>
          <a:ln w="12700">
            <a:solidFill>
              <a:srgbClr val="C9E847"/>
            </a:solidFill>
            <a:prstDash val="solid"/>
          </a:ln>
        </p:spPr>
        <p:txBody>
          <a:bodyPr/>
          <a:lstStyle/>
          <a:p>
            <a:endParaRPr lang="en-DE"/>
          </a:p>
        </p:txBody>
      </p:sp>
      <p:sp>
        <p:nvSpPr>
          <p:cNvPr id="14" name="Text 12"/>
          <p:cNvSpPr/>
          <p:nvPr/>
        </p:nvSpPr>
        <p:spPr>
          <a:xfrm>
            <a:off x="7715388" y="3662811"/>
            <a:ext cx="2171493" cy="809487"/>
          </a:xfrm>
          <a:prstGeom prst="rect">
            <a:avLst/>
          </a:prstGeom>
          <a:noFill/>
          <a:ln/>
        </p:spPr>
        <p:txBody>
          <a:bodyPr wrap="square" lIns="0" tIns="0" rIns="0" bIns="0" rtlCol="0" anchor="t">
            <a:normAutofit/>
          </a:bodyPr>
          <a:lstStyle/>
          <a:p>
            <a:pPr marL="0" indent="0" algn="ctr">
              <a:lnSpc>
                <a:spcPts val="6175"/>
              </a:lnSpc>
              <a:buNone/>
            </a:pPr>
            <a:r>
              <a:rPr lang="en-US" sz="6500" dirty="0">
                <a:solidFill>
                  <a:srgbClr val="C9E847"/>
                </a:solidFill>
                <a:latin typeface="Bebas Neue" pitchFamily="34" charset="0"/>
                <a:ea typeface="Bebas Neue" pitchFamily="34" charset="-122"/>
                <a:cs typeface="Bebas Neue" pitchFamily="34" charset="-120"/>
              </a:rPr>
              <a:t>$15.1B</a:t>
            </a:r>
            <a:endParaRPr lang="en-US" sz="6500" dirty="0"/>
          </a:p>
        </p:txBody>
      </p:sp>
      <p:sp>
        <p:nvSpPr>
          <p:cNvPr id="15" name="Text 13"/>
          <p:cNvSpPr/>
          <p:nvPr/>
        </p:nvSpPr>
        <p:spPr>
          <a:xfrm>
            <a:off x="6223000" y="4497629"/>
            <a:ext cx="5156269" cy="246270"/>
          </a:xfrm>
          <a:prstGeom prst="rect">
            <a:avLst/>
          </a:prstGeom>
          <a:noFill/>
          <a:ln/>
        </p:spPr>
        <p:txBody>
          <a:bodyPr wrap="square" lIns="0" tIns="0" rIns="0" bIns="0" rtlCol="0" anchor="t">
            <a:normAutofit/>
          </a:bodyPr>
          <a:lstStyle/>
          <a:p>
            <a:pPr marL="0" indent="0" algn="ctr">
              <a:lnSpc>
                <a:spcPts val="1755"/>
              </a:lnSpc>
              <a:buNone/>
            </a:pPr>
            <a:r>
              <a:rPr lang="en-US" sz="1300" dirty="0">
                <a:solidFill>
                  <a:srgbClr val="A3A7AD"/>
                </a:solidFill>
                <a:latin typeface="Space Grotesk" pitchFamily="34" charset="0"/>
                <a:ea typeface="Space Grotesk" pitchFamily="34" charset="-122"/>
                <a:cs typeface="Space Grotesk" pitchFamily="34" charset="-120"/>
              </a:rPr>
              <a:t>projected market size by 2034, about 24% growth a year</a:t>
            </a:r>
            <a:endParaRPr lang="en-US" sz="1300" dirty="0"/>
          </a:p>
        </p:txBody>
      </p:sp>
      <p:sp>
        <p:nvSpPr>
          <p:cNvPr id="16" name="Text 14"/>
          <p:cNvSpPr/>
          <p:nvPr/>
        </p:nvSpPr>
        <p:spPr>
          <a:xfrm>
            <a:off x="654233" y="5505174"/>
            <a:ext cx="10883535" cy="362226"/>
          </a:xfrm>
          <a:prstGeom prst="rect">
            <a:avLst/>
          </a:prstGeom>
          <a:noFill/>
          <a:ln/>
        </p:spPr>
        <p:txBody>
          <a:bodyPr wrap="square" lIns="0" tIns="0" rIns="0" bIns="0" rtlCol="0" anchor="t">
            <a:normAutofit/>
          </a:bodyPr>
          <a:lstStyle/>
          <a:p>
            <a:pPr marL="0" indent="0" algn="ctr">
              <a:lnSpc>
                <a:spcPts val="2660"/>
              </a:lnSpc>
              <a:buNone/>
            </a:pPr>
            <a:r>
              <a:rPr lang="en-US" sz="1900" dirty="0">
                <a:solidFill>
                  <a:srgbClr val="F4F3EF"/>
                </a:solidFill>
                <a:latin typeface="Space Grotesk" pitchFamily="34" charset="0"/>
                <a:ea typeface="Space Grotesk" pitchFamily="34" charset="-122"/>
                <a:cs typeface="Space Grotesk" pitchFamily="34" charset="-120"/>
              </a:rPr>
              <a:t>≈ 10 EVs share every public charge point. </a:t>
            </a:r>
            <a:r>
              <a:rPr lang="en-US" sz="1900" dirty="0">
                <a:solidFill>
                  <a:srgbClr val="C9E847"/>
                </a:solidFill>
                <a:latin typeface="Space Grotesk" pitchFamily="34" charset="0"/>
                <a:ea typeface="Space Grotesk" pitchFamily="34" charset="-122"/>
                <a:cs typeface="Space Grotesk" pitchFamily="34" charset="-120"/>
              </a:rPr>
              <a:t>Every bay has to work harder.</a:t>
            </a:r>
            <a:endParaRPr lang="en-US" sz="1900" dirty="0"/>
          </a:p>
        </p:txBody>
      </p:sp>
      <p:sp>
        <p:nvSpPr>
          <p:cNvPr id="17" name="Text 15"/>
          <p:cNvSpPr/>
          <p:nvPr/>
        </p:nvSpPr>
        <p:spPr>
          <a:xfrm>
            <a:off x="812731" y="6241808"/>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6"/>
                </a:solidFill>
                <a:latin typeface="Space Grotesk" pitchFamily="34" charset="0"/>
                <a:ea typeface="Space Grotesk" pitchFamily="34" charset="-122"/>
                <a:cs typeface="Space Grotesk" pitchFamily="34" charset="-120"/>
              </a:rPr>
              <a:t>Sources: KBA (Jan 2026), Bundesnetzagentur (May 2026), IMARC Group (market size). Ratio: our calculation.</a:t>
            </a:r>
            <a:endParaRPr lang="en-US" sz="1200" dirty="0"/>
          </a:p>
        </p:txBody>
      </p:sp>
      <p:sp>
        <p:nvSpPr>
          <p:cNvPr id="18" name="Text 16"/>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02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F"/>
        </a:solidFill>
        <a:effectLst/>
      </p:bgPr>
    </p:bg>
    <p:spTree>
      <p:nvGrpSpPr>
        <p:cNvPr id="1" name=""/>
        <p:cNvGrpSpPr/>
        <p:nvPr/>
      </p:nvGrpSpPr>
      <p:grpSpPr>
        <a:xfrm>
          <a:off x="0" y="0"/>
          <a:ext cx="0" cy="0"/>
          <a:chOff x="0" y="0"/>
          <a:chExt cx="0" cy="0"/>
        </a:xfrm>
      </p:grpSpPr>
      <p:sp>
        <p:nvSpPr>
          <p:cNvPr id="2" name="Text 0"/>
          <p:cNvSpPr/>
          <p:nvPr/>
        </p:nvSpPr>
        <p:spPr>
          <a:xfrm>
            <a:off x="812731" y="711183"/>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5E1EEE"/>
                </a:solidFill>
                <a:latin typeface="JetBrains Mono" pitchFamily="49" charset="0"/>
                <a:ea typeface="JetBrains Mono" pitchFamily="49" charset="-122"/>
                <a:cs typeface="JetBrains Mono" pitchFamily="49" charset="-120"/>
              </a:rPr>
              <a:t>THE PROBLEM</a:t>
            </a:r>
            <a:endParaRPr lang="en-US" sz="1300" dirty="0"/>
          </a:p>
        </p:txBody>
      </p:sp>
      <p:sp>
        <p:nvSpPr>
          <p:cNvPr id="3" name="Text 1"/>
          <p:cNvSpPr>
            <a:spLocks noGrp="1"/>
          </p:cNvSpPr>
          <p:nvPr>
            <p:ph type="title"/>
          </p:nvPr>
        </p:nvSpPr>
        <p:spPr>
          <a:xfrm>
            <a:off x="812731" y="1039123"/>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11161B"/>
                </a:solidFill>
                <a:latin typeface="Bebas Neue" pitchFamily="34" charset="0"/>
                <a:ea typeface="Bebas Neue" pitchFamily="34" charset="-122"/>
                <a:cs typeface="Bebas Neue" pitchFamily="34" charset="-120"/>
              </a:rPr>
              <a:t>YOU ARRIVE. </a:t>
            </a:r>
            <a:r>
              <a:rPr lang="en-US" sz="6200" b="0" i="0" dirty="0">
                <a:solidFill>
                  <a:srgbClr val="5E1EEE"/>
                </a:solidFill>
                <a:latin typeface="Bebas Neue" pitchFamily="34" charset="0"/>
                <a:ea typeface="Bebas Neue" pitchFamily="34" charset="-122"/>
                <a:cs typeface="Bebas Neue" pitchFamily="34" charset="-120"/>
              </a:rPr>
              <a:t>THE BAY IS TAKEN.</a:t>
            </a:r>
            <a:endParaRPr lang="en-US" sz="6200" dirty="0"/>
          </a:p>
        </p:txBody>
      </p:sp>
      <p:sp>
        <p:nvSpPr>
          <p:cNvPr id="4" name="Text 2"/>
          <p:cNvSpPr/>
          <p:nvPr/>
        </p:nvSpPr>
        <p:spPr>
          <a:xfrm>
            <a:off x="812731" y="2385306"/>
            <a:ext cx="5127895" cy="1858617"/>
          </a:xfrm>
          <a:prstGeom prst="rect">
            <a:avLst/>
          </a:prstGeom>
          <a:noFill/>
          <a:ln/>
        </p:spPr>
        <p:txBody>
          <a:bodyPr wrap="square" lIns="0" tIns="0" rIns="0" bIns="0" rtlCol="0" anchor="t">
            <a:normAutofit/>
          </a:bodyPr>
          <a:lstStyle/>
          <a:p>
            <a:pPr marL="0" indent="0" algn="l">
              <a:lnSpc>
                <a:spcPts val="14450"/>
              </a:lnSpc>
              <a:buNone/>
            </a:pPr>
            <a:r>
              <a:rPr lang="en-US" sz="17000" dirty="0">
                <a:solidFill>
                  <a:srgbClr val="5E1EEE"/>
                </a:solidFill>
                <a:latin typeface="Bebas Neue" pitchFamily="34" charset="0"/>
                <a:ea typeface="Bebas Neue" pitchFamily="34" charset="-122"/>
                <a:cs typeface="Bebas Neue" pitchFamily="34" charset="-120"/>
              </a:rPr>
              <a:t>45%</a:t>
            </a:r>
            <a:endParaRPr lang="en-US" sz="17000" dirty="0"/>
          </a:p>
        </p:txBody>
      </p:sp>
      <p:sp>
        <p:nvSpPr>
          <p:cNvPr id="5" name="Text 3"/>
          <p:cNvSpPr/>
          <p:nvPr/>
        </p:nvSpPr>
        <p:spPr>
          <a:xfrm>
            <a:off x="812731" y="4370888"/>
            <a:ext cx="5127895" cy="1035878"/>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11161B"/>
                </a:solidFill>
                <a:latin typeface="Space Grotesk" pitchFamily="34" charset="0"/>
                <a:ea typeface="Space Grotesk" pitchFamily="34" charset="-122"/>
                <a:cs typeface="Space Grotesk" pitchFamily="34" charset="-120"/>
              </a:rPr>
              <a:t>of European EV drivers say a charger </a:t>
            </a:r>
            <a:r>
              <a:rPr lang="en-US" sz="1900" b="1" dirty="0">
                <a:solidFill>
                  <a:srgbClr val="11161B"/>
                </a:solidFill>
                <a:latin typeface="Space Grotesk" pitchFamily="34" charset="0"/>
                <a:ea typeface="Space Grotesk" pitchFamily="34" charset="-122"/>
                <a:cs typeface="Space Grotesk" pitchFamily="34" charset="-120"/>
              </a:rPr>
              <a:t>occupied by another vehicle</a:t>
            </a:r>
            <a:r>
              <a:rPr lang="en-US" sz="1900" dirty="0">
                <a:solidFill>
                  <a:srgbClr val="11161B"/>
                </a:solidFill>
                <a:latin typeface="Space Grotesk" pitchFamily="34" charset="0"/>
                <a:ea typeface="Space Grotesk" pitchFamily="34" charset="-122"/>
                <a:cs typeface="Space Grotesk" pitchFamily="34" charset="-120"/>
              </a:rPr>
              <a:t> is one of their biggest problems.</a:t>
            </a:r>
            <a:endParaRPr lang="en-US" sz="1900" dirty="0"/>
          </a:p>
        </p:txBody>
      </p:sp>
      <p:sp>
        <p:nvSpPr>
          <p:cNvPr id="6" name="Text 4"/>
          <p:cNvSpPr/>
          <p:nvPr/>
        </p:nvSpPr>
        <p:spPr>
          <a:xfrm>
            <a:off x="6400817" y="2933598"/>
            <a:ext cx="5127895" cy="1924878"/>
          </a:xfrm>
          <a:prstGeom prst="rect">
            <a:avLst/>
          </a:prstGeom>
          <a:noFill/>
          <a:ln/>
        </p:spPr>
        <p:txBody>
          <a:bodyPr wrap="square" lIns="0" tIns="0" rIns="0" bIns="0" rtlCol="0" anchor="t">
            <a:normAutofit/>
          </a:bodyPr>
          <a:lstStyle/>
          <a:p>
            <a:pPr marL="0" indent="0" algn="l">
              <a:lnSpc>
                <a:spcPts val="3750"/>
              </a:lnSpc>
              <a:buNone/>
            </a:pPr>
            <a:r>
              <a:rPr lang="en-US" sz="3000" dirty="0">
                <a:solidFill>
                  <a:srgbClr val="11161B"/>
                </a:solidFill>
                <a:latin typeface="Space Grotesk" pitchFamily="34" charset="0"/>
                <a:ea typeface="Space Grotesk" pitchFamily="34" charset="-122"/>
                <a:cs typeface="Space Grotesk" pitchFamily="34" charset="-120"/>
              </a:rPr>
              <a:t>Today a charger app can tell you a bay is free, </a:t>
            </a:r>
            <a:r>
              <a:rPr lang="en-US" sz="3000" dirty="0">
                <a:solidFill>
                  <a:srgbClr val="5E1EEE"/>
                </a:solidFill>
                <a:latin typeface="Space Grotesk" pitchFamily="34" charset="0"/>
                <a:ea typeface="Space Grotesk" pitchFamily="34" charset="-122"/>
                <a:cs typeface="Space Grotesk" pitchFamily="34" charset="-120"/>
              </a:rPr>
              <a:t>but nothing keeps it free until you get there.</a:t>
            </a:r>
            <a:endParaRPr lang="en-US" sz="3000" dirty="0"/>
          </a:p>
        </p:txBody>
      </p:sp>
      <p:sp>
        <p:nvSpPr>
          <p:cNvPr id="7" name="Text 5"/>
          <p:cNvSpPr/>
          <p:nvPr/>
        </p:nvSpPr>
        <p:spPr>
          <a:xfrm>
            <a:off x="812731" y="6241810"/>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Source: Parkopedia European Driver Survey 2024 (2,440 respondents, incl. 1,220 EV drivers).</a:t>
            </a:r>
            <a:endParaRPr lang="en-US" sz="1200" dirty="0"/>
          </a:p>
        </p:txBody>
      </p:sp>
      <p:sp>
        <p:nvSpPr>
          <p:cNvPr id="8" name="Text 6"/>
          <p:cNvSpPr/>
          <p:nvPr/>
        </p:nvSpPr>
        <p:spPr>
          <a:xfrm>
            <a:off x="10058470" y="6241810"/>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168"/>
                </a:solidFill>
                <a:latin typeface="JetBrains Mono" pitchFamily="49" charset="0"/>
                <a:ea typeface="JetBrains Mono" pitchFamily="49" charset="-122"/>
                <a:cs typeface="JetBrains Mono" pitchFamily="49" charset="-120"/>
              </a:rPr>
              <a:t>03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812731" y="711183"/>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THE IMPACT</a:t>
            </a:r>
            <a:endParaRPr lang="en-US" sz="1300" dirty="0"/>
          </a:p>
        </p:txBody>
      </p:sp>
      <p:sp>
        <p:nvSpPr>
          <p:cNvPr id="3" name="Text 1"/>
          <p:cNvSpPr>
            <a:spLocks noGrp="1"/>
          </p:cNvSpPr>
          <p:nvPr>
            <p:ph type="title"/>
          </p:nvPr>
        </p:nvSpPr>
        <p:spPr>
          <a:xfrm>
            <a:off x="812731" y="1039123"/>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F4F3EF"/>
                </a:solidFill>
                <a:latin typeface="Bebas Neue" pitchFamily="34" charset="0"/>
                <a:ea typeface="Bebas Neue" pitchFamily="34" charset="-122"/>
                <a:cs typeface="Bebas Neue" pitchFamily="34" charset="-120"/>
              </a:rPr>
              <a:t>EVERYONE LOSES</a:t>
            </a:r>
            <a:endParaRPr lang="en-US" sz="6200" dirty="0"/>
          </a:p>
        </p:txBody>
      </p:sp>
      <p:sp>
        <p:nvSpPr>
          <p:cNvPr id="4" name="Shape 2"/>
          <p:cNvSpPr/>
          <p:nvPr/>
        </p:nvSpPr>
        <p:spPr>
          <a:xfrm>
            <a:off x="815906" y="2080299"/>
            <a:ext cx="3414281" cy="3167787"/>
          </a:xfrm>
          <a:prstGeom prst="roundRect">
            <a:avLst>
              <a:gd name="adj" fmla="val 4711"/>
            </a:avLst>
          </a:prstGeom>
          <a:solidFill>
            <a:srgbClr val="181D23"/>
          </a:solidFill>
          <a:ln w="6350">
            <a:solidFill>
              <a:srgbClr val="262C33"/>
            </a:solidFill>
            <a:prstDash val="solid"/>
          </a:ln>
        </p:spPr>
        <p:txBody>
          <a:bodyPr/>
          <a:lstStyle/>
          <a:p>
            <a:endParaRPr lang="en-DE"/>
          </a:p>
        </p:txBody>
      </p:sp>
      <p:sp>
        <p:nvSpPr>
          <p:cNvPr id="5" name="Text 3"/>
          <p:cNvSpPr/>
          <p:nvPr/>
        </p:nvSpPr>
        <p:spPr>
          <a:xfrm>
            <a:off x="1072253" y="2336645"/>
            <a:ext cx="2988635" cy="290443"/>
          </a:xfrm>
          <a:prstGeom prst="rect">
            <a:avLst/>
          </a:prstGeom>
          <a:noFill/>
          <a:ln/>
        </p:spPr>
        <p:txBody>
          <a:bodyPr wrap="none" lIns="0" tIns="0" rIns="0" bIns="0" rtlCol="0" anchor="t">
            <a:normAutofit/>
          </a:bodyPr>
          <a:lstStyle/>
          <a:p>
            <a:pPr marL="0" indent="0" algn="l">
              <a:lnSpc>
                <a:spcPts val="2100"/>
              </a:lnSpc>
              <a:buNone/>
            </a:pPr>
            <a:r>
              <a:rPr lang="en-US" sz="1500" dirty="0">
                <a:solidFill>
                  <a:srgbClr val="B69CFF"/>
                </a:solidFill>
                <a:latin typeface="JetBrains Mono" pitchFamily="49" charset="0"/>
                <a:ea typeface="JetBrains Mono" pitchFamily="49" charset="-122"/>
                <a:cs typeface="JetBrains Mono" pitchFamily="49" charset="-120"/>
              </a:rPr>
              <a:t>DRIVERS</a:t>
            </a:r>
            <a:endParaRPr lang="en-US" sz="1500" dirty="0"/>
          </a:p>
        </p:txBody>
      </p:sp>
      <p:sp>
        <p:nvSpPr>
          <p:cNvPr id="6" name="Text 4"/>
          <p:cNvSpPr/>
          <p:nvPr/>
        </p:nvSpPr>
        <p:spPr>
          <a:xfrm>
            <a:off x="1072253" y="2703237"/>
            <a:ext cx="2988635" cy="930965"/>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F4F3EF"/>
                </a:solidFill>
                <a:latin typeface="Bebas Neue" pitchFamily="34" charset="0"/>
                <a:ea typeface="Bebas Neue" pitchFamily="34" charset="-122"/>
                <a:cs typeface="Bebas Neue" pitchFamily="34" charset="-120"/>
              </a:rPr>
              <a:t>DETOURS, WAITING, RANGE STRESS</a:t>
            </a:r>
            <a:endParaRPr lang="en-US" sz="3600" dirty="0"/>
          </a:p>
        </p:txBody>
      </p:sp>
      <p:sp>
        <p:nvSpPr>
          <p:cNvPr id="7" name="Shape 5"/>
          <p:cNvSpPr/>
          <p:nvPr/>
        </p:nvSpPr>
        <p:spPr>
          <a:xfrm>
            <a:off x="4388903" y="2080299"/>
            <a:ext cx="3414281" cy="3167787"/>
          </a:xfrm>
          <a:prstGeom prst="roundRect">
            <a:avLst>
              <a:gd name="adj" fmla="val 4711"/>
            </a:avLst>
          </a:prstGeom>
          <a:solidFill>
            <a:srgbClr val="181D23"/>
          </a:solidFill>
          <a:ln w="6350">
            <a:solidFill>
              <a:srgbClr val="262C33"/>
            </a:solidFill>
            <a:prstDash val="solid"/>
          </a:ln>
        </p:spPr>
        <p:txBody>
          <a:bodyPr/>
          <a:lstStyle/>
          <a:p>
            <a:endParaRPr lang="en-DE"/>
          </a:p>
        </p:txBody>
      </p:sp>
      <p:sp>
        <p:nvSpPr>
          <p:cNvPr id="8" name="Text 6"/>
          <p:cNvSpPr/>
          <p:nvPr/>
        </p:nvSpPr>
        <p:spPr>
          <a:xfrm>
            <a:off x="4645249" y="2336645"/>
            <a:ext cx="2988635" cy="290443"/>
          </a:xfrm>
          <a:prstGeom prst="rect">
            <a:avLst/>
          </a:prstGeom>
          <a:noFill/>
          <a:ln/>
        </p:spPr>
        <p:txBody>
          <a:bodyPr wrap="none" lIns="0" tIns="0" rIns="0" bIns="0" rtlCol="0" anchor="t">
            <a:normAutofit/>
          </a:bodyPr>
          <a:lstStyle/>
          <a:p>
            <a:pPr marL="0" indent="0" algn="l">
              <a:lnSpc>
                <a:spcPts val="2100"/>
              </a:lnSpc>
              <a:buNone/>
            </a:pPr>
            <a:r>
              <a:rPr lang="en-US" sz="1500" dirty="0">
                <a:solidFill>
                  <a:srgbClr val="B69CFF"/>
                </a:solidFill>
                <a:latin typeface="JetBrains Mono" pitchFamily="49" charset="0"/>
                <a:ea typeface="JetBrains Mono" pitchFamily="49" charset="-122"/>
                <a:cs typeface="JetBrains Mono" pitchFamily="49" charset="-120"/>
              </a:rPr>
              <a:t>CHARGE-POINT OPERATORS</a:t>
            </a:r>
            <a:endParaRPr lang="en-US" sz="1500" dirty="0"/>
          </a:p>
        </p:txBody>
      </p:sp>
      <p:sp>
        <p:nvSpPr>
          <p:cNvPr id="9" name="Text 7"/>
          <p:cNvSpPr/>
          <p:nvPr/>
        </p:nvSpPr>
        <p:spPr>
          <a:xfrm>
            <a:off x="4645249" y="2703237"/>
            <a:ext cx="2988635" cy="930965"/>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F4F3EF"/>
                </a:solidFill>
                <a:latin typeface="Bebas Neue" pitchFamily="34" charset="0"/>
                <a:ea typeface="Bebas Neue" pitchFamily="34" charset="-122"/>
                <a:cs typeface="Bebas Neue" pitchFamily="34" charset="-120"/>
              </a:rPr>
              <a:t>IDLE BAYS, LOST SESSIONS</a:t>
            </a:r>
            <a:endParaRPr lang="en-US" sz="3600" dirty="0"/>
          </a:p>
        </p:txBody>
      </p:sp>
      <p:sp>
        <p:nvSpPr>
          <p:cNvPr id="10" name="Shape 8"/>
          <p:cNvSpPr/>
          <p:nvPr/>
        </p:nvSpPr>
        <p:spPr>
          <a:xfrm>
            <a:off x="7961899" y="2080299"/>
            <a:ext cx="3414281" cy="3167787"/>
          </a:xfrm>
          <a:prstGeom prst="roundRect">
            <a:avLst>
              <a:gd name="adj" fmla="val 4711"/>
            </a:avLst>
          </a:prstGeom>
          <a:solidFill>
            <a:srgbClr val="181D23"/>
          </a:solidFill>
          <a:ln w="6350">
            <a:solidFill>
              <a:srgbClr val="262C33"/>
            </a:solidFill>
            <a:prstDash val="solid"/>
          </a:ln>
        </p:spPr>
        <p:txBody>
          <a:bodyPr/>
          <a:lstStyle/>
          <a:p>
            <a:endParaRPr lang="en-DE"/>
          </a:p>
        </p:txBody>
      </p:sp>
      <p:sp>
        <p:nvSpPr>
          <p:cNvPr id="11" name="Text 9"/>
          <p:cNvSpPr/>
          <p:nvPr/>
        </p:nvSpPr>
        <p:spPr>
          <a:xfrm>
            <a:off x="8218246" y="2336645"/>
            <a:ext cx="2988635" cy="290443"/>
          </a:xfrm>
          <a:prstGeom prst="rect">
            <a:avLst/>
          </a:prstGeom>
          <a:noFill/>
          <a:ln/>
        </p:spPr>
        <p:txBody>
          <a:bodyPr wrap="none" lIns="0" tIns="0" rIns="0" bIns="0" rtlCol="0" anchor="t">
            <a:normAutofit/>
          </a:bodyPr>
          <a:lstStyle/>
          <a:p>
            <a:pPr marL="0" indent="0" algn="l">
              <a:lnSpc>
                <a:spcPts val="2100"/>
              </a:lnSpc>
              <a:buNone/>
            </a:pPr>
            <a:r>
              <a:rPr lang="en-US" sz="1500" dirty="0">
                <a:solidFill>
                  <a:srgbClr val="B69CFF"/>
                </a:solidFill>
                <a:latin typeface="JetBrains Mono" pitchFamily="49" charset="0"/>
                <a:ea typeface="JetBrains Mono" pitchFamily="49" charset="-122"/>
                <a:cs typeface="JetBrains Mono" pitchFamily="49" charset="-120"/>
              </a:rPr>
              <a:t>THE EV TRANSITION</a:t>
            </a:r>
            <a:endParaRPr lang="en-US" sz="1500" dirty="0"/>
          </a:p>
        </p:txBody>
      </p:sp>
      <p:sp>
        <p:nvSpPr>
          <p:cNvPr id="12" name="Text 10"/>
          <p:cNvSpPr/>
          <p:nvPr/>
        </p:nvSpPr>
        <p:spPr>
          <a:xfrm>
            <a:off x="8218246" y="2703237"/>
            <a:ext cx="2988635" cy="478183"/>
          </a:xfrm>
          <a:prstGeom prst="rect">
            <a:avLst/>
          </a:prstGeom>
          <a:noFill/>
          <a:ln/>
        </p:spPr>
        <p:txBody>
          <a:bodyPr wrap="square" lIns="0" tIns="0" rIns="0" bIns="0" rtlCol="0" anchor="t">
            <a:normAutofit/>
          </a:bodyPr>
          <a:lstStyle/>
          <a:p>
            <a:pPr marL="0" indent="0" algn="l">
              <a:lnSpc>
                <a:spcPts val="3600"/>
              </a:lnSpc>
              <a:buNone/>
            </a:pPr>
            <a:r>
              <a:rPr lang="en-US" sz="3600" dirty="0">
                <a:solidFill>
                  <a:srgbClr val="F4F3EF"/>
                </a:solidFill>
                <a:latin typeface="Bebas Neue" pitchFamily="34" charset="0"/>
                <a:ea typeface="Bebas Neue" pitchFamily="34" charset="-122"/>
                <a:cs typeface="Bebas Neue" pitchFamily="34" charset="-120"/>
              </a:rPr>
              <a:t>CHARGER ANXIETY</a:t>
            </a:r>
            <a:endParaRPr lang="en-US" sz="3600" dirty="0"/>
          </a:p>
        </p:txBody>
      </p:sp>
      <p:sp>
        <p:nvSpPr>
          <p:cNvPr id="13" name="Text 11"/>
          <p:cNvSpPr/>
          <p:nvPr/>
        </p:nvSpPr>
        <p:spPr>
          <a:xfrm>
            <a:off x="8218246" y="3308369"/>
            <a:ext cx="2988635" cy="936418"/>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C9CCD1"/>
                </a:solidFill>
                <a:latin typeface="Space Grotesk" pitchFamily="34" charset="0"/>
                <a:ea typeface="Space Grotesk" pitchFamily="34" charset="-122"/>
                <a:cs typeface="Space Grotesk" pitchFamily="34" charset="-120"/>
              </a:rPr>
              <a:t>The majority of EV drivers wait for a public charger at least 1 in 5 times.</a:t>
            </a:r>
            <a:endParaRPr lang="en-US" sz="1800" dirty="0"/>
          </a:p>
        </p:txBody>
      </p:sp>
      <p:sp>
        <p:nvSpPr>
          <p:cNvPr id="14" name="Text 12"/>
          <p:cNvSpPr/>
          <p:nvPr/>
        </p:nvSpPr>
        <p:spPr>
          <a:xfrm>
            <a:off x="812731" y="5505210"/>
            <a:ext cx="10883535" cy="362192"/>
          </a:xfrm>
          <a:prstGeom prst="rect">
            <a:avLst/>
          </a:prstGeom>
          <a:noFill/>
          <a:ln/>
        </p:spPr>
        <p:txBody>
          <a:bodyPr wrap="square" lIns="0" tIns="0" rIns="0" bIns="0" rtlCol="0" anchor="t">
            <a:normAutofit/>
          </a:bodyPr>
          <a:lstStyle/>
          <a:p>
            <a:pPr marL="0" indent="0" algn="l">
              <a:lnSpc>
                <a:spcPts val="2660"/>
              </a:lnSpc>
              <a:buNone/>
            </a:pPr>
            <a:r>
              <a:rPr lang="en-US" sz="1900" dirty="0">
                <a:solidFill>
                  <a:srgbClr val="F4F3EF"/>
                </a:solidFill>
                <a:latin typeface="Space Grotesk" pitchFamily="34" charset="0"/>
                <a:ea typeface="Space Grotesk" pitchFamily="34" charset="-122"/>
                <a:cs typeface="Space Grotesk" pitchFamily="34" charset="-120"/>
              </a:rPr>
              <a:t>A booking only has value if the bay is </a:t>
            </a:r>
            <a:r>
              <a:rPr lang="en-US" sz="1900" dirty="0">
                <a:solidFill>
                  <a:srgbClr val="C9E847"/>
                </a:solidFill>
                <a:latin typeface="Space Grotesk" pitchFamily="34" charset="0"/>
                <a:ea typeface="Space Grotesk" pitchFamily="34" charset="-122"/>
                <a:cs typeface="Space Grotesk" pitchFamily="34" charset="-120"/>
              </a:rPr>
              <a:t>really free when you arrive.</a:t>
            </a:r>
            <a:endParaRPr lang="en-US" sz="1900" dirty="0"/>
          </a:p>
        </p:txBody>
      </p:sp>
      <p:sp>
        <p:nvSpPr>
          <p:cNvPr id="15" name="Text 13"/>
          <p:cNvSpPr/>
          <p:nvPr/>
        </p:nvSpPr>
        <p:spPr>
          <a:xfrm>
            <a:off x="812731" y="6241808"/>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6"/>
                </a:solidFill>
                <a:latin typeface="Space Grotesk" pitchFamily="34" charset="0"/>
                <a:ea typeface="Space Grotesk" pitchFamily="34" charset="-122"/>
                <a:cs typeface="Space Grotesk" pitchFamily="34" charset="-120"/>
              </a:rPr>
              <a:t>Source: CTEK / YouGov EV survey 2023, five European countries.</a:t>
            </a:r>
            <a:endParaRPr lang="en-US" sz="1200" dirty="0"/>
          </a:p>
        </p:txBody>
      </p:sp>
      <p:sp>
        <p:nvSpPr>
          <p:cNvPr id="16" name="Text 14"/>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04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a:effectLst/>
      </p:bgPr>
    </p:bg>
    <p:spTree>
      <p:nvGrpSpPr>
        <p:cNvPr id="1" name=""/>
        <p:cNvGrpSpPr/>
        <p:nvPr/>
      </p:nvGrpSpPr>
      <p:grpSpPr>
        <a:xfrm>
          <a:off x="0" y="0"/>
          <a:ext cx="0" cy="0"/>
          <a:chOff x="0" y="0"/>
          <a:chExt cx="0" cy="0"/>
        </a:xfrm>
      </p:grpSpPr>
      <p:sp>
        <p:nvSpPr>
          <p:cNvPr id="2" name="Shape 0"/>
          <p:cNvSpPr/>
          <p:nvPr/>
        </p:nvSpPr>
        <p:spPr>
          <a:xfrm>
            <a:off x="8594708" y="1025525"/>
            <a:ext cx="2139950" cy="4425950"/>
          </a:xfrm>
          <a:prstGeom prst="roundRect">
            <a:avLst>
              <a:gd name="adj" fmla="val 16172"/>
            </a:avLst>
          </a:prstGeom>
          <a:solidFill>
            <a:srgbClr val="0A0E12"/>
          </a:solidFill>
          <a:ln w="19050">
            <a:solidFill>
              <a:srgbClr val="262C33"/>
            </a:solidFill>
            <a:prstDash val="solid"/>
          </a:ln>
        </p:spPr>
        <p:txBody>
          <a:bodyPr/>
          <a:lstStyle/>
          <a:p>
            <a:endParaRPr lang="en-DE"/>
          </a:p>
        </p:txBody>
      </p:sp>
      <p:sp>
        <p:nvSpPr>
          <p:cNvPr id="3" name="Shape 1"/>
          <p:cNvSpPr/>
          <p:nvPr/>
        </p:nvSpPr>
        <p:spPr>
          <a:xfrm>
            <a:off x="8674049" y="1104866"/>
            <a:ext cx="1981183" cy="4267183"/>
          </a:xfrm>
          <a:prstGeom prst="roundRect">
            <a:avLst>
              <a:gd name="adj" fmla="val 14103"/>
            </a:avLst>
          </a:prstGeom>
          <a:solidFill>
            <a:srgbClr val="F4F3EF"/>
          </a:solidFill>
          <a:ln/>
        </p:spPr>
        <p:txBody>
          <a:bodyPr/>
          <a:lstStyle/>
          <a:p>
            <a:endParaRPr lang="en-DE"/>
          </a:p>
        </p:txBody>
      </p:sp>
      <p:sp>
        <p:nvSpPr>
          <p:cNvPr id="4" name="Text 2"/>
          <p:cNvSpPr/>
          <p:nvPr/>
        </p:nvSpPr>
        <p:spPr>
          <a:xfrm>
            <a:off x="8801049" y="1270000"/>
            <a:ext cx="1778998" cy="23522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E1EEE"/>
                </a:solidFill>
                <a:latin typeface="JetBrains Mono" pitchFamily="49" charset="0"/>
                <a:ea typeface="JetBrains Mono" pitchFamily="49" charset="-122"/>
                <a:cs typeface="JetBrains Mono" pitchFamily="49" charset="-120"/>
              </a:rPr>
              <a:t>BOOKED BY YOU</a:t>
            </a:r>
            <a:endParaRPr lang="en-US" sz="1200" dirty="0"/>
          </a:p>
        </p:txBody>
      </p:sp>
      <p:pic>
        <p:nvPicPr>
          <p:cNvPr id="5" name="Image 0" descr="BayWatch map pin"/>
          <p:cNvPicPr>
            <a:picLocks noChangeAspect="1"/>
          </p:cNvPicPr>
          <p:nvPr/>
        </p:nvPicPr>
        <p:blipFill>
          <a:blip r:embed="rId3"/>
          <a:srcRect/>
          <a:stretch/>
        </p:blipFill>
        <p:spPr>
          <a:xfrm>
            <a:off x="9315433" y="1574732"/>
            <a:ext cx="698500" cy="889000"/>
          </a:xfrm>
          <a:prstGeom prst="rect">
            <a:avLst/>
          </a:prstGeom>
        </p:spPr>
      </p:pic>
      <p:sp>
        <p:nvSpPr>
          <p:cNvPr id="6" name="Text 3"/>
          <p:cNvSpPr/>
          <p:nvPr/>
        </p:nvSpPr>
        <p:spPr>
          <a:xfrm>
            <a:off x="8775141" y="2527232"/>
            <a:ext cx="1778998" cy="522357"/>
          </a:xfrm>
          <a:prstGeom prst="rect">
            <a:avLst/>
          </a:prstGeom>
          <a:noFill/>
          <a:ln/>
        </p:spPr>
        <p:txBody>
          <a:bodyPr wrap="square" lIns="0" tIns="0" rIns="0" bIns="0" rtlCol="0" anchor="t">
            <a:normAutofit/>
          </a:bodyPr>
          <a:lstStyle/>
          <a:p>
            <a:pPr marL="0" indent="0" algn="ctr">
              <a:lnSpc>
                <a:spcPts val="3920"/>
              </a:lnSpc>
              <a:buNone/>
            </a:pPr>
            <a:r>
              <a:rPr lang="en-US" sz="2800" dirty="0">
                <a:solidFill>
                  <a:srgbClr val="11161B"/>
                </a:solidFill>
                <a:latin typeface="Bebas Neue" pitchFamily="34" charset="0"/>
                <a:ea typeface="Bebas Neue" pitchFamily="34" charset="-122"/>
                <a:cs typeface="Bebas Neue" pitchFamily="34" charset="-120"/>
              </a:rPr>
              <a:t>TEST BAY</a:t>
            </a:r>
            <a:endParaRPr lang="en-US" sz="2800" dirty="0"/>
          </a:p>
        </p:txBody>
      </p:sp>
      <p:sp>
        <p:nvSpPr>
          <p:cNvPr id="7" name="Text 4"/>
          <p:cNvSpPr/>
          <p:nvPr/>
        </p:nvSpPr>
        <p:spPr>
          <a:xfrm>
            <a:off x="8775141" y="2959050"/>
            <a:ext cx="1778998" cy="235226"/>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C6168"/>
                </a:solidFill>
                <a:latin typeface="Space Grotesk" pitchFamily="34" charset="0"/>
                <a:ea typeface="Space Grotesk" pitchFamily="34" charset="-122"/>
                <a:cs typeface="Space Grotesk" pitchFamily="34" charset="-120"/>
              </a:rPr>
              <a:t>Today · 18:00–20:00</a:t>
            </a:r>
            <a:endParaRPr lang="en-US" sz="1200" dirty="0"/>
          </a:p>
        </p:txBody>
      </p:sp>
      <p:sp>
        <p:nvSpPr>
          <p:cNvPr id="8" name="Text 5"/>
          <p:cNvSpPr/>
          <p:nvPr/>
        </p:nvSpPr>
        <p:spPr>
          <a:xfrm>
            <a:off x="8810574" y="3260709"/>
            <a:ext cx="1708133" cy="364021"/>
          </a:xfrm>
          <a:custGeom>
            <a:avLst/>
            <a:gdLst/>
            <a:ahLst/>
            <a:cxnLst/>
            <a:rect l="l" t="t" r="r" b="b"/>
            <a:pathLst>
              <a:path w="1708133" h="364021">
                <a:moveTo>
                  <a:pt x="53975" y="0"/>
                </a:moveTo>
                <a:lnTo>
                  <a:pt x="1654158" y="0"/>
                </a:lnTo>
                <a:arcTo wR="53975" hR="53975" stAng="16200000" swAng="5400000"/>
                <a:lnTo>
                  <a:pt x="1708133" y="310046"/>
                </a:lnTo>
                <a:arcTo wR="53975" hR="53975" stAng="0" swAng="5400000"/>
                <a:lnTo>
                  <a:pt x="53975" y="364021"/>
                </a:lnTo>
                <a:arcTo wR="53975" hR="53975" stAng="5400000" swAng="5400000"/>
                <a:lnTo>
                  <a:pt x="0" y="53975"/>
                </a:lnTo>
                <a:arcTo wR="53975" hR="53975" stAng="10800000" swAng="5400000"/>
                <a:close/>
              </a:path>
            </a:pathLst>
          </a:custGeom>
          <a:noFill/>
          <a:ln w="19050">
            <a:solidFill>
              <a:srgbClr val="11161B"/>
            </a:solidFill>
            <a:prstDash val="solid"/>
          </a:ln>
        </p:spPr>
        <p:txBody>
          <a:bodyPr wrap="square" lIns="32440" tIns="57840" rIns="32440" bIns="32440" rtlCol="0" anchor="t">
            <a:normAutofit/>
          </a:bodyPr>
          <a:lstStyle/>
          <a:p>
            <a:pPr marL="0" indent="0" algn="ctr">
              <a:lnSpc>
                <a:spcPts val="1960"/>
              </a:lnSpc>
              <a:buNone/>
            </a:pPr>
            <a:r>
              <a:rPr lang="en-US" sz="1400" dirty="0">
                <a:solidFill>
                  <a:srgbClr val="11161B"/>
                </a:solidFill>
                <a:latin typeface="JetBrains Mono" pitchFamily="49" charset="0"/>
                <a:ea typeface="JetBrains Mono" pitchFamily="49" charset="-122"/>
                <a:cs typeface="JetBrains Mono" pitchFamily="49" charset="-120"/>
              </a:rPr>
              <a:t>M-XX 1234</a:t>
            </a:r>
            <a:endParaRPr lang="en-US" sz="1400" dirty="0"/>
          </a:p>
        </p:txBody>
      </p:sp>
      <p:sp>
        <p:nvSpPr>
          <p:cNvPr id="9" name="Shape 6"/>
          <p:cNvSpPr/>
          <p:nvPr/>
        </p:nvSpPr>
        <p:spPr>
          <a:xfrm>
            <a:off x="8801049" y="4851366"/>
            <a:ext cx="1727183" cy="429488"/>
          </a:xfrm>
          <a:prstGeom prst="roundRect">
            <a:avLst>
              <a:gd name="adj" fmla="val 50000"/>
            </a:avLst>
          </a:prstGeom>
          <a:solidFill>
            <a:srgbClr val="C9E847"/>
          </a:solidFill>
          <a:ln/>
        </p:spPr>
        <p:txBody>
          <a:bodyPr/>
          <a:lstStyle/>
          <a:p>
            <a:endParaRPr lang="en-DE"/>
          </a:p>
        </p:txBody>
      </p:sp>
      <p:sp>
        <p:nvSpPr>
          <p:cNvPr id="10" name="Text 7"/>
          <p:cNvSpPr/>
          <p:nvPr/>
        </p:nvSpPr>
        <p:spPr>
          <a:xfrm>
            <a:off x="8877249" y="4952966"/>
            <a:ext cx="1574783" cy="251688"/>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11161B"/>
                </a:solidFill>
                <a:latin typeface="Space Grotesk" pitchFamily="34" charset="0"/>
                <a:ea typeface="Space Grotesk" pitchFamily="34" charset="-122"/>
                <a:cs typeface="Space Grotesk" pitchFamily="34" charset="-120"/>
              </a:rPr>
              <a:t>Navigate to bay</a:t>
            </a:r>
            <a:endParaRPr lang="en-US" sz="1300" dirty="0"/>
          </a:p>
        </p:txBody>
      </p:sp>
      <p:sp>
        <p:nvSpPr>
          <p:cNvPr id="11" name="Text 8"/>
          <p:cNvSpPr/>
          <p:nvPr/>
        </p:nvSpPr>
        <p:spPr>
          <a:xfrm>
            <a:off x="812731" y="711184"/>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OUR SOLUTION</a:t>
            </a:r>
            <a:endParaRPr lang="en-US" sz="1300" dirty="0"/>
          </a:p>
        </p:txBody>
      </p:sp>
      <p:sp>
        <p:nvSpPr>
          <p:cNvPr id="12" name="Text 9"/>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F4F3EF"/>
                </a:solidFill>
                <a:latin typeface="Bebas Neue" pitchFamily="34" charset="0"/>
                <a:ea typeface="Bebas Neue" pitchFamily="34" charset="-122"/>
                <a:cs typeface="Bebas Neue" pitchFamily="34" charset="-120"/>
              </a:rPr>
              <a:t>MEET BAY</a:t>
            </a:r>
            <a:r>
              <a:rPr lang="en-US" sz="6200" b="0" i="0" dirty="0">
                <a:solidFill>
                  <a:srgbClr val="B69CFF"/>
                </a:solidFill>
                <a:latin typeface="Bebas Neue" pitchFamily="34" charset="0"/>
                <a:ea typeface="Bebas Neue" pitchFamily="34" charset="-122"/>
                <a:cs typeface="Bebas Neue" pitchFamily="34" charset="-120"/>
              </a:rPr>
              <a:t>WATCH</a:t>
            </a:r>
            <a:endParaRPr lang="en-US" sz="6200" dirty="0"/>
          </a:p>
        </p:txBody>
      </p:sp>
      <p:sp>
        <p:nvSpPr>
          <p:cNvPr id="13" name="Text 10"/>
          <p:cNvSpPr/>
          <p:nvPr/>
        </p:nvSpPr>
        <p:spPr>
          <a:xfrm>
            <a:off x="812731" y="1924760"/>
            <a:ext cx="7194550" cy="776357"/>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F4F3EF"/>
                </a:solidFill>
                <a:latin typeface="Space Grotesk" pitchFamily="34" charset="0"/>
                <a:ea typeface="Space Grotesk" pitchFamily="34" charset="-122"/>
                <a:cs typeface="Space Grotesk" pitchFamily="34" charset="-120"/>
              </a:rPr>
              <a:t>Reserve a bay in the app. </a:t>
            </a:r>
            <a:r>
              <a:rPr lang="en-US" sz="2300" dirty="0">
                <a:solidFill>
                  <a:srgbClr val="C9E847"/>
                </a:solidFill>
                <a:latin typeface="Space Grotesk" pitchFamily="34" charset="0"/>
                <a:ea typeface="Space Grotesk" pitchFamily="34" charset="-122"/>
                <a:cs typeface="Space Grotesk" pitchFamily="34" charset="-120"/>
              </a:rPr>
              <a:t>The bay is secured until you arrive.</a:t>
            </a:r>
            <a:endParaRPr lang="en-US" sz="2300" dirty="0"/>
          </a:p>
        </p:txBody>
      </p:sp>
      <p:sp>
        <p:nvSpPr>
          <p:cNvPr id="14" name="Shape 11"/>
          <p:cNvSpPr/>
          <p:nvPr/>
        </p:nvSpPr>
        <p:spPr>
          <a:xfrm>
            <a:off x="819081" y="2834345"/>
            <a:ext cx="4322211" cy="371579"/>
          </a:xfrm>
          <a:prstGeom prst="roundRect">
            <a:avLst>
              <a:gd name="adj" fmla="val 50000"/>
            </a:avLst>
          </a:prstGeom>
          <a:noFill/>
          <a:ln w="12700">
            <a:solidFill>
              <a:srgbClr val="C9E847"/>
            </a:solidFill>
            <a:prstDash val="solid"/>
          </a:ln>
        </p:spPr>
        <p:txBody>
          <a:bodyPr/>
          <a:lstStyle/>
          <a:p>
            <a:endParaRPr lang="en-DE"/>
          </a:p>
        </p:txBody>
      </p:sp>
      <p:sp>
        <p:nvSpPr>
          <p:cNvPr id="15" name="Text 12"/>
          <p:cNvSpPr/>
          <p:nvPr/>
        </p:nvSpPr>
        <p:spPr>
          <a:xfrm>
            <a:off x="1001575" y="2915238"/>
            <a:ext cx="4075940" cy="235192"/>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E847"/>
                </a:solidFill>
                <a:latin typeface="JetBrains Mono" pitchFamily="49" charset="0"/>
                <a:ea typeface="JetBrains Mono" pitchFamily="49" charset="-122"/>
                <a:cs typeface="JetBrains Mono" pitchFamily="49" charset="-120"/>
              </a:rPr>
              <a:t>WEB APP TODAY · SOON IN ALL APP STORES</a:t>
            </a:r>
            <a:endParaRPr lang="en-US" sz="1200" dirty="0"/>
          </a:p>
        </p:txBody>
      </p:sp>
      <p:sp>
        <p:nvSpPr>
          <p:cNvPr id="16" name="Shape 13"/>
          <p:cNvSpPr/>
          <p:nvPr/>
        </p:nvSpPr>
        <p:spPr>
          <a:xfrm>
            <a:off x="812731" y="3994255"/>
            <a:ext cx="2175997" cy="0"/>
          </a:xfrm>
          <a:prstGeom prst="line">
            <a:avLst/>
          </a:prstGeom>
          <a:noFill/>
          <a:ln w="12700">
            <a:solidFill>
              <a:srgbClr val="C9E847"/>
            </a:solidFill>
            <a:prstDash val="solid"/>
          </a:ln>
        </p:spPr>
        <p:txBody>
          <a:bodyPr/>
          <a:lstStyle/>
          <a:p>
            <a:endParaRPr lang="en-DE"/>
          </a:p>
        </p:txBody>
      </p:sp>
      <p:sp>
        <p:nvSpPr>
          <p:cNvPr id="17" name="Text 14"/>
          <p:cNvSpPr/>
          <p:nvPr/>
        </p:nvSpPr>
        <p:spPr>
          <a:xfrm>
            <a:off x="812731" y="4151313"/>
            <a:ext cx="2241277" cy="351183"/>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F4F3EF"/>
                </a:solidFill>
                <a:latin typeface="Bebas Neue" pitchFamily="34" charset="0"/>
                <a:ea typeface="Bebas Neue" pitchFamily="34" charset="-122"/>
                <a:cs typeface="Bebas Neue" pitchFamily="34" charset="-120"/>
              </a:rPr>
              <a:t>GUARANTEED BAY</a:t>
            </a:r>
            <a:endParaRPr lang="en-US" sz="2600" dirty="0"/>
          </a:p>
        </p:txBody>
      </p:sp>
      <p:sp>
        <p:nvSpPr>
          <p:cNvPr id="18" name="Text 15"/>
          <p:cNvSpPr/>
          <p:nvPr/>
        </p:nvSpPr>
        <p:spPr>
          <a:xfrm>
            <a:off x="812731" y="4527826"/>
            <a:ext cx="2241277" cy="25179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3A7AD"/>
                </a:solidFill>
                <a:latin typeface="Space Grotesk" pitchFamily="34" charset="0"/>
                <a:ea typeface="Space Grotesk" pitchFamily="34" charset="-122"/>
                <a:cs typeface="Space Grotesk" pitchFamily="34" charset="-120"/>
              </a:rPr>
              <a:t>Hardware keeps it free</a:t>
            </a:r>
            <a:endParaRPr lang="en-US" sz="1300" dirty="0"/>
          </a:p>
        </p:txBody>
      </p:sp>
      <p:sp>
        <p:nvSpPr>
          <p:cNvPr id="19" name="Shape 16"/>
          <p:cNvSpPr/>
          <p:nvPr/>
        </p:nvSpPr>
        <p:spPr>
          <a:xfrm>
            <a:off x="3217276" y="3994255"/>
            <a:ext cx="2175997" cy="0"/>
          </a:xfrm>
          <a:prstGeom prst="line">
            <a:avLst/>
          </a:prstGeom>
          <a:noFill/>
          <a:ln w="12700">
            <a:solidFill>
              <a:srgbClr val="9C86E8"/>
            </a:solidFill>
            <a:prstDash val="solid"/>
          </a:ln>
        </p:spPr>
        <p:txBody>
          <a:bodyPr/>
          <a:lstStyle/>
          <a:p>
            <a:endParaRPr lang="en-DE"/>
          </a:p>
        </p:txBody>
      </p:sp>
      <p:sp>
        <p:nvSpPr>
          <p:cNvPr id="20" name="Text 17"/>
          <p:cNvSpPr/>
          <p:nvPr/>
        </p:nvSpPr>
        <p:spPr>
          <a:xfrm>
            <a:off x="3217276" y="4151313"/>
            <a:ext cx="2241277" cy="676965"/>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F4F3EF"/>
                </a:solidFill>
                <a:latin typeface="Bebas Neue" pitchFamily="34" charset="0"/>
                <a:ea typeface="Bebas Neue" pitchFamily="34" charset="-122"/>
                <a:cs typeface="Bebas Neue" pitchFamily="34" charset="-120"/>
              </a:rPr>
              <a:t>YOUR PLATE IS THE KEY</a:t>
            </a:r>
            <a:endParaRPr lang="en-US" sz="2600" dirty="0"/>
          </a:p>
        </p:txBody>
      </p:sp>
      <p:sp>
        <p:nvSpPr>
          <p:cNvPr id="21" name="Text 18"/>
          <p:cNvSpPr/>
          <p:nvPr/>
        </p:nvSpPr>
        <p:spPr>
          <a:xfrm>
            <a:off x="3217276" y="4853611"/>
            <a:ext cx="2241277" cy="25179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3A7AD"/>
                </a:solidFill>
                <a:latin typeface="Space Grotesk" pitchFamily="34" charset="0"/>
                <a:ea typeface="Space Grotesk" pitchFamily="34" charset="-122"/>
                <a:cs typeface="Space Grotesk" pitchFamily="34" charset="-120"/>
              </a:rPr>
              <a:t>Camera opens the bay</a:t>
            </a:r>
            <a:endParaRPr lang="en-US" sz="1300" dirty="0"/>
          </a:p>
        </p:txBody>
      </p:sp>
      <p:sp>
        <p:nvSpPr>
          <p:cNvPr id="22" name="Shape 19"/>
          <p:cNvSpPr/>
          <p:nvPr/>
        </p:nvSpPr>
        <p:spPr>
          <a:xfrm>
            <a:off x="5621821" y="3994255"/>
            <a:ext cx="2175997" cy="0"/>
          </a:xfrm>
          <a:prstGeom prst="line">
            <a:avLst/>
          </a:prstGeom>
          <a:noFill/>
          <a:ln w="12700">
            <a:solidFill>
              <a:srgbClr val="9C86E8"/>
            </a:solidFill>
            <a:prstDash val="solid"/>
          </a:ln>
        </p:spPr>
        <p:txBody>
          <a:bodyPr/>
          <a:lstStyle/>
          <a:p>
            <a:endParaRPr lang="en-DE"/>
          </a:p>
        </p:txBody>
      </p:sp>
      <p:sp>
        <p:nvSpPr>
          <p:cNvPr id="23" name="Text 20"/>
          <p:cNvSpPr/>
          <p:nvPr/>
        </p:nvSpPr>
        <p:spPr>
          <a:xfrm>
            <a:off x="5621821" y="4151313"/>
            <a:ext cx="2241277" cy="351183"/>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F4F3EF"/>
                </a:solidFill>
                <a:latin typeface="Bebas Neue" pitchFamily="34" charset="0"/>
                <a:ea typeface="Bebas Neue" pitchFamily="34" charset="-122"/>
                <a:cs typeface="Bebas Neue" pitchFamily="34" charset="-120"/>
              </a:rPr>
              <a:t>FAIR RULES</a:t>
            </a:r>
            <a:endParaRPr lang="en-US" sz="2600" dirty="0"/>
          </a:p>
        </p:txBody>
      </p:sp>
      <p:sp>
        <p:nvSpPr>
          <p:cNvPr id="24" name="Text 21"/>
          <p:cNvSpPr/>
          <p:nvPr/>
        </p:nvSpPr>
        <p:spPr>
          <a:xfrm>
            <a:off x="5621821" y="4527826"/>
            <a:ext cx="2241277" cy="25179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3A7AD"/>
                </a:solidFill>
                <a:latin typeface="Space Grotesk" pitchFamily="34" charset="0"/>
                <a:ea typeface="Space Grotesk" pitchFamily="34" charset="-122"/>
                <a:cs typeface="Space Grotesk" pitchFamily="34" charset="-120"/>
              </a:rPr>
              <a:t>For no-shows and blockers</a:t>
            </a:r>
            <a:endParaRPr lang="en-US" sz="1300" dirty="0"/>
          </a:p>
        </p:txBody>
      </p:sp>
      <p:sp>
        <p:nvSpPr>
          <p:cNvPr id="25" name="Text 22"/>
          <p:cNvSpPr/>
          <p:nvPr/>
        </p:nvSpPr>
        <p:spPr>
          <a:xfrm>
            <a:off x="812731" y="6241808"/>
            <a:ext cx="6540500" cy="23522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8A8F96"/>
                </a:solidFill>
                <a:latin typeface="JetBrains Mono" pitchFamily="49" charset="0"/>
                <a:ea typeface="JetBrains Mono" pitchFamily="49" charset="-122"/>
                <a:cs typeface="JetBrains Mono" pitchFamily="49" charset="-120"/>
              </a:rPr>
              <a:t>POWERED BY ECURIOUS</a:t>
            </a:r>
            <a:endParaRPr lang="en-US" sz="1200" dirty="0"/>
          </a:p>
        </p:txBody>
      </p:sp>
      <p:sp>
        <p:nvSpPr>
          <p:cNvPr id="26" name="Text 23"/>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05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F"/>
        </a:solidFill>
        <a:effectLst/>
      </p:bgPr>
    </p:bg>
    <p:spTree>
      <p:nvGrpSpPr>
        <p:cNvPr id="1" name=""/>
        <p:cNvGrpSpPr/>
        <p:nvPr/>
      </p:nvGrpSpPr>
      <p:grpSpPr>
        <a:xfrm>
          <a:off x="0" y="0"/>
          <a:ext cx="0" cy="0"/>
          <a:chOff x="0" y="0"/>
          <a:chExt cx="0" cy="0"/>
        </a:xfrm>
      </p:grpSpPr>
      <p:sp>
        <p:nvSpPr>
          <p:cNvPr id="2" name="Text 0"/>
          <p:cNvSpPr/>
          <p:nvPr/>
        </p:nvSpPr>
        <p:spPr>
          <a:xfrm>
            <a:off x="812731" y="711184"/>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5E1EEE"/>
                </a:solidFill>
                <a:latin typeface="JetBrains Mono" pitchFamily="49" charset="0"/>
                <a:ea typeface="JetBrains Mono" pitchFamily="49" charset="-122"/>
                <a:cs typeface="JetBrains Mono" pitchFamily="49" charset="-120"/>
              </a:rPr>
              <a:t>HOW IT WORKS</a:t>
            </a:r>
            <a:endParaRPr lang="en-US" sz="1300" dirty="0"/>
          </a:p>
        </p:txBody>
      </p:sp>
      <p:sp>
        <p:nvSpPr>
          <p:cNvPr id="3" name="Text 1"/>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11161B"/>
                </a:solidFill>
                <a:latin typeface="Bebas Neue" pitchFamily="34" charset="0"/>
                <a:ea typeface="Bebas Neue" pitchFamily="34" charset="-122"/>
                <a:cs typeface="Bebas Neue" pitchFamily="34" charset="-120"/>
              </a:rPr>
              <a:t>FIVE STEPS, ZERO GUESSWORK</a:t>
            </a:r>
            <a:endParaRPr lang="en-US" sz="6200" dirty="0"/>
          </a:p>
        </p:txBody>
      </p:sp>
      <p:sp>
        <p:nvSpPr>
          <p:cNvPr id="4" name="Shape 2"/>
          <p:cNvSpPr/>
          <p:nvPr/>
        </p:nvSpPr>
        <p:spPr>
          <a:xfrm>
            <a:off x="812731" y="2026307"/>
            <a:ext cx="2032086" cy="2485214"/>
          </a:xfrm>
          <a:prstGeom prst="roundRect">
            <a:avLst>
              <a:gd name="adj" fmla="val 7500"/>
            </a:avLst>
          </a:prstGeom>
          <a:solidFill>
            <a:srgbClr val="FFFFFF"/>
          </a:solidFill>
          <a:ln/>
        </p:spPr>
        <p:txBody>
          <a:bodyPr/>
          <a:lstStyle/>
          <a:p>
            <a:endParaRPr lang="en-DE"/>
          </a:p>
        </p:txBody>
      </p:sp>
      <p:sp>
        <p:nvSpPr>
          <p:cNvPr id="5" name="Text 3"/>
          <p:cNvSpPr/>
          <p:nvPr/>
        </p:nvSpPr>
        <p:spPr>
          <a:xfrm>
            <a:off x="990462" y="2204039"/>
            <a:ext cx="1727424" cy="632791"/>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5E1EEE"/>
                </a:solidFill>
                <a:latin typeface="Bebas Neue" pitchFamily="34" charset="0"/>
                <a:ea typeface="Bebas Neue" pitchFamily="34" charset="-122"/>
                <a:cs typeface="Bebas Neue" pitchFamily="34" charset="-120"/>
              </a:rPr>
              <a:t>01</a:t>
            </a:r>
            <a:endParaRPr lang="en-US" sz="4800" dirty="0"/>
          </a:p>
        </p:txBody>
      </p:sp>
      <p:sp>
        <p:nvSpPr>
          <p:cNvPr id="6" name="Text 4"/>
          <p:cNvSpPr/>
          <p:nvPr/>
        </p:nvSpPr>
        <p:spPr>
          <a:xfrm>
            <a:off x="990462" y="2887613"/>
            <a:ext cx="1727424" cy="378791"/>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1161B"/>
                </a:solidFill>
                <a:latin typeface="Bebas Neue" pitchFamily="34" charset="0"/>
                <a:ea typeface="Bebas Neue" pitchFamily="34" charset="-122"/>
                <a:cs typeface="Bebas Neue" pitchFamily="34" charset="-120"/>
              </a:rPr>
              <a:t>RESERVE</a:t>
            </a:r>
            <a:endParaRPr lang="en-US" sz="2800" dirty="0"/>
          </a:p>
        </p:txBody>
      </p:sp>
      <p:sp>
        <p:nvSpPr>
          <p:cNvPr id="7" name="Text 5"/>
          <p:cNvSpPr/>
          <p:nvPr/>
        </p:nvSpPr>
        <p:spPr>
          <a:xfrm>
            <a:off x="990462" y="3317187"/>
            <a:ext cx="1727424" cy="70457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168"/>
                </a:solidFill>
                <a:latin typeface="Space Grotesk" pitchFamily="34" charset="0"/>
                <a:ea typeface="Space Grotesk" pitchFamily="34" charset="-122"/>
                <a:cs typeface="Space Grotesk" pitchFamily="34" charset="-120"/>
              </a:rPr>
              <a:t>Pick a bay and slot in the app, pay the fee.</a:t>
            </a:r>
            <a:endParaRPr lang="en-US" sz="1300" dirty="0"/>
          </a:p>
        </p:txBody>
      </p:sp>
      <p:sp>
        <p:nvSpPr>
          <p:cNvPr id="8" name="Shape 6"/>
          <p:cNvSpPr/>
          <p:nvPr/>
        </p:nvSpPr>
        <p:spPr>
          <a:xfrm>
            <a:off x="2946366" y="2026307"/>
            <a:ext cx="2032086" cy="2485214"/>
          </a:xfrm>
          <a:prstGeom prst="roundRect">
            <a:avLst>
              <a:gd name="adj" fmla="val 7500"/>
            </a:avLst>
          </a:prstGeom>
          <a:solidFill>
            <a:srgbClr val="FFFFFF"/>
          </a:solidFill>
          <a:ln/>
        </p:spPr>
        <p:txBody>
          <a:bodyPr/>
          <a:lstStyle/>
          <a:p>
            <a:endParaRPr lang="en-DE"/>
          </a:p>
        </p:txBody>
      </p:sp>
      <p:sp>
        <p:nvSpPr>
          <p:cNvPr id="9" name="Text 7"/>
          <p:cNvSpPr/>
          <p:nvPr/>
        </p:nvSpPr>
        <p:spPr>
          <a:xfrm>
            <a:off x="3124097" y="2204039"/>
            <a:ext cx="1727424" cy="632791"/>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5E1EEE"/>
                </a:solidFill>
                <a:latin typeface="Bebas Neue" pitchFamily="34" charset="0"/>
                <a:ea typeface="Bebas Neue" pitchFamily="34" charset="-122"/>
                <a:cs typeface="Bebas Neue" pitchFamily="34" charset="-120"/>
              </a:rPr>
              <a:t>02</a:t>
            </a:r>
            <a:endParaRPr lang="en-US" sz="4800" dirty="0"/>
          </a:p>
        </p:txBody>
      </p:sp>
      <p:sp>
        <p:nvSpPr>
          <p:cNvPr id="10" name="Text 8"/>
          <p:cNvSpPr/>
          <p:nvPr/>
        </p:nvSpPr>
        <p:spPr>
          <a:xfrm>
            <a:off x="3124097" y="2887613"/>
            <a:ext cx="1727424" cy="378791"/>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1161B"/>
                </a:solidFill>
                <a:latin typeface="Bebas Neue" pitchFamily="34" charset="0"/>
                <a:ea typeface="Bebas Neue" pitchFamily="34" charset="-122"/>
                <a:cs typeface="Bebas Neue" pitchFamily="34" charset="-120"/>
              </a:rPr>
              <a:t>HOLD</a:t>
            </a:r>
            <a:endParaRPr lang="en-US" sz="2800" dirty="0"/>
          </a:p>
        </p:txBody>
      </p:sp>
      <p:sp>
        <p:nvSpPr>
          <p:cNvPr id="11" name="Text 9"/>
          <p:cNvSpPr/>
          <p:nvPr/>
        </p:nvSpPr>
        <p:spPr>
          <a:xfrm>
            <a:off x="3124097" y="3317187"/>
            <a:ext cx="1727424" cy="4781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168"/>
                </a:solidFill>
                <a:latin typeface="Space Grotesk" pitchFamily="34" charset="0"/>
                <a:ea typeface="Space Grotesk" pitchFamily="34" charset="-122"/>
                <a:cs typeface="Space Grotesk" pitchFamily="34" charset="-120"/>
              </a:rPr>
              <a:t>Ecurious hardware keeps the bay free.</a:t>
            </a:r>
            <a:endParaRPr lang="en-US" sz="1300" dirty="0"/>
          </a:p>
        </p:txBody>
      </p:sp>
      <p:sp>
        <p:nvSpPr>
          <p:cNvPr id="12" name="Shape 10"/>
          <p:cNvSpPr/>
          <p:nvPr/>
        </p:nvSpPr>
        <p:spPr>
          <a:xfrm>
            <a:off x="5080000" y="2026307"/>
            <a:ext cx="2032086" cy="2485214"/>
          </a:xfrm>
          <a:prstGeom prst="roundRect">
            <a:avLst>
              <a:gd name="adj" fmla="val 7500"/>
            </a:avLst>
          </a:prstGeom>
          <a:solidFill>
            <a:srgbClr val="FFFFFF"/>
          </a:solidFill>
          <a:ln/>
        </p:spPr>
        <p:txBody>
          <a:bodyPr/>
          <a:lstStyle/>
          <a:p>
            <a:endParaRPr lang="en-DE"/>
          </a:p>
        </p:txBody>
      </p:sp>
      <p:sp>
        <p:nvSpPr>
          <p:cNvPr id="13" name="Text 11"/>
          <p:cNvSpPr/>
          <p:nvPr/>
        </p:nvSpPr>
        <p:spPr>
          <a:xfrm>
            <a:off x="5257731" y="2204039"/>
            <a:ext cx="1727424" cy="513815"/>
          </a:xfrm>
          <a:prstGeom prst="rect">
            <a:avLst/>
          </a:prstGeom>
          <a:noFill/>
          <a:ln/>
        </p:spPr>
        <p:txBody>
          <a:bodyPr wrap="square" lIns="0" tIns="0" rIns="0" bIns="0" rtlCol="0" anchor="t">
            <a:normAutofit/>
          </a:bodyPr>
          <a:lstStyle/>
          <a:p>
            <a:pPr marL="0" indent="0" algn="l">
              <a:lnSpc>
                <a:spcPts val="3900"/>
              </a:lnSpc>
              <a:buNone/>
            </a:pPr>
            <a:r>
              <a:rPr lang="en-US" sz="3900" dirty="0">
                <a:solidFill>
                  <a:srgbClr val="5E1EEE"/>
                </a:solidFill>
                <a:latin typeface="Bebas Neue" pitchFamily="34" charset="0"/>
                <a:ea typeface="Bebas Neue" pitchFamily="34" charset="-122"/>
                <a:cs typeface="Bebas Neue" pitchFamily="34" charset="-120"/>
              </a:rPr>
              <a:t>03</a:t>
            </a:r>
            <a:endParaRPr lang="en-US" sz="3900" dirty="0"/>
          </a:p>
        </p:txBody>
      </p:sp>
      <p:sp>
        <p:nvSpPr>
          <p:cNvPr id="14" name="Text 12"/>
          <p:cNvSpPr/>
          <p:nvPr/>
        </p:nvSpPr>
        <p:spPr>
          <a:xfrm>
            <a:off x="5257731" y="2768637"/>
            <a:ext cx="1727424" cy="309597"/>
          </a:xfrm>
          <a:prstGeom prst="rect">
            <a:avLst/>
          </a:prstGeom>
          <a:noFill/>
          <a:ln/>
        </p:spPr>
        <p:txBody>
          <a:bodyPr wrap="square" lIns="0" tIns="0" rIns="0" bIns="0" rtlCol="0" anchor="t">
            <a:normAutofit/>
          </a:bodyPr>
          <a:lstStyle/>
          <a:p>
            <a:pPr marL="0" indent="0" algn="l">
              <a:lnSpc>
                <a:spcPts val="2258"/>
              </a:lnSpc>
              <a:buNone/>
            </a:pPr>
            <a:r>
              <a:rPr lang="en-US" sz="2258" dirty="0">
                <a:solidFill>
                  <a:srgbClr val="11161B"/>
                </a:solidFill>
                <a:latin typeface="Bebas Neue" pitchFamily="34" charset="0"/>
                <a:ea typeface="Bebas Neue" pitchFamily="34" charset="-122"/>
                <a:cs typeface="Bebas Neue" pitchFamily="34" charset="-120"/>
              </a:rPr>
              <a:t>ARRIVE</a:t>
            </a:r>
            <a:endParaRPr lang="en-US" sz="2258" dirty="0"/>
          </a:p>
        </p:txBody>
      </p:sp>
      <p:sp>
        <p:nvSpPr>
          <p:cNvPr id="15" name="Text 13"/>
          <p:cNvSpPr/>
          <p:nvPr/>
        </p:nvSpPr>
        <p:spPr>
          <a:xfrm>
            <a:off x="5257731" y="3129015"/>
            <a:ext cx="1727424" cy="571535"/>
          </a:xfrm>
          <a:prstGeom prst="rect">
            <a:avLst/>
          </a:prstGeom>
          <a:noFill/>
          <a:ln/>
        </p:spPr>
        <p:txBody>
          <a:bodyPr wrap="square" lIns="0" tIns="0" rIns="0" bIns="0" rtlCol="0" anchor="t">
            <a:normAutofit/>
          </a:bodyPr>
          <a:lstStyle/>
          <a:p>
            <a:pPr marL="0" indent="0" algn="l">
              <a:lnSpc>
                <a:spcPts val="1814"/>
              </a:lnSpc>
              <a:buNone/>
            </a:pPr>
            <a:r>
              <a:rPr lang="en-US" sz="1296" dirty="0">
                <a:solidFill>
                  <a:srgbClr val="5C6168"/>
                </a:solidFill>
                <a:latin typeface="Space Grotesk" pitchFamily="34" charset="0"/>
                <a:ea typeface="Space Grotesk" pitchFamily="34" charset="-122"/>
                <a:cs typeface="Space Grotesk" pitchFamily="34" charset="-120"/>
              </a:rPr>
              <a:t>Camera reads your plate, the bay opens.</a:t>
            </a:r>
            <a:endParaRPr lang="en-US" sz="1296" dirty="0"/>
          </a:p>
        </p:txBody>
      </p:sp>
      <p:sp>
        <p:nvSpPr>
          <p:cNvPr id="16" name="Text 14"/>
          <p:cNvSpPr/>
          <p:nvPr/>
        </p:nvSpPr>
        <p:spPr>
          <a:xfrm>
            <a:off x="5257731" y="3827515"/>
            <a:ext cx="1727424" cy="531588"/>
          </a:xfrm>
          <a:prstGeom prst="rect">
            <a:avLst/>
          </a:prstGeom>
          <a:noFill/>
          <a:ln/>
        </p:spPr>
        <p:txBody>
          <a:bodyPr wrap="square" lIns="0" tIns="0" rIns="0" bIns="0" rtlCol="0" anchor="t">
            <a:normAutofit/>
          </a:bodyPr>
          <a:lstStyle/>
          <a:p>
            <a:pPr marL="0" indent="0" algn="l">
              <a:lnSpc>
                <a:spcPts val="1575"/>
              </a:lnSpc>
              <a:buNone/>
            </a:pPr>
            <a:r>
              <a:rPr lang="en-US" sz="1125" dirty="0">
                <a:solidFill>
                  <a:srgbClr val="5E1EEE"/>
                </a:solidFill>
                <a:latin typeface="Space Grotesk" pitchFamily="34" charset="0"/>
                <a:ea typeface="Space Grotesk" pitchFamily="34" charset="-122"/>
                <a:cs typeface="Space Grotesk" pitchFamily="34" charset="-120"/>
              </a:rPr>
              <a:t>Camera trouble? Manual unlock in the app.</a:t>
            </a:r>
            <a:endParaRPr lang="en-US" sz="1125" dirty="0"/>
          </a:p>
        </p:txBody>
      </p:sp>
      <p:sp>
        <p:nvSpPr>
          <p:cNvPr id="17" name="Shape 15"/>
          <p:cNvSpPr/>
          <p:nvPr/>
        </p:nvSpPr>
        <p:spPr>
          <a:xfrm>
            <a:off x="7213635" y="2026307"/>
            <a:ext cx="2032086" cy="2485214"/>
          </a:xfrm>
          <a:prstGeom prst="roundRect">
            <a:avLst>
              <a:gd name="adj" fmla="val 7500"/>
            </a:avLst>
          </a:prstGeom>
          <a:solidFill>
            <a:srgbClr val="FFFFFF"/>
          </a:solidFill>
          <a:ln/>
        </p:spPr>
        <p:txBody>
          <a:bodyPr/>
          <a:lstStyle/>
          <a:p>
            <a:endParaRPr lang="en-DE"/>
          </a:p>
        </p:txBody>
      </p:sp>
      <p:sp>
        <p:nvSpPr>
          <p:cNvPr id="18" name="Text 16"/>
          <p:cNvSpPr/>
          <p:nvPr/>
        </p:nvSpPr>
        <p:spPr>
          <a:xfrm>
            <a:off x="7391366" y="2204039"/>
            <a:ext cx="1727424" cy="632791"/>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5E1EEE"/>
                </a:solidFill>
                <a:latin typeface="Bebas Neue" pitchFamily="34" charset="0"/>
                <a:ea typeface="Bebas Neue" pitchFamily="34" charset="-122"/>
                <a:cs typeface="Bebas Neue" pitchFamily="34" charset="-120"/>
              </a:rPr>
              <a:t>04</a:t>
            </a:r>
            <a:endParaRPr lang="en-US" sz="4800" dirty="0"/>
          </a:p>
        </p:txBody>
      </p:sp>
      <p:sp>
        <p:nvSpPr>
          <p:cNvPr id="19" name="Text 17"/>
          <p:cNvSpPr/>
          <p:nvPr/>
        </p:nvSpPr>
        <p:spPr>
          <a:xfrm>
            <a:off x="7391366" y="2887613"/>
            <a:ext cx="1727424" cy="378791"/>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1161B"/>
                </a:solidFill>
                <a:latin typeface="Bebas Neue" pitchFamily="34" charset="0"/>
                <a:ea typeface="Bebas Neue" pitchFamily="34" charset="-122"/>
                <a:cs typeface="Bebas Neue" pitchFamily="34" charset="-120"/>
              </a:rPr>
              <a:t>CHARGE</a:t>
            </a:r>
            <a:endParaRPr lang="en-US" sz="2800" dirty="0"/>
          </a:p>
        </p:txBody>
      </p:sp>
      <p:sp>
        <p:nvSpPr>
          <p:cNvPr id="20" name="Text 18"/>
          <p:cNvSpPr/>
          <p:nvPr/>
        </p:nvSpPr>
        <p:spPr>
          <a:xfrm>
            <a:off x="7391366" y="3317187"/>
            <a:ext cx="1727424" cy="4781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168"/>
                </a:solidFill>
                <a:latin typeface="Space Grotesk" pitchFamily="34" charset="0"/>
                <a:ea typeface="Space Grotesk" pitchFamily="34" charset="-122"/>
                <a:cs typeface="Space Grotesk" pitchFamily="34" charset="-120"/>
              </a:rPr>
              <a:t>Plug in at the charger as usual.</a:t>
            </a:r>
            <a:endParaRPr lang="en-US" sz="1300" dirty="0"/>
          </a:p>
        </p:txBody>
      </p:sp>
      <p:sp>
        <p:nvSpPr>
          <p:cNvPr id="21" name="Shape 19"/>
          <p:cNvSpPr/>
          <p:nvPr/>
        </p:nvSpPr>
        <p:spPr>
          <a:xfrm>
            <a:off x="9347269" y="2026307"/>
            <a:ext cx="2032086" cy="2485214"/>
          </a:xfrm>
          <a:prstGeom prst="roundRect">
            <a:avLst>
              <a:gd name="adj" fmla="val 7500"/>
            </a:avLst>
          </a:prstGeom>
          <a:solidFill>
            <a:srgbClr val="FFFFFF"/>
          </a:solidFill>
          <a:ln/>
        </p:spPr>
        <p:txBody>
          <a:bodyPr/>
          <a:lstStyle/>
          <a:p>
            <a:endParaRPr lang="en-DE"/>
          </a:p>
        </p:txBody>
      </p:sp>
      <p:sp>
        <p:nvSpPr>
          <p:cNvPr id="22" name="Text 20"/>
          <p:cNvSpPr/>
          <p:nvPr/>
        </p:nvSpPr>
        <p:spPr>
          <a:xfrm>
            <a:off x="9525000" y="2204039"/>
            <a:ext cx="1727424" cy="632791"/>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5E1EEE"/>
                </a:solidFill>
                <a:latin typeface="Bebas Neue" pitchFamily="34" charset="0"/>
                <a:ea typeface="Bebas Neue" pitchFamily="34" charset="-122"/>
                <a:cs typeface="Bebas Neue" pitchFamily="34" charset="-120"/>
              </a:rPr>
              <a:t>05</a:t>
            </a:r>
            <a:endParaRPr lang="en-US" sz="4800" dirty="0"/>
          </a:p>
        </p:txBody>
      </p:sp>
      <p:sp>
        <p:nvSpPr>
          <p:cNvPr id="23" name="Text 21"/>
          <p:cNvSpPr/>
          <p:nvPr/>
        </p:nvSpPr>
        <p:spPr>
          <a:xfrm>
            <a:off x="9525000" y="2887613"/>
            <a:ext cx="1727424" cy="378791"/>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1161B"/>
                </a:solidFill>
                <a:latin typeface="Bebas Neue" pitchFamily="34" charset="0"/>
                <a:ea typeface="Bebas Neue" pitchFamily="34" charset="-122"/>
                <a:cs typeface="Bebas Neue" pitchFamily="34" charset="-120"/>
              </a:rPr>
              <a:t>RELEASE</a:t>
            </a:r>
            <a:endParaRPr lang="en-US" sz="2800" dirty="0"/>
          </a:p>
        </p:txBody>
      </p:sp>
      <p:sp>
        <p:nvSpPr>
          <p:cNvPr id="24" name="Text 22"/>
          <p:cNvSpPr/>
          <p:nvPr/>
        </p:nvSpPr>
        <p:spPr>
          <a:xfrm>
            <a:off x="9525000" y="3317187"/>
            <a:ext cx="1727424" cy="4781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C6168"/>
                </a:solidFill>
                <a:latin typeface="Space Grotesk" pitchFamily="34" charset="0"/>
                <a:ea typeface="Space Grotesk" pitchFamily="34" charset="-122"/>
                <a:cs typeface="Space Grotesk" pitchFamily="34" charset="-120"/>
              </a:rPr>
              <a:t>Bay detected clear, the next driver is in.</a:t>
            </a:r>
            <a:endParaRPr lang="en-US" sz="1300" dirty="0"/>
          </a:p>
        </p:txBody>
      </p:sp>
      <p:sp>
        <p:nvSpPr>
          <p:cNvPr id="25" name="Shape 23"/>
          <p:cNvSpPr/>
          <p:nvPr/>
        </p:nvSpPr>
        <p:spPr>
          <a:xfrm>
            <a:off x="812731" y="4619420"/>
            <a:ext cx="10566539" cy="0"/>
          </a:xfrm>
          <a:prstGeom prst="line">
            <a:avLst/>
          </a:prstGeom>
          <a:noFill/>
          <a:ln w="12700">
            <a:solidFill>
              <a:srgbClr val="DDDCD6"/>
            </a:solidFill>
            <a:prstDash val="solid"/>
          </a:ln>
        </p:spPr>
        <p:txBody>
          <a:bodyPr/>
          <a:lstStyle/>
          <a:p>
            <a:endParaRPr lang="en-DE"/>
          </a:p>
        </p:txBody>
      </p:sp>
      <p:sp>
        <p:nvSpPr>
          <p:cNvPr id="26" name="Shape 24"/>
          <p:cNvSpPr/>
          <p:nvPr/>
        </p:nvSpPr>
        <p:spPr>
          <a:xfrm>
            <a:off x="819081" y="4782827"/>
            <a:ext cx="3238569" cy="1052823"/>
          </a:xfrm>
          <a:prstGeom prst="roundRect">
            <a:avLst>
              <a:gd name="adj" fmla="val 9047"/>
            </a:avLst>
          </a:prstGeom>
          <a:solidFill>
            <a:srgbClr val="FFFFFF"/>
          </a:solidFill>
          <a:ln w="12700">
            <a:solidFill>
              <a:srgbClr val="5E1EEE"/>
            </a:solidFill>
            <a:prstDash val="solid"/>
          </a:ln>
        </p:spPr>
        <p:txBody>
          <a:bodyPr/>
          <a:lstStyle/>
          <a:p>
            <a:endParaRPr lang="en-DE"/>
          </a:p>
        </p:txBody>
      </p:sp>
      <p:sp>
        <p:nvSpPr>
          <p:cNvPr id="27" name="Text 25"/>
          <p:cNvSpPr/>
          <p:nvPr/>
        </p:nvSpPr>
        <p:spPr>
          <a:xfrm>
            <a:off x="963457" y="4901754"/>
            <a:ext cx="303831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1161B"/>
                </a:solidFill>
                <a:latin typeface="JetBrains Mono" pitchFamily="49" charset="0"/>
                <a:ea typeface="JetBrains Mono" pitchFamily="49" charset="-122"/>
                <a:cs typeface="JetBrains Mono" pitchFamily="49" charset="-120"/>
              </a:rPr>
              <a:t>APP</a:t>
            </a:r>
            <a:endParaRPr lang="en-US" sz="1200" dirty="0"/>
          </a:p>
        </p:txBody>
      </p:sp>
      <p:sp>
        <p:nvSpPr>
          <p:cNvPr id="28" name="Text 26"/>
          <p:cNvSpPr/>
          <p:nvPr/>
        </p:nvSpPr>
        <p:spPr>
          <a:xfrm>
            <a:off x="963457" y="5136945"/>
            <a:ext cx="3038311" cy="41192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C6168"/>
                </a:solidFill>
                <a:latin typeface="Space Grotesk" pitchFamily="34" charset="0"/>
                <a:ea typeface="Space Grotesk" pitchFamily="34" charset="-122"/>
                <a:cs typeface="Space Grotesk" pitchFamily="34" charset="-120"/>
              </a:rPr>
              <a:t>Enter your details and licence plate once, then book and pay</a:t>
            </a:r>
            <a:endParaRPr lang="en-US" sz="1200" dirty="0"/>
          </a:p>
        </p:txBody>
      </p:sp>
      <p:sp>
        <p:nvSpPr>
          <p:cNvPr id="29" name="Text 27"/>
          <p:cNvSpPr/>
          <p:nvPr/>
        </p:nvSpPr>
        <p:spPr>
          <a:xfrm>
            <a:off x="4152866" y="5151872"/>
            <a:ext cx="279435" cy="340139"/>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E1EEE"/>
                </a:solidFill>
                <a:latin typeface="Space Grotesk" pitchFamily="34" charset="0"/>
                <a:ea typeface="Space Grotesk" pitchFamily="34" charset="-122"/>
                <a:cs typeface="Space Grotesk" pitchFamily="34" charset="-120"/>
              </a:rPr>
              <a:t>→</a:t>
            </a:r>
            <a:endParaRPr lang="en-US" sz="1800" dirty="0"/>
          </a:p>
        </p:txBody>
      </p:sp>
      <p:sp>
        <p:nvSpPr>
          <p:cNvPr id="30" name="Shape 28"/>
          <p:cNvSpPr/>
          <p:nvPr/>
        </p:nvSpPr>
        <p:spPr>
          <a:xfrm>
            <a:off x="4476716" y="4782827"/>
            <a:ext cx="3238569" cy="1052823"/>
          </a:xfrm>
          <a:prstGeom prst="roundRect">
            <a:avLst>
              <a:gd name="adj" fmla="val 9047"/>
            </a:avLst>
          </a:prstGeom>
          <a:solidFill>
            <a:srgbClr val="5E1EEE"/>
          </a:solidFill>
          <a:ln w="12700">
            <a:solidFill>
              <a:srgbClr val="5E1EEE"/>
            </a:solidFill>
            <a:prstDash val="solid"/>
          </a:ln>
        </p:spPr>
        <p:txBody>
          <a:bodyPr/>
          <a:lstStyle/>
          <a:p>
            <a:endParaRPr lang="en-DE"/>
          </a:p>
        </p:txBody>
      </p:sp>
      <p:sp>
        <p:nvSpPr>
          <p:cNvPr id="31" name="Text 29"/>
          <p:cNvSpPr/>
          <p:nvPr/>
        </p:nvSpPr>
        <p:spPr>
          <a:xfrm>
            <a:off x="4621092" y="4901754"/>
            <a:ext cx="303831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3EF"/>
                </a:solidFill>
                <a:latin typeface="JetBrains Mono" pitchFamily="49" charset="0"/>
                <a:ea typeface="JetBrains Mono" pitchFamily="49" charset="-122"/>
                <a:cs typeface="JetBrains Mono" pitchFamily="49" charset="-120"/>
              </a:rPr>
              <a:t>ECURIOUS SERVER</a:t>
            </a:r>
            <a:endParaRPr lang="en-US" sz="1200" dirty="0"/>
          </a:p>
        </p:txBody>
      </p:sp>
      <p:sp>
        <p:nvSpPr>
          <p:cNvPr id="32" name="Text 30"/>
          <p:cNvSpPr/>
          <p:nvPr/>
        </p:nvSpPr>
        <p:spPr>
          <a:xfrm>
            <a:off x="4621092" y="5136945"/>
            <a:ext cx="3038311" cy="60518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DCD3FF"/>
                </a:solidFill>
                <a:latin typeface="Space Grotesk" pitchFamily="34" charset="0"/>
                <a:ea typeface="Space Grotesk" pitchFamily="34" charset="-122"/>
                <a:cs typeface="Space Grotesk" pitchFamily="34" charset="-120"/>
              </a:rPr>
              <a:t>Sends hold and open commands. Compliant with EU data protection law (GDPR).</a:t>
            </a:r>
            <a:endParaRPr lang="en-US" sz="1200" dirty="0"/>
          </a:p>
        </p:txBody>
      </p:sp>
      <p:sp>
        <p:nvSpPr>
          <p:cNvPr id="33" name="Text 31"/>
          <p:cNvSpPr/>
          <p:nvPr/>
        </p:nvSpPr>
        <p:spPr>
          <a:xfrm>
            <a:off x="7810500" y="5151872"/>
            <a:ext cx="279435" cy="340139"/>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E1EEE"/>
                </a:solidFill>
                <a:latin typeface="Space Grotesk" pitchFamily="34" charset="0"/>
                <a:ea typeface="Space Grotesk" pitchFamily="34" charset="-122"/>
                <a:cs typeface="Space Grotesk" pitchFamily="34" charset="-120"/>
              </a:rPr>
              <a:t>→</a:t>
            </a:r>
            <a:endParaRPr lang="en-US" sz="1800" dirty="0"/>
          </a:p>
        </p:txBody>
      </p:sp>
      <p:sp>
        <p:nvSpPr>
          <p:cNvPr id="34" name="Shape 32"/>
          <p:cNvSpPr/>
          <p:nvPr/>
        </p:nvSpPr>
        <p:spPr>
          <a:xfrm>
            <a:off x="8134350" y="4782827"/>
            <a:ext cx="3238569" cy="1052823"/>
          </a:xfrm>
          <a:prstGeom prst="roundRect">
            <a:avLst>
              <a:gd name="adj" fmla="val 9047"/>
            </a:avLst>
          </a:prstGeom>
          <a:solidFill>
            <a:srgbClr val="FFFFFF"/>
          </a:solidFill>
          <a:ln w="12700">
            <a:solidFill>
              <a:srgbClr val="5E1EEE"/>
            </a:solidFill>
            <a:prstDash val="solid"/>
          </a:ln>
        </p:spPr>
        <p:txBody>
          <a:bodyPr/>
          <a:lstStyle/>
          <a:p>
            <a:endParaRPr lang="en-DE"/>
          </a:p>
        </p:txBody>
      </p:sp>
      <p:sp>
        <p:nvSpPr>
          <p:cNvPr id="35" name="Text 33"/>
          <p:cNvSpPr/>
          <p:nvPr/>
        </p:nvSpPr>
        <p:spPr>
          <a:xfrm>
            <a:off x="8278726" y="4901754"/>
            <a:ext cx="303831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1161B"/>
                </a:solidFill>
                <a:latin typeface="JetBrains Mono" pitchFamily="49" charset="0"/>
                <a:ea typeface="JetBrains Mono" pitchFamily="49" charset="-122"/>
                <a:cs typeface="JetBrains Mono" pitchFamily="49" charset="-120"/>
              </a:rPr>
              <a:t>BAY + CAMERA</a:t>
            </a:r>
            <a:endParaRPr lang="en-US" sz="1200" dirty="0"/>
          </a:p>
        </p:txBody>
      </p:sp>
      <p:sp>
        <p:nvSpPr>
          <p:cNvPr id="36" name="Text 34"/>
          <p:cNvSpPr/>
          <p:nvPr/>
        </p:nvSpPr>
        <p:spPr>
          <a:xfrm>
            <a:off x="8278726" y="5136945"/>
            <a:ext cx="3038311" cy="41192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5C6168"/>
                </a:solidFill>
                <a:latin typeface="Space Grotesk" pitchFamily="34" charset="0"/>
                <a:ea typeface="Space Grotesk" pitchFamily="34" charset="-122"/>
                <a:cs typeface="Space Grotesk" pitchFamily="34" charset="-120"/>
              </a:rPr>
              <a:t>The gate recognises your plate and opens the bay</a:t>
            </a:r>
            <a:endParaRPr lang="en-US" sz="1200" dirty="0"/>
          </a:p>
        </p:txBody>
      </p:sp>
      <p:sp>
        <p:nvSpPr>
          <p:cNvPr id="37" name="Text 35"/>
          <p:cNvSpPr/>
          <p:nvPr/>
        </p:nvSpPr>
        <p:spPr>
          <a:xfrm>
            <a:off x="812731" y="6241811"/>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Charger data from GoingElectric.</a:t>
            </a:r>
            <a:endParaRPr lang="en-US" sz="1200" dirty="0"/>
          </a:p>
        </p:txBody>
      </p:sp>
      <p:sp>
        <p:nvSpPr>
          <p:cNvPr id="38" name="Text 36"/>
          <p:cNvSpPr/>
          <p:nvPr/>
        </p:nvSpPr>
        <p:spPr>
          <a:xfrm>
            <a:off x="10058470" y="6241811"/>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168"/>
                </a:solidFill>
                <a:latin typeface="JetBrains Mono" pitchFamily="49" charset="0"/>
                <a:ea typeface="JetBrains Mono" pitchFamily="49" charset="-122"/>
                <a:cs typeface="JetBrains Mono" pitchFamily="49" charset="-120"/>
              </a:rPr>
              <a:t>06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9E847"/>
        </a:solidFill>
        <a:effectLst/>
      </p:bgPr>
    </p:bg>
    <p:spTree>
      <p:nvGrpSpPr>
        <p:cNvPr id="1" name=""/>
        <p:cNvGrpSpPr/>
        <p:nvPr/>
      </p:nvGrpSpPr>
      <p:grpSpPr>
        <a:xfrm>
          <a:off x="0" y="0"/>
          <a:ext cx="0" cy="0"/>
          <a:chOff x="0" y="0"/>
          <a:chExt cx="0" cy="0"/>
        </a:xfrm>
      </p:grpSpPr>
      <p:pic>
        <p:nvPicPr>
          <p:cNvPr id="2" name="Image 0" descr="Voice booking example: the driver says Hey Siri, call BayWatch, asks for tomorrow at three for 45 minutes, the assistant offers Bay 1 from 15:00 to 15:45 for a 5 euro fee, the driver says yes, and it shows Booked"/>
          <p:cNvPicPr>
            <a:picLocks noChangeAspect="1"/>
          </p:cNvPicPr>
          <p:nvPr/>
        </p:nvPicPr>
        <p:blipFill>
          <a:blip r:embed="rId3"/>
          <a:srcRect t="22" b="22"/>
          <a:stretch/>
        </p:blipFill>
        <p:spPr>
          <a:xfrm>
            <a:off x="8223233" y="730234"/>
            <a:ext cx="3136900" cy="2825698"/>
          </a:xfrm>
          <a:prstGeom prst="roundRect">
            <a:avLst>
              <a:gd name="adj" fmla="val 3820"/>
            </a:avLst>
          </a:prstGeom>
        </p:spPr>
      </p:pic>
      <p:sp>
        <p:nvSpPr>
          <p:cNvPr id="3" name="Shape 0"/>
          <p:cNvSpPr/>
          <p:nvPr/>
        </p:nvSpPr>
        <p:spPr>
          <a:xfrm>
            <a:off x="8213708" y="720709"/>
            <a:ext cx="3155950" cy="2844748"/>
          </a:xfrm>
          <a:prstGeom prst="roundRect">
            <a:avLst>
              <a:gd name="adj" fmla="val 4130"/>
            </a:avLst>
          </a:prstGeom>
          <a:noFill/>
          <a:ln w="19050">
            <a:solidFill>
              <a:srgbClr val="11161B"/>
            </a:solidFill>
            <a:prstDash val="solid"/>
          </a:ln>
        </p:spPr>
        <p:txBody>
          <a:bodyPr/>
          <a:lstStyle/>
          <a:p>
            <a:endParaRPr lang="en-DE"/>
          </a:p>
        </p:txBody>
      </p:sp>
      <p:sp>
        <p:nvSpPr>
          <p:cNvPr id="4" name="Text 1"/>
          <p:cNvSpPr/>
          <p:nvPr/>
        </p:nvSpPr>
        <p:spPr>
          <a:xfrm>
            <a:off x="812731" y="711184"/>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11161B"/>
                </a:solidFill>
                <a:latin typeface="JetBrains Mono" pitchFamily="49" charset="0"/>
                <a:ea typeface="JetBrains Mono" pitchFamily="49" charset="-122"/>
                <a:cs typeface="JetBrains Mono" pitchFamily="49" charset="-120"/>
              </a:rPr>
              <a:t>BAYWATCH AI</a:t>
            </a:r>
            <a:endParaRPr lang="en-US" sz="1300" dirty="0"/>
          </a:p>
        </p:txBody>
      </p:sp>
      <p:sp>
        <p:nvSpPr>
          <p:cNvPr id="5" name="Text 2"/>
          <p:cNvSpPr>
            <a:spLocks noGrp="1"/>
          </p:cNvSpPr>
          <p:nvPr>
            <p:ph type="title"/>
          </p:nvPr>
        </p:nvSpPr>
        <p:spPr>
          <a:xfrm>
            <a:off x="812731" y="1039124"/>
            <a:ext cx="7063740" cy="1593574"/>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11161B"/>
                </a:solidFill>
                <a:latin typeface="Bebas Neue" pitchFamily="34" charset="0"/>
                <a:ea typeface="Bebas Neue" pitchFamily="34" charset="-122"/>
                <a:cs typeface="Bebas Neue" pitchFamily="34" charset="-120"/>
              </a:rPr>
              <a:t>ON THE ROAD AND THINGS COME UP?</a:t>
            </a:r>
            <a:endParaRPr lang="en-US" sz="6200" dirty="0"/>
          </a:p>
        </p:txBody>
      </p:sp>
      <p:sp>
        <p:nvSpPr>
          <p:cNvPr id="6" name="Text 3"/>
          <p:cNvSpPr/>
          <p:nvPr/>
        </p:nvSpPr>
        <p:spPr>
          <a:xfrm>
            <a:off x="812731" y="2759646"/>
            <a:ext cx="7063740" cy="400809"/>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11161B"/>
                </a:solidFill>
                <a:latin typeface="Space Grotesk" pitchFamily="34" charset="0"/>
                <a:ea typeface="Space Grotesk" pitchFamily="34" charset="-122"/>
                <a:cs typeface="Space Grotesk" pitchFamily="34" charset="-120"/>
              </a:rPr>
              <a:t>BayWatch AI is only one call away.</a:t>
            </a:r>
            <a:endParaRPr lang="en-US" sz="2300" dirty="0"/>
          </a:p>
        </p:txBody>
      </p:sp>
      <p:sp>
        <p:nvSpPr>
          <p:cNvPr id="7" name="Shape 4"/>
          <p:cNvSpPr/>
          <p:nvPr/>
        </p:nvSpPr>
        <p:spPr>
          <a:xfrm>
            <a:off x="812731" y="3823289"/>
            <a:ext cx="3420631" cy="2018713"/>
          </a:xfrm>
          <a:prstGeom prst="roundRect">
            <a:avLst>
              <a:gd name="adj" fmla="val 7549"/>
            </a:avLst>
          </a:prstGeom>
          <a:solidFill>
            <a:srgbClr val="11161B"/>
          </a:solidFill>
          <a:ln/>
        </p:spPr>
        <p:txBody>
          <a:bodyPr/>
          <a:lstStyle/>
          <a:p>
            <a:endParaRPr lang="en-DE"/>
          </a:p>
        </p:txBody>
      </p:sp>
      <p:sp>
        <p:nvSpPr>
          <p:cNvPr id="8" name="Text 5"/>
          <p:cNvSpPr/>
          <p:nvPr/>
        </p:nvSpPr>
        <p:spPr>
          <a:xfrm>
            <a:off x="1066731" y="4077289"/>
            <a:ext cx="3000010" cy="23522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E847"/>
                </a:solidFill>
                <a:latin typeface="JetBrains Mono" pitchFamily="49" charset="0"/>
                <a:ea typeface="JetBrains Mono" pitchFamily="49" charset="-122"/>
                <a:cs typeface="JetBrains Mono" pitchFamily="49" charset="-120"/>
              </a:rPr>
              <a:t>“CANCEL MY BOOKING”</a:t>
            </a:r>
            <a:endParaRPr lang="en-US" sz="1200" dirty="0"/>
          </a:p>
        </p:txBody>
      </p:sp>
      <p:sp>
        <p:nvSpPr>
          <p:cNvPr id="9" name="Text 6"/>
          <p:cNvSpPr/>
          <p:nvPr/>
        </p:nvSpPr>
        <p:spPr>
          <a:xfrm>
            <a:off x="1066731" y="4363296"/>
            <a:ext cx="3000010"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F4F3EF"/>
                </a:solidFill>
                <a:latin typeface="Bebas Neue" pitchFamily="34" charset="0"/>
                <a:ea typeface="Bebas Neue" pitchFamily="34" charset="-122"/>
                <a:cs typeface="Bebas Neue" pitchFamily="34" charset="-120"/>
              </a:rPr>
              <a:t>CANCEL</a:t>
            </a:r>
            <a:endParaRPr lang="en-US" sz="3200" dirty="0"/>
          </a:p>
        </p:txBody>
      </p:sp>
      <p:sp>
        <p:nvSpPr>
          <p:cNvPr id="10" name="Text 7"/>
          <p:cNvSpPr/>
          <p:nvPr/>
        </p:nvSpPr>
        <p:spPr>
          <a:xfrm>
            <a:off x="1066731" y="4842566"/>
            <a:ext cx="3000010" cy="52235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3A7AD"/>
                </a:solidFill>
                <a:latin typeface="Space Grotesk" pitchFamily="34" charset="0"/>
                <a:ea typeface="Space Grotesk" pitchFamily="34" charset="-122"/>
                <a:cs typeface="Space Grotesk" pitchFamily="34" charset="-120"/>
              </a:rPr>
              <a:t>Plans changed? Cancel by phone, the bay goes back to others.</a:t>
            </a:r>
            <a:endParaRPr lang="en-US" sz="1400" dirty="0"/>
          </a:p>
        </p:txBody>
      </p:sp>
      <p:sp>
        <p:nvSpPr>
          <p:cNvPr id="11" name="Shape 8"/>
          <p:cNvSpPr/>
          <p:nvPr/>
        </p:nvSpPr>
        <p:spPr>
          <a:xfrm>
            <a:off x="4385728" y="3823289"/>
            <a:ext cx="3420631" cy="2018713"/>
          </a:xfrm>
          <a:prstGeom prst="roundRect">
            <a:avLst>
              <a:gd name="adj" fmla="val 7549"/>
            </a:avLst>
          </a:prstGeom>
          <a:solidFill>
            <a:srgbClr val="11161B"/>
          </a:solidFill>
          <a:ln/>
        </p:spPr>
        <p:txBody>
          <a:bodyPr/>
          <a:lstStyle/>
          <a:p>
            <a:endParaRPr lang="en-DE"/>
          </a:p>
        </p:txBody>
      </p:sp>
      <p:sp>
        <p:nvSpPr>
          <p:cNvPr id="12" name="Text 9"/>
          <p:cNvSpPr/>
          <p:nvPr/>
        </p:nvSpPr>
        <p:spPr>
          <a:xfrm>
            <a:off x="4639728" y="4077289"/>
            <a:ext cx="3000010" cy="23522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E847"/>
                </a:solidFill>
                <a:latin typeface="JetBrains Mono" pitchFamily="49" charset="0"/>
                <a:ea typeface="JetBrains Mono" pitchFamily="49" charset="-122"/>
                <a:cs typeface="JetBrains Mono" pitchFamily="49" charset="-120"/>
              </a:rPr>
              <a:t>“FIND ME A BAY”</a:t>
            </a:r>
            <a:endParaRPr lang="en-US" sz="1200" dirty="0"/>
          </a:p>
        </p:txBody>
      </p:sp>
      <p:sp>
        <p:nvSpPr>
          <p:cNvPr id="13" name="Text 10"/>
          <p:cNvSpPr/>
          <p:nvPr/>
        </p:nvSpPr>
        <p:spPr>
          <a:xfrm>
            <a:off x="4639728" y="4363296"/>
            <a:ext cx="3000010"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F4F3EF"/>
                </a:solidFill>
                <a:latin typeface="Bebas Neue" pitchFamily="34" charset="0"/>
                <a:ea typeface="Bebas Neue" pitchFamily="34" charset="-122"/>
                <a:cs typeface="Bebas Neue" pitchFamily="34" charset="-120"/>
              </a:rPr>
              <a:t>BOOK</a:t>
            </a:r>
            <a:endParaRPr lang="en-US" sz="3200" dirty="0"/>
          </a:p>
        </p:txBody>
      </p:sp>
      <p:sp>
        <p:nvSpPr>
          <p:cNvPr id="14" name="Text 11"/>
          <p:cNvSpPr/>
          <p:nvPr/>
        </p:nvSpPr>
        <p:spPr>
          <a:xfrm>
            <a:off x="4639728" y="4842566"/>
            <a:ext cx="3000010" cy="52235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3A7AD"/>
                </a:solidFill>
                <a:latin typeface="Space Grotesk" pitchFamily="34" charset="0"/>
                <a:ea typeface="Space Grotesk" pitchFamily="34" charset="-122"/>
                <a:cs typeface="Space Grotesk" pitchFamily="34" charset="-120"/>
              </a:rPr>
              <a:t>Make a new booking hands-free, without opening the app.</a:t>
            </a:r>
            <a:endParaRPr lang="en-US" sz="1400" dirty="0"/>
          </a:p>
        </p:txBody>
      </p:sp>
      <p:sp>
        <p:nvSpPr>
          <p:cNvPr id="15" name="Shape 12"/>
          <p:cNvSpPr/>
          <p:nvPr/>
        </p:nvSpPr>
        <p:spPr>
          <a:xfrm>
            <a:off x="7958724" y="3823289"/>
            <a:ext cx="3420631" cy="2018713"/>
          </a:xfrm>
          <a:prstGeom prst="roundRect">
            <a:avLst>
              <a:gd name="adj" fmla="val 7549"/>
            </a:avLst>
          </a:prstGeom>
          <a:solidFill>
            <a:srgbClr val="11161B"/>
          </a:solidFill>
          <a:ln/>
        </p:spPr>
        <p:txBody>
          <a:bodyPr/>
          <a:lstStyle/>
          <a:p>
            <a:endParaRPr lang="en-DE"/>
          </a:p>
        </p:txBody>
      </p:sp>
      <p:sp>
        <p:nvSpPr>
          <p:cNvPr id="16" name="Text 13"/>
          <p:cNvSpPr/>
          <p:nvPr/>
        </p:nvSpPr>
        <p:spPr>
          <a:xfrm>
            <a:off x="8212724" y="4077289"/>
            <a:ext cx="3000010" cy="235226"/>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9E847"/>
                </a:solidFill>
                <a:latin typeface="JetBrains Mono" pitchFamily="49" charset="0"/>
                <a:ea typeface="JetBrains Mono" pitchFamily="49" charset="-122"/>
                <a:cs typeface="JetBrains Mono" pitchFamily="49" charset="-120"/>
              </a:rPr>
              <a:t>“YOUR BAY ISN’T FREE”</a:t>
            </a:r>
            <a:endParaRPr lang="en-US" sz="1200" dirty="0"/>
          </a:p>
        </p:txBody>
      </p:sp>
      <p:sp>
        <p:nvSpPr>
          <p:cNvPr id="17" name="Text 14"/>
          <p:cNvSpPr/>
          <p:nvPr/>
        </p:nvSpPr>
        <p:spPr>
          <a:xfrm>
            <a:off x="8212724" y="4363296"/>
            <a:ext cx="3000010"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F4F3EF"/>
                </a:solidFill>
                <a:latin typeface="Bebas Neue" pitchFamily="34" charset="0"/>
                <a:ea typeface="Bebas Neue" pitchFamily="34" charset="-122"/>
                <a:cs typeface="Bebas Neue" pitchFamily="34" charset="-120"/>
              </a:rPr>
              <a:t>REROUTE</a:t>
            </a:r>
            <a:endParaRPr lang="en-US" sz="3200" dirty="0"/>
          </a:p>
        </p:txBody>
      </p:sp>
      <p:sp>
        <p:nvSpPr>
          <p:cNvPr id="18" name="Text 15"/>
          <p:cNvSpPr/>
          <p:nvPr/>
        </p:nvSpPr>
        <p:spPr>
          <a:xfrm>
            <a:off x="8212724" y="4842566"/>
            <a:ext cx="3000010" cy="77083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3A7AD"/>
                </a:solidFill>
                <a:latin typeface="Space Grotesk" pitchFamily="34" charset="0"/>
                <a:ea typeface="Space Grotesk" pitchFamily="34" charset="-122"/>
                <a:cs typeface="Space Grotesk" pitchFamily="34" charset="-120"/>
              </a:rPr>
              <a:t>Your spot is unavailable due to an error? We call you in time and reroute you to the next free bay.</a:t>
            </a:r>
            <a:endParaRPr lang="en-US" sz="1400" dirty="0"/>
          </a:p>
        </p:txBody>
      </p:sp>
      <p:sp>
        <p:nvSpPr>
          <p:cNvPr id="19" name="Text 16"/>
          <p:cNvSpPr/>
          <p:nvPr/>
        </p:nvSpPr>
        <p:spPr>
          <a:xfrm>
            <a:off x="10058470" y="6241811"/>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1161B"/>
                </a:solidFill>
                <a:latin typeface="JetBrains Mono" pitchFamily="49" charset="0"/>
                <a:ea typeface="JetBrains Mono" pitchFamily="49" charset="-122"/>
                <a:cs typeface="JetBrains Mono" pitchFamily="49" charset="-120"/>
              </a:rPr>
              <a:t>07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1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731" y="1759189"/>
            <a:ext cx="3976820" cy="2311400"/>
          </a:xfrm>
          <a:prstGeom prst="rect">
            <a:avLst/>
          </a:prstGeom>
          <a:noFill/>
          <a:ln/>
        </p:spPr>
        <p:txBody>
          <a:bodyPr wrap="square" lIns="0" tIns="0" rIns="0" bIns="0" rtlCol="0" anchor="t">
            <a:normAutofit/>
          </a:bodyPr>
          <a:lstStyle/>
          <a:p>
            <a:pPr marL="0" indent="0" algn="l">
              <a:lnSpc>
                <a:spcPts val="9000"/>
              </a:lnSpc>
              <a:buNone/>
            </a:pPr>
            <a:r>
              <a:rPr lang="en-US" sz="10000" b="0" i="0" dirty="0">
                <a:solidFill>
                  <a:srgbClr val="F4F3EF"/>
                </a:solidFill>
                <a:latin typeface="Bebas Neue" pitchFamily="34" charset="0"/>
                <a:ea typeface="Bebas Neue" pitchFamily="34" charset="-122"/>
                <a:cs typeface="Bebas Neue" pitchFamily="34" charset="-120"/>
              </a:rPr>
              <a:t>DEMO </a:t>
            </a:r>
            <a:r>
              <a:rPr lang="en-US" sz="10000" b="0" i="0" dirty="0">
                <a:solidFill>
                  <a:srgbClr val="B69CFF"/>
                </a:solidFill>
                <a:latin typeface="Bebas Neue" pitchFamily="34" charset="0"/>
                <a:ea typeface="Bebas Neue" pitchFamily="34" charset="-122"/>
                <a:cs typeface="Bebas Neue" pitchFamily="34" charset="-120"/>
              </a:rPr>
              <a:t>VIDEO</a:t>
            </a:r>
            <a:endParaRPr lang="en-US" sz="10000" dirty="0"/>
          </a:p>
        </p:txBody>
      </p:sp>
      <p:sp>
        <p:nvSpPr>
          <p:cNvPr id="3" name="Text 1"/>
          <p:cNvSpPr/>
          <p:nvPr/>
        </p:nvSpPr>
        <p:spPr>
          <a:xfrm>
            <a:off x="812731" y="4299189"/>
            <a:ext cx="3976820" cy="621748"/>
          </a:xfrm>
          <a:prstGeom prst="rect">
            <a:avLst/>
          </a:prstGeom>
          <a:noFill/>
          <a:ln/>
        </p:spPr>
        <p:txBody>
          <a:bodyPr wrap="square" lIns="0" tIns="0" rIns="0" bIns="0" rtlCol="0" anchor="t">
            <a:normAutofit/>
          </a:bodyPr>
          <a:lstStyle/>
          <a:p>
            <a:pPr marL="0" indent="0" algn="l">
              <a:lnSpc>
                <a:spcPts val="2380"/>
              </a:lnSpc>
              <a:buNone/>
            </a:pPr>
            <a:r>
              <a:rPr lang="en-US" sz="1400" kern="0" spc="150" dirty="0">
                <a:solidFill>
                  <a:srgbClr val="A3A7AD"/>
                </a:solidFill>
                <a:latin typeface="JetBrains Mono" pitchFamily="49" charset="0"/>
                <a:ea typeface="JetBrains Mono" pitchFamily="49" charset="-122"/>
                <a:cs typeface="JetBrains Mono" pitchFamily="49" charset="-120"/>
              </a:rPr>
              <a:t>RESERVE → PLATE CHECK → BAY OPENS → CHARGE → RELEASE</a:t>
            </a:r>
            <a:endParaRPr lang="en-US" sz="1400" dirty="0"/>
          </a:p>
        </p:txBody>
      </p:sp>
      <p:pic>
        <p:nvPicPr>
          <p:cNvPr id="4" name="Image 0" descr="BayWatch demo: a team member sits in the test rig and talks to BayWatch to book a bay"/>
          <p:cNvPicPr>
            <a:picLocks noChangeAspect="1"/>
          </p:cNvPicPr>
          <p:nvPr/>
        </p:nvPicPr>
        <p:blipFill>
          <a:blip r:embed="rId5"/>
          <a:srcRect t="191" b="191"/>
          <a:stretch/>
        </p:blipFill>
        <p:spPr>
          <a:xfrm>
            <a:off x="5048319" y="1558925"/>
            <a:ext cx="6311900" cy="3536881"/>
          </a:xfrm>
          <a:prstGeom prst="roundRect">
            <a:avLst>
              <a:gd name="adj" fmla="val 3770"/>
            </a:avLst>
          </a:prstGeom>
        </p:spPr>
      </p:pic>
      <p:sp>
        <p:nvSpPr>
          <p:cNvPr id="5" name="Shape 2"/>
          <p:cNvSpPr/>
          <p:nvPr/>
        </p:nvSpPr>
        <p:spPr>
          <a:xfrm>
            <a:off x="5038794" y="1549400"/>
            <a:ext cx="6330950" cy="3555931"/>
          </a:xfrm>
          <a:prstGeom prst="roundRect">
            <a:avLst>
              <a:gd name="adj" fmla="val 4018"/>
            </a:avLst>
          </a:prstGeom>
          <a:noFill/>
          <a:ln w="19050">
            <a:solidFill>
              <a:srgbClr val="C9E847"/>
            </a:solidFill>
            <a:prstDash val="solid"/>
          </a:ln>
        </p:spPr>
        <p:txBody>
          <a:bodyPr/>
          <a:lstStyle/>
          <a:p>
            <a:endParaRPr lang="en-DE"/>
          </a:p>
        </p:txBody>
      </p:sp>
      <p:sp>
        <p:nvSpPr>
          <p:cNvPr id="6" name="Text 3"/>
          <p:cNvSpPr/>
          <p:nvPr/>
        </p:nvSpPr>
        <p:spPr>
          <a:xfrm>
            <a:off x="10058470" y="6241805"/>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08 / 16</a:t>
            </a:r>
            <a:endParaRPr lang="en-US" sz="1200" dirty="0"/>
          </a:p>
        </p:txBody>
      </p:sp>
      <p:pic>
        <p:nvPicPr>
          <p:cNvPr id="7" name="Baywatch">
            <a:hlinkClick r:id="" action="ppaction://media"/>
            <a:extLst>
              <a:ext uri="{FF2B5EF4-FFF2-40B4-BE49-F238E27FC236}">
                <a16:creationId xmlns:a16="http://schemas.microsoft.com/office/drawing/2014/main" id="{9C80D10B-B219-C2CB-F565-7778A82142AF}"/>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048319" y="1568450"/>
            <a:ext cx="6287788" cy="3536881"/>
          </a:xfrm>
          <a:prstGeom prst="rect">
            <a:avLst/>
          </a:prstGeom>
          <a:effectLst>
            <a:softEdge rad="508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16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F"/>
        </a:solidFill>
        <a:effectLst/>
      </p:bgPr>
    </p:bg>
    <p:spTree>
      <p:nvGrpSpPr>
        <p:cNvPr id="1" name=""/>
        <p:cNvGrpSpPr/>
        <p:nvPr/>
      </p:nvGrpSpPr>
      <p:grpSpPr>
        <a:xfrm>
          <a:off x="0" y="0"/>
          <a:ext cx="0" cy="0"/>
          <a:chOff x="0" y="0"/>
          <a:chExt cx="0" cy="0"/>
        </a:xfrm>
      </p:grpSpPr>
      <p:sp>
        <p:nvSpPr>
          <p:cNvPr id="2" name="Text 0"/>
          <p:cNvSpPr/>
          <p:nvPr/>
        </p:nvSpPr>
        <p:spPr>
          <a:xfrm>
            <a:off x="812731" y="711188"/>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5E1EEE"/>
                </a:solidFill>
                <a:latin typeface="JetBrains Mono" pitchFamily="49" charset="0"/>
                <a:ea typeface="JetBrains Mono" pitchFamily="49" charset="-122"/>
                <a:cs typeface="JetBrains Mono" pitchFamily="49" charset="-120"/>
              </a:rPr>
              <a:t>SOLVING NO-SHOWS</a:t>
            </a:r>
            <a:endParaRPr lang="en-US" sz="1300" dirty="0"/>
          </a:p>
        </p:txBody>
      </p:sp>
      <p:sp>
        <p:nvSpPr>
          <p:cNvPr id="3" name="Text 1"/>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11161B"/>
                </a:solidFill>
                <a:latin typeface="Bebas Neue" pitchFamily="34" charset="0"/>
                <a:ea typeface="Bebas Neue" pitchFamily="34" charset="-122"/>
                <a:cs typeface="Bebas Neue" pitchFamily="34" charset="-120"/>
              </a:rPr>
              <a:t>CANCEL EARLY, </a:t>
            </a:r>
            <a:r>
              <a:rPr lang="en-US" sz="6200" b="0" i="0" dirty="0">
                <a:solidFill>
                  <a:srgbClr val="5E1EEE"/>
                </a:solidFill>
                <a:latin typeface="Bebas Neue" pitchFamily="34" charset="0"/>
                <a:ea typeface="Bebas Neue" pitchFamily="34" charset="-122"/>
                <a:cs typeface="Bebas Neue" pitchFamily="34" charset="-120"/>
              </a:rPr>
              <a:t>PAY LESS</a:t>
            </a:r>
            <a:endParaRPr lang="en-US" sz="6200" dirty="0"/>
          </a:p>
        </p:txBody>
      </p:sp>
      <p:sp>
        <p:nvSpPr>
          <p:cNvPr id="4" name="Text 2"/>
          <p:cNvSpPr/>
          <p:nvPr/>
        </p:nvSpPr>
        <p:spPr>
          <a:xfrm>
            <a:off x="812731" y="4175125"/>
            <a:ext cx="2030221"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9A9EA5"/>
                </a:solidFill>
                <a:latin typeface="Bebas Neue" pitchFamily="34" charset="0"/>
                <a:ea typeface="Bebas Neue" pitchFamily="34" charset="-122"/>
                <a:cs typeface="Bebas Neue" pitchFamily="34" charset="-120"/>
              </a:rPr>
              <a:t>0%</a:t>
            </a:r>
            <a:endParaRPr lang="en-US" sz="3200" dirty="0"/>
          </a:p>
        </p:txBody>
      </p:sp>
      <p:sp>
        <p:nvSpPr>
          <p:cNvPr id="5" name="Shape 3"/>
          <p:cNvSpPr/>
          <p:nvPr/>
        </p:nvSpPr>
        <p:spPr>
          <a:xfrm>
            <a:off x="812731" y="4654395"/>
            <a:ext cx="1971088" cy="63500"/>
          </a:xfrm>
          <a:custGeom>
            <a:avLst/>
            <a:gdLst/>
            <a:ahLst/>
            <a:cxnLst/>
            <a:rect l="l" t="t" r="r" b="b"/>
            <a:pathLst>
              <a:path w="1971088" h="63500">
                <a:moveTo>
                  <a:pt x="38100" y="0"/>
                </a:moveTo>
                <a:lnTo>
                  <a:pt x="1932988" y="0"/>
                </a:lnTo>
                <a:arcTo wR="38100" hR="38100" stAng="16200000" swAng="5400000"/>
                <a:lnTo>
                  <a:pt x="1971088" y="63500"/>
                </a:lnTo>
                <a:lnTo>
                  <a:pt x="0" y="63500"/>
                </a:lnTo>
                <a:lnTo>
                  <a:pt x="0" y="38100"/>
                </a:lnTo>
                <a:arcTo wR="38100" hR="38100" stAng="10800000" swAng="5400000"/>
                <a:close/>
              </a:path>
            </a:pathLst>
          </a:custGeom>
          <a:solidFill>
            <a:srgbClr val="9A9EA5"/>
          </a:solidFill>
          <a:ln/>
        </p:spPr>
        <p:txBody>
          <a:bodyPr/>
          <a:lstStyle/>
          <a:p>
            <a:endParaRPr lang="en-DE"/>
          </a:p>
        </p:txBody>
      </p:sp>
      <p:sp>
        <p:nvSpPr>
          <p:cNvPr id="6" name="Text 4"/>
          <p:cNvSpPr/>
          <p:nvPr/>
        </p:nvSpPr>
        <p:spPr>
          <a:xfrm>
            <a:off x="812731" y="4794083"/>
            <a:ext cx="2030221" cy="235226"/>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11161B"/>
                </a:solidFill>
                <a:latin typeface="JetBrains Mono" pitchFamily="49" charset="0"/>
                <a:ea typeface="JetBrains Mono" pitchFamily="49" charset="-122"/>
                <a:cs typeface="JetBrains Mono" pitchFamily="49" charset="-120"/>
              </a:rPr>
              <a:t>&gt;24 H BEFORE</a:t>
            </a:r>
            <a:endParaRPr lang="en-US" sz="1200" dirty="0"/>
          </a:p>
        </p:txBody>
      </p:sp>
      <p:sp>
        <p:nvSpPr>
          <p:cNvPr id="7" name="Text 5"/>
          <p:cNvSpPr/>
          <p:nvPr/>
        </p:nvSpPr>
        <p:spPr>
          <a:xfrm>
            <a:off x="812731" y="5080087"/>
            <a:ext cx="203022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€0 kept</a:t>
            </a:r>
            <a:endParaRPr lang="en-US" sz="1200" dirty="0"/>
          </a:p>
        </p:txBody>
      </p:sp>
      <p:sp>
        <p:nvSpPr>
          <p:cNvPr id="8" name="Text 6"/>
          <p:cNvSpPr/>
          <p:nvPr/>
        </p:nvSpPr>
        <p:spPr>
          <a:xfrm>
            <a:off x="2961550" y="3756081"/>
            <a:ext cx="2030221"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9B83F0"/>
                </a:solidFill>
                <a:latin typeface="Bebas Neue" pitchFamily="34" charset="0"/>
                <a:ea typeface="Bebas Neue" pitchFamily="34" charset="-122"/>
                <a:cs typeface="Bebas Neue" pitchFamily="34" charset="-120"/>
              </a:rPr>
              <a:t>25%</a:t>
            </a:r>
            <a:endParaRPr lang="en-US" sz="3200" dirty="0"/>
          </a:p>
        </p:txBody>
      </p:sp>
      <p:sp>
        <p:nvSpPr>
          <p:cNvPr id="9" name="Shape 7"/>
          <p:cNvSpPr/>
          <p:nvPr/>
        </p:nvSpPr>
        <p:spPr>
          <a:xfrm>
            <a:off x="2961550" y="4235351"/>
            <a:ext cx="1971088" cy="482548"/>
          </a:xfrm>
          <a:custGeom>
            <a:avLst/>
            <a:gdLst/>
            <a:ahLst/>
            <a:cxnLst/>
            <a:rect l="l" t="t" r="r" b="b"/>
            <a:pathLst>
              <a:path w="1971088" h="482548">
                <a:moveTo>
                  <a:pt x="63500" y="0"/>
                </a:moveTo>
                <a:lnTo>
                  <a:pt x="1907588" y="0"/>
                </a:lnTo>
                <a:arcTo wR="63500" hR="63500" stAng="16200000" swAng="5400000"/>
                <a:lnTo>
                  <a:pt x="1971088" y="482548"/>
                </a:lnTo>
                <a:lnTo>
                  <a:pt x="0" y="482548"/>
                </a:lnTo>
                <a:lnTo>
                  <a:pt x="0" y="63500"/>
                </a:lnTo>
                <a:arcTo wR="63500" hR="63500" stAng="10800000" swAng="5400000"/>
                <a:close/>
              </a:path>
            </a:pathLst>
          </a:custGeom>
          <a:solidFill>
            <a:srgbClr val="B69CFF"/>
          </a:solidFill>
          <a:ln/>
        </p:spPr>
        <p:txBody>
          <a:bodyPr/>
          <a:lstStyle/>
          <a:p>
            <a:endParaRPr lang="en-DE"/>
          </a:p>
        </p:txBody>
      </p:sp>
      <p:sp>
        <p:nvSpPr>
          <p:cNvPr id="10" name="Text 8"/>
          <p:cNvSpPr/>
          <p:nvPr/>
        </p:nvSpPr>
        <p:spPr>
          <a:xfrm>
            <a:off x="2961550" y="4794083"/>
            <a:ext cx="2030221" cy="235226"/>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11161B"/>
                </a:solidFill>
                <a:latin typeface="JetBrains Mono" pitchFamily="49" charset="0"/>
                <a:ea typeface="JetBrains Mono" pitchFamily="49" charset="-122"/>
                <a:cs typeface="JetBrains Mono" pitchFamily="49" charset="-120"/>
              </a:rPr>
              <a:t>24 H – 2 H</a:t>
            </a:r>
            <a:endParaRPr lang="en-US" sz="1200" dirty="0"/>
          </a:p>
        </p:txBody>
      </p:sp>
      <p:sp>
        <p:nvSpPr>
          <p:cNvPr id="11" name="Text 9"/>
          <p:cNvSpPr/>
          <p:nvPr/>
        </p:nvSpPr>
        <p:spPr>
          <a:xfrm>
            <a:off x="2961550" y="5080087"/>
            <a:ext cx="203022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€1.25 kept</a:t>
            </a:r>
            <a:endParaRPr lang="en-US" sz="1200" dirty="0"/>
          </a:p>
        </p:txBody>
      </p:sp>
      <p:sp>
        <p:nvSpPr>
          <p:cNvPr id="12" name="Text 10"/>
          <p:cNvSpPr/>
          <p:nvPr/>
        </p:nvSpPr>
        <p:spPr>
          <a:xfrm>
            <a:off x="5110370" y="3286125"/>
            <a:ext cx="2030221"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8B5CF6"/>
                </a:solidFill>
                <a:latin typeface="Bebas Neue" pitchFamily="34" charset="0"/>
                <a:ea typeface="Bebas Neue" pitchFamily="34" charset="-122"/>
                <a:cs typeface="Bebas Neue" pitchFamily="34" charset="-120"/>
              </a:rPr>
              <a:t>50%</a:t>
            </a:r>
            <a:endParaRPr lang="en-US" sz="3200" dirty="0"/>
          </a:p>
        </p:txBody>
      </p:sp>
      <p:sp>
        <p:nvSpPr>
          <p:cNvPr id="13" name="Shape 11"/>
          <p:cNvSpPr/>
          <p:nvPr/>
        </p:nvSpPr>
        <p:spPr>
          <a:xfrm>
            <a:off x="5110370" y="3765395"/>
            <a:ext cx="1971088" cy="952500"/>
          </a:xfrm>
          <a:custGeom>
            <a:avLst/>
            <a:gdLst/>
            <a:ahLst/>
            <a:cxnLst/>
            <a:rect l="l" t="t" r="r" b="b"/>
            <a:pathLst>
              <a:path w="1971088" h="952500">
                <a:moveTo>
                  <a:pt x="63500" y="0"/>
                </a:moveTo>
                <a:lnTo>
                  <a:pt x="1907588" y="0"/>
                </a:lnTo>
                <a:arcTo wR="63500" hR="63500" stAng="16200000" swAng="5400000"/>
                <a:lnTo>
                  <a:pt x="1971088" y="952500"/>
                </a:lnTo>
                <a:lnTo>
                  <a:pt x="0" y="952500"/>
                </a:lnTo>
                <a:lnTo>
                  <a:pt x="0" y="63500"/>
                </a:lnTo>
                <a:arcTo wR="63500" hR="63500" stAng="10800000" swAng="5400000"/>
                <a:close/>
              </a:path>
            </a:pathLst>
          </a:custGeom>
          <a:solidFill>
            <a:srgbClr val="8B5CF6"/>
          </a:solidFill>
          <a:ln/>
        </p:spPr>
        <p:txBody>
          <a:bodyPr/>
          <a:lstStyle/>
          <a:p>
            <a:endParaRPr lang="en-DE"/>
          </a:p>
        </p:txBody>
      </p:sp>
      <p:sp>
        <p:nvSpPr>
          <p:cNvPr id="14" name="Text 12"/>
          <p:cNvSpPr/>
          <p:nvPr/>
        </p:nvSpPr>
        <p:spPr>
          <a:xfrm>
            <a:off x="5110370" y="4794083"/>
            <a:ext cx="2030221" cy="235226"/>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11161B"/>
                </a:solidFill>
                <a:latin typeface="JetBrains Mono" pitchFamily="49" charset="0"/>
                <a:ea typeface="JetBrains Mono" pitchFamily="49" charset="-122"/>
                <a:cs typeface="JetBrains Mono" pitchFamily="49" charset="-120"/>
              </a:rPr>
              <a:t>2 H – 30 MIN</a:t>
            </a:r>
            <a:endParaRPr lang="en-US" sz="1200" dirty="0"/>
          </a:p>
        </p:txBody>
      </p:sp>
      <p:sp>
        <p:nvSpPr>
          <p:cNvPr id="15" name="Text 13"/>
          <p:cNvSpPr/>
          <p:nvPr/>
        </p:nvSpPr>
        <p:spPr>
          <a:xfrm>
            <a:off x="5110370" y="5080087"/>
            <a:ext cx="203022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€2.50 kept</a:t>
            </a:r>
            <a:endParaRPr lang="en-US" sz="1200" dirty="0"/>
          </a:p>
        </p:txBody>
      </p:sp>
      <p:sp>
        <p:nvSpPr>
          <p:cNvPr id="16" name="Text 14"/>
          <p:cNvSpPr/>
          <p:nvPr/>
        </p:nvSpPr>
        <p:spPr>
          <a:xfrm>
            <a:off x="7259189" y="2714625"/>
            <a:ext cx="2030221"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5E1EEE"/>
                </a:solidFill>
                <a:latin typeface="Bebas Neue" pitchFamily="34" charset="0"/>
                <a:ea typeface="Bebas Neue" pitchFamily="34" charset="-122"/>
                <a:cs typeface="Bebas Neue" pitchFamily="34" charset="-120"/>
              </a:rPr>
              <a:t>80%</a:t>
            </a:r>
            <a:endParaRPr lang="en-US" sz="3200" dirty="0"/>
          </a:p>
        </p:txBody>
      </p:sp>
      <p:sp>
        <p:nvSpPr>
          <p:cNvPr id="17" name="Shape 15"/>
          <p:cNvSpPr/>
          <p:nvPr/>
        </p:nvSpPr>
        <p:spPr>
          <a:xfrm>
            <a:off x="7259189" y="3193895"/>
            <a:ext cx="1971088" cy="1524000"/>
          </a:xfrm>
          <a:custGeom>
            <a:avLst/>
            <a:gdLst/>
            <a:ahLst/>
            <a:cxnLst/>
            <a:rect l="l" t="t" r="r" b="b"/>
            <a:pathLst>
              <a:path w="1971088" h="1524000">
                <a:moveTo>
                  <a:pt x="63500" y="0"/>
                </a:moveTo>
                <a:lnTo>
                  <a:pt x="1907588" y="0"/>
                </a:lnTo>
                <a:arcTo wR="63500" hR="63500" stAng="16200000" swAng="5400000"/>
                <a:lnTo>
                  <a:pt x="1971088" y="1524000"/>
                </a:lnTo>
                <a:lnTo>
                  <a:pt x="0" y="1524000"/>
                </a:lnTo>
                <a:lnTo>
                  <a:pt x="0" y="63500"/>
                </a:lnTo>
                <a:arcTo wR="63500" hR="63500" stAng="10800000" swAng="5400000"/>
                <a:close/>
              </a:path>
            </a:pathLst>
          </a:custGeom>
          <a:solidFill>
            <a:srgbClr val="5E1EEE"/>
          </a:solidFill>
          <a:ln/>
        </p:spPr>
        <p:txBody>
          <a:bodyPr/>
          <a:lstStyle/>
          <a:p>
            <a:endParaRPr lang="en-DE"/>
          </a:p>
        </p:txBody>
      </p:sp>
      <p:sp>
        <p:nvSpPr>
          <p:cNvPr id="18" name="Text 16"/>
          <p:cNvSpPr/>
          <p:nvPr/>
        </p:nvSpPr>
        <p:spPr>
          <a:xfrm>
            <a:off x="7259189" y="4794083"/>
            <a:ext cx="2030221" cy="235226"/>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11161B"/>
                </a:solidFill>
                <a:latin typeface="JetBrains Mono" pitchFamily="49" charset="0"/>
                <a:ea typeface="JetBrains Mono" pitchFamily="49" charset="-122"/>
                <a:cs typeface="JetBrains Mono" pitchFamily="49" charset="-120"/>
              </a:rPr>
              <a:t>&lt;30 MIN</a:t>
            </a:r>
            <a:endParaRPr lang="en-US" sz="1200" dirty="0"/>
          </a:p>
        </p:txBody>
      </p:sp>
      <p:sp>
        <p:nvSpPr>
          <p:cNvPr id="19" name="Text 17"/>
          <p:cNvSpPr/>
          <p:nvPr/>
        </p:nvSpPr>
        <p:spPr>
          <a:xfrm>
            <a:off x="7259189" y="5080087"/>
            <a:ext cx="203022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€4.00 kept</a:t>
            </a:r>
            <a:endParaRPr lang="en-US" sz="1200" dirty="0"/>
          </a:p>
        </p:txBody>
      </p:sp>
      <p:sp>
        <p:nvSpPr>
          <p:cNvPr id="20" name="Text 18"/>
          <p:cNvSpPr/>
          <p:nvPr/>
        </p:nvSpPr>
        <p:spPr>
          <a:xfrm>
            <a:off x="9408009" y="2333625"/>
            <a:ext cx="2030221" cy="428487"/>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11161B"/>
                </a:solidFill>
                <a:latin typeface="Bebas Neue" pitchFamily="34" charset="0"/>
                <a:ea typeface="Bebas Neue" pitchFamily="34" charset="-122"/>
                <a:cs typeface="Bebas Neue" pitchFamily="34" charset="-120"/>
              </a:rPr>
              <a:t>100%</a:t>
            </a:r>
            <a:endParaRPr lang="en-US" sz="3200" dirty="0"/>
          </a:p>
        </p:txBody>
      </p:sp>
      <p:sp>
        <p:nvSpPr>
          <p:cNvPr id="21" name="Shape 19"/>
          <p:cNvSpPr/>
          <p:nvPr/>
        </p:nvSpPr>
        <p:spPr>
          <a:xfrm>
            <a:off x="9408009" y="2812895"/>
            <a:ext cx="1971088" cy="1905000"/>
          </a:xfrm>
          <a:custGeom>
            <a:avLst/>
            <a:gdLst/>
            <a:ahLst/>
            <a:cxnLst/>
            <a:rect l="l" t="t" r="r" b="b"/>
            <a:pathLst>
              <a:path w="1971088" h="1905000">
                <a:moveTo>
                  <a:pt x="63500" y="0"/>
                </a:moveTo>
                <a:lnTo>
                  <a:pt x="1907588" y="0"/>
                </a:lnTo>
                <a:arcTo wR="63500" hR="63500" stAng="16200000" swAng="5400000"/>
                <a:lnTo>
                  <a:pt x="1971088" y="1905000"/>
                </a:lnTo>
                <a:lnTo>
                  <a:pt x="0" y="1905000"/>
                </a:lnTo>
                <a:lnTo>
                  <a:pt x="0" y="63500"/>
                </a:lnTo>
                <a:arcTo wR="63500" hR="63500" stAng="10800000" swAng="5400000"/>
                <a:close/>
              </a:path>
            </a:pathLst>
          </a:custGeom>
          <a:solidFill>
            <a:srgbClr val="11161B"/>
          </a:solidFill>
          <a:ln/>
        </p:spPr>
        <p:txBody>
          <a:bodyPr/>
          <a:lstStyle/>
          <a:p>
            <a:endParaRPr lang="en-DE"/>
          </a:p>
        </p:txBody>
      </p:sp>
      <p:sp>
        <p:nvSpPr>
          <p:cNvPr id="22" name="Text 20"/>
          <p:cNvSpPr/>
          <p:nvPr/>
        </p:nvSpPr>
        <p:spPr>
          <a:xfrm>
            <a:off x="9408009" y="4794083"/>
            <a:ext cx="2030221" cy="235226"/>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11161B"/>
                </a:solidFill>
                <a:latin typeface="JetBrains Mono" pitchFamily="49" charset="0"/>
                <a:ea typeface="JetBrains Mono" pitchFamily="49" charset="-122"/>
                <a:cs typeface="JetBrains Mono" pitchFamily="49" charset="-120"/>
              </a:rPr>
              <a:t>NO-SHOW</a:t>
            </a:r>
            <a:endParaRPr lang="en-US" sz="1200" dirty="0"/>
          </a:p>
        </p:txBody>
      </p:sp>
      <p:sp>
        <p:nvSpPr>
          <p:cNvPr id="23" name="Text 21"/>
          <p:cNvSpPr/>
          <p:nvPr/>
        </p:nvSpPr>
        <p:spPr>
          <a:xfrm>
            <a:off x="9408009" y="5080087"/>
            <a:ext cx="2030221"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€5.00 kept</a:t>
            </a:r>
            <a:endParaRPr lang="en-US" sz="1200" dirty="0"/>
          </a:p>
        </p:txBody>
      </p:sp>
      <p:sp>
        <p:nvSpPr>
          <p:cNvPr id="24" name="Text 22"/>
          <p:cNvSpPr/>
          <p:nvPr/>
        </p:nvSpPr>
        <p:spPr>
          <a:xfrm>
            <a:off x="812731" y="5543860"/>
            <a:ext cx="10883535" cy="323539"/>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1161B"/>
                </a:solidFill>
                <a:latin typeface="Space Grotesk" pitchFamily="34" charset="0"/>
                <a:ea typeface="Space Grotesk" pitchFamily="34" charset="-122"/>
                <a:cs typeface="Space Grotesk" pitchFamily="34" charset="-120"/>
              </a:rPr>
              <a:t>Reminders at 24 h, 2 h, 30 min and 5 min. </a:t>
            </a:r>
            <a:r>
              <a:rPr lang="en-US" sz="1700" dirty="0">
                <a:solidFill>
                  <a:srgbClr val="5E1EEE"/>
                </a:solidFill>
                <a:latin typeface="Space Grotesk" pitchFamily="34" charset="0"/>
                <a:ea typeface="Space Grotesk" pitchFamily="34" charset="-122"/>
                <a:cs typeface="Space Grotesk" pitchFamily="34" charset="-120"/>
              </a:rPr>
              <a:t>Drivers cancel in time, bays go back to others.</a:t>
            </a:r>
            <a:endParaRPr lang="en-US" sz="1700" dirty="0"/>
          </a:p>
        </p:txBody>
      </p:sp>
      <p:sp>
        <p:nvSpPr>
          <p:cNvPr id="25" name="Text 23"/>
          <p:cNvSpPr/>
          <p:nvPr/>
        </p:nvSpPr>
        <p:spPr>
          <a:xfrm>
            <a:off x="812731" y="6241808"/>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Share of a €5 booking kept by BayWatch, never an extra penalty. Proposed pilot rules.</a:t>
            </a:r>
            <a:endParaRPr lang="en-US" sz="1200" dirty="0"/>
          </a:p>
        </p:txBody>
      </p:sp>
      <p:sp>
        <p:nvSpPr>
          <p:cNvPr id="26" name="Text 24"/>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168"/>
                </a:solidFill>
                <a:latin typeface="JetBrains Mono" pitchFamily="49" charset="0"/>
                <a:ea typeface="JetBrains Mono" pitchFamily="49" charset="-122"/>
                <a:cs typeface="JetBrains Mono" pitchFamily="49" charset="-120"/>
              </a:rPr>
              <a:t>09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812731" y="711188"/>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SOLVING BLOCKED BAYS</a:t>
            </a:r>
            <a:endParaRPr lang="en-US" sz="1300" dirty="0"/>
          </a:p>
        </p:txBody>
      </p:sp>
      <p:sp>
        <p:nvSpPr>
          <p:cNvPr id="3" name="Text 1"/>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F4F3EF"/>
                </a:solidFill>
                <a:latin typeface="Bebas Neue" pitchFamily="34" charset="0"/>
                <a:ea typeface="Bebas Neue" pitchFamily="34" charset="-122"/>
                <a:cs typeface="Bebas Neue" pitchFamily="34" charset="-120"/>
              </a:rPr>
              <a:t>BLOCKED? </a:t>
            </a:r>
            <a:r>
              <a:rPr lang="en-US" sz="6200" b="0" i="0" dirty="0">
                <a:solidFill>
                  <a:srgbClr val="C9E847"/>
                </a:solidFill>
                <a:latin typeface="Bebas Neue" pitchFamily="34" charset="0"/>
                <a:ea typeface="Bebas Neue" pitchFamily="34" charset="-122"/>
                <a:cs typeface="Bebas Neue" pitchFamily="34" charset="-120"/>
              </a:rPr>
              <a:t>WE’VE GOT YOU.</a:t>
            </a:r>
            <a:endParaRPr lang="en-US" sz="6200" dirty="0"/>
          </a:p>
        </p:txBody>
      </p:sp>
      <p:sp>
        <p:nvSpPr>
          <p:cNvPr id="4" name="Shape 2"/>
          <p:cNvSpPr/>
          <p:nvPr/>
        </p:nvSpPr>
        <p:spPr>
          <a:xfrm>
            <a:off x="815906" y="2080301"/>
            <a:ext cx="5175371" cy="3758527"/>
          </a:xfrm>
          <a:prstGeom prst="roundRect">
            <a:avLst>
              <a:gd name="adj" fmla="val 3970"/>
            </a:avLst>
          </a:prstGeom>
          <a:solidFill>
            <a:srgbClr val="181D23"/>
          </a:solidFill>
          <a:ln w="6350">
            <a:solidFill>
              <a:srgbClr val="262C33"/>
            </a:solidFill>
            <a:prstDash val="solid"/>
          </a:ln>
        </p:spPr>
        <p:txBody>
          <a:bodyPr/>
          <a:lstStyle/>
          <a:p>
            <a:endParaRPr lang="en-DE"/>
          </a:p>
        </p:txBody>
      </p:sp>
      <p:sp>
        <p:nvSpPr>
          <p:cNvPr id="5" name="Text 3"/>
          <p:cNvSpPr/>
          <p:nvPr/>
        </p:nvSpPr>
        <p:spPr>
          <a:xfrm>
            <a:off x="1097618" y="2362014"/>
            <a:ext cx="4750305" cy="221853"/>
          </a:xfrm>
          <a:prstGeom prst="rect">
            <a:avLst/>
          </a:prstGeom>
          <a:noFill/>
          <a:ln/>
        </p:spPr>
        <p:txBody>
          <a:bodyPr wrap="square" lIns="0" tIns="0" rIns="0" bIns="0" rtlCol="0" anchor="t">
            <a:normAutofit/>
          </a:bodyPr>
          <a:lstStyle/>
          <a:p>
            <a:pPr marL="0" indent="0" algn="l">
              <a:lnSpc>
                <a:spcPts val="1606"/>
              </a:lnSpc>
              <a:buNone/>
            </a:pPr>
            <a:r>
              <a:rPr lang="en-US" sz="1148" kern="0" spc="200" dirty="0">
                <a:solidFill>
                  <a:srgbClr val="B69CFF"/>
                </a:solidFill>
                <a:latin typeface="JetBrains Mono" pitchFamily="49" charset="0"/>
                <a:ea typeface="JetBrains Mono" pitchFamily="49" charset="-122"/>
                <a:cs typeface="JetBrains Mono" pitchFamily="49" charset="-120"/>
              </a:rPr>
              <a:t>BAY BLOCKED BEFORE YOU ARRIVE</a:t>
            </a:r>
            <a:endParaRPr lang="en-US" sz="1148" dirty="0"/>
          </a:p>
        </p:txBody>
      </p:sp>
      <p:sp>
        <p:nvSpPr>
          <p:cNvPr id="6" name="Text 4"/>
          <p:cNvSpPr/>
          <p:nvPr/>
        </p:nvSpPr>
        <p:spPr>
          <a:xfrm>
            <a:off x="1097618" y="2736248"/>
            <a:ext cx="4750305" cy="495818"/>
          </a:xfrm>
          <a:prstGeom prst="rect">
            <a:avLst/>
          </a:prstGeom>
          <a:noFill/>
          <a:ln/>
        </p:spPr>
        <p:txBody>
          <a:bodyPr wrap="square" lIns="0" tIns="0" rIns="0" bIns="0" rtlCol="0" anchor="t">
            <a:normAutofit/>
          </a:bodyPr>
          <a:lstStyle/>
          <a:p>
            <a:pPr marL="0" indent="0" algn="l">
              <a:lnSpc>
                <a:spcPts val="3774"/>
              </a:lnSpc>
              <a:buNone/>
            </a:pPr>
            <a:r>
              <a:rPr lang="en-US" sz="3431" dirty="0">
                <a:solidFill>
                  <a:srgbClr val="F4F3EF"/>
                </a:solidFill>
                <a:latin typeface="Bebas Neue" pitchFamily="34" charset="0"/>
                <a:ea typeface="Bebas Neue" pitchFamily="34" charset="-122"/>
                <a:cs typeface="Bebas Neue" pitchFamily="34" charset="-120"/>
              </a:rPr>
              <a:t>CAMERA SPOTS IT</a:t>
            </a:r>
            <a:endParaRPr lang="en-US" sz="3431" dirty="0"/>
          </a:p>
        </p:txBody>
      </p:sp>
      <p:sp>
        <p:nvSpPr>
          <p:cNvPr id="7" name="Text 5"/>
          <p:cNvSpPr/>
          <p:nvPr/>
        </p:nvSpPr>
        <p:spPr>
          <a:xfrm>
            <a:off x="1097618" y="3282851"/>
            <a:ext cx="4750305" cy="495869"/>
          </a:xfrm>
          <a:prstGeom prst="rect">
            <a:avLst/>
          </a:prstGeom>
          <a:noFill/>
          <a:ln/>
        </p:spPr>
        <p:txBody>
          <a:bodyPr wrap="square" lIns="0" tIns="0" rIns="0" bIns="0" rtlCol="0" anchor="t">
            <a:normAutofit/>
          </a:bodyPr>
          <a:lstStyle/>
          <a:p>
            <a:pPr marL="0" indent="0" algn="l">
              <a:lnSpc>
                <a:spcPts val="3737"/>
              </a:lnSpc>
              <a:buNone/>
            </a:pPr>
            <a:r>
              <a:rPr lang="en-US" sz="3398" dirty="0">
                <a:solidFill>
                  <a:srgbClr val="9A9EA5"/>
                </a:solidFill>
                <a:latin typeface="Bebas Neue" pitchFamily="34" charset="0"/>
                <a:ea typeface="Bebas Neue" pitchFamily="34" charset="-122"/>
                <a:cs typeface="Bebas Neue" pitchFamily="34" charset="-120"/>
              </a:rPr>
              <a:t>YOU GET A CALL</a:t>
            </a:r>
            <a:endParaRPr lang="en-US" sz="3398" dirty="0"/>
          </a:p>
        </p:txBody>
      </p:sp>
      <p:sp>
        <p:nvSpPr>
          <p:cNvPr id="8" name="Text 6"/>
          <p:cNvSpPr/>
          <p:nvPr/>
        </p:nvSpPr>
        <p:spPr>
          <a:xfrm>
            <a:off x="1097618" y="3829503"/>
            <a:ext cx="4750305" cy="495869"/>
          </a:xfrm>
          <a:prstGeom prst="rect">
            <a:avLst/>
          </a:prstGeom>
          <a:noFill/>
          <a:ln/>
        </p:spPr>
        <p:txBody>
          <a:bodyPr wrap="square" lIns="0" tIns="0" rIns="0" bIns="0" rtlCol="0" anchor="t">
            <a:normAutofit/>
          </a:bodyPr>
          <a:lstStyle/>
          <a:p>
            <a:pPr marL="0" indent="0" algn="l">
              <a:lnSpc>
                <a:spcPts val="3737"/>
              </a:lnSpc>
              <a:buNone/>
            </a:pPr>
            <a:r>
              <a:rPr lang="en-US" sz="3398" dirty="0">
                <a:solidFill>
                  <a:srgbClr val="9A9EA5"/>
                </a:solidFill>
                <a:latin typeface="Bebas Neue" pitchFamily="34" charset="0"/>
                <a:ea typeface="Bebas Neue" pitchFamily="34" charset="-122"/>
                <a:cs typeface="Bebas Neue" pitchFamily="34" charset="-120"/>
              </a:rPr>
              <a:t>REROUTE 10 MIN EARLY</a:t>
            </a:r>
            <a:endParaRPr lang="en-US" sz="3398" dirty="0"/>
          </a:p>
        </p:txBody>
      </p:sp>
      <p:sp>
        <p:nvSpPr>
          <p:cNvPr id="9" name="Text 7"/>
          <p:cNvSpPr/>
          <p:nvPr/>
        </p:nvSpPr>
        <p:spPr>
          <a:xfrm>
            <a:off x="1097618" y="4376155"/>
            <a:ext cx="4750305" cy="495869"/>
          </a:xfrm>
          <a:prstGeom prst="rect">
            <a:avLst/>
          </a:prstGeom>
          <a:noFill/>
          <a:ln/>
        </p:spPr>
        <p:txBody>
          <a:bodyPr wrap="square" lIns="0" tIns="0" rIns="0" bIns="0" rtlCol="0" anchor="t">
            <a:normAutofit/>
          </a:bodyPr>
          <a:lstStyle/>
          <a:p>
            <a:pPr marL="0" indent="0" algn="l">
              <a:lnSpc>
                <a:spcPts val="3737"/>
              </a:lnSpc>
              <a:buNone/>
            </a:pPr>
            <a:r>
              <a:rPr lang="en-US" sz="3398" dirty="0">
                <a:solidFill>
                  <a:srgbClr val="C9E847"/>
                </a:solidFill>
                <a:latin typeface="Bebas Neue" pitchFamily="34" charset="0"/>
                <a:ea typeface="Bebas Neue" pitchFamily="34" charset="-122"/>
                <a:cs typeface="Bebas Neue" pitchFamily="34" charset="-120"/>
              </a:rPr>
              <a:t>+ €5 CREDIT</a:t>
            </a:r>
            <a:endParaRPr lang="en-US" sz="3398" dirty="0"/>
          </a:p>
        </p:txBody>
      </p:sp>
      <p:sp>
        <p:nvSpPr>
          <p:cNvPr id="10" name="Text 8"/>
          <p:cNvSpPr/>
          <p:nvPr/>
        </p:nvSpPr>
        <p:spPr>
          <a:xfrm>
            <a:off x="1097618" y="4998988"/>
            <a:ext cx="4890484" cy="583700"/>
          </a:xfrm>
          <a:prstGeom prst="rect">
            <a:avLst/>
          </a:prstGeom>
          <a:noFill/>
          <a:ln/>
        </p:spPr>
        <p:txBody>
          <a:bodyPr wrap="square" lIns="0" tIns="0" rIns="0" bIns="0" rtlCol="0" anchor="t">
            <a:normAutofit/>
          </a:bodyPr>
          <a:lstStyle/>
          <a:p>
            <a:pPr marL="0" indent="0" algn="l">
              <a:lnSpc>
                <a:spcPts val="2268"/>
              </a:lnSpc>
              <a:buNone/>
            </a:pPr>
            <a:r>
              <a:rPr lang="en-US" sz="1620" dirty="0">
                <a:solidFill>
                  <a:srgbClr val="A3A7AD"/>
                </a:solidFill>
                <a:latin typeface="Space Grotesk" pitchFamily="34" charset="0"/>
                <a:ea typeface="Space Grotesk" pitchFamily="34" charset="-122"/>
                <a:cs typeface="Space Grotesk" pitchFamily="34" charset="-120"/>
              </a:rPr>
              <a:t>Credit applies for a reroute longer than 200 m.</a:t>
            </a:r>
            <a:endParaRPr lang="en-US" sz="1620" dirty="0"/>
          </a:p>
        </p:txBody>
      </p:sp>
      <p:sp>
        <p:nvSpPr>
          <p:cNvPr id="11" name="Shape 9"/>
          <p:cNvSpPr/>
          <p:nvPr/>
        </p:nvSpPr>
        <p:spPr>
          <a:xfrm>
            <a:off x="6200810" y="2080301"/>
            <a:ext cx="5175371" cy="3758527"/>
          </a:xfrm>
          <a:prstGeom prst="roundRect">
            <a:avLst>
              <a:gd name="adj" fmla="val 3970"/>
            </a:avLst>
          </a:prstGeom>
          <a:solidFill>
            <a:srgbClr val="181D23"/>
          </a:solidFill>
          <a:ln w="6350">
            <a:solidFill>
              <a:srgbClr val="262C33"/>
            </a:solidFill>
            <a:prstDash val="solid"/>
          </a:ln>
        </p:spPr>
        <p:txBody>
          <a:bodyPr/>
          <a:lstStyle/>
          <a:p>
            <a:endParaRPr lang="en-DE"/>
          </a:p>
        </p:txBody>
      </p:sp>
      <p:sp>
        <p:nvSpPr>
          <p:cNvPr id="12" name="Text 10"/>
          <p:cNvSpPr/>
          <p:nvPr/>
        </p:nvSpPr>
        <p:spPr>
          <a:xfrm>
            <a:off x="6482522" y="2362014"/>
            <a:ext cx="4750305" cy="23522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B69CFF"/>
                </a:solidFill>
                <a:latin typeface="JetBrains Mono" pitchFamily="49" charset="0"/>
                <a:ea typeface="JetBrains Mono" pitchFamily="49" charset="-122"/>
                <a:cs typeface="JetBrains Mono" pitchFamily="49" charset="-120"/>
              </a:rPr>
              <a:t>DRIVER OVERSTAYS</a:t>
            </a:r>
            <a:endParaRPr lang="en-US" sz="1200" dirty="0"/>
          </a:p>
        </p:txBody>
      </p:sp>
      <p:sp>
        <p:nvSpPr>
          <p:cNvPr id="13" name="Text 11"/>
          <p:cNvSpPr/>
          <p:nvPr/>
        </p:nvSpPr>
        <p:spPr>
          <a:xfrm>
            <a:off x="6482522" y="2749624"/>
            <a:ext cx="4750305" cy="527827"/>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F4F3EF"/>
                </a:solidFill>
                <a:latin typeface="Bebas Neue" pitchFamily="34" charset="0"/>
                <a:ea typeface="Bebas Neue" pitchFamily="34" charset="-122"/>
                <a:cs typeface="Bebas Neue" pitchFamily="34" charset="-120"/>
              </a:rPr>
              <a:t>REMINDER 5 MIN BEFORE</a:t>
            </a:r>
            <a:endParaRPr lang="en-US" sz="3600" dirty="0"/>
          </a:p>
        </p:txBody>
      </p:sp>
      <p:sp>
        <p:nvSpPr>
          <p:cNvPr id="14" name="Text 12"/>
          <p:cNvSpPr/>
          <p:nvPr/>
        </p:nvSpPr>
        <p:spPr>
          <a:xfrm>
            <a:off x="6482522" y="3328231"/>
            <a:ext cx="4750305" cy="527878"/>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9A9EA5"/>
                </a:solidFill>
                <a:latin typeface="Bebas Neue" pitchFamily="34" charset="0"/>
                <a:ea typeface="Bebas Neue" pitchFamily="34" charset="-122"/>
                <a:cs typeface="Bebas Neue" pitchFamily="34" charset="-120"/>
              </a:rPr>
              <a:t>5 MIN GRACE</a:t>
            </a:r>
            <a:endParaRPr lang="en-US" sz="3600" dirty="0"/>
          </a:p>
        </p:txBody>
      </p:sp>
      <p:sp>
        <p:nvSpPr>
          <p:cNvPr id="15" name="Text 13"/>
          <p:cNvSpPr/>
          <p:nvPr/>
        </p:nvSpPr>
        <p:spPr>
          <a:xfrm>
            <a:off x="6482522" y="3906893"/>
            <a:ext cx="4750305" cy="527878"/>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C9E847"/>
                </a:solidFill>
                <a:latin typeface="Bebas Neue" pitchFamily="34" charset="0"/>
                <a:ea typeface="Bebas Neue" pitchFamily="34" charset="-122"/>
                <a:cs typeface="Bebas Neue" pitchFamily="34" charset="-120"/>
              </a:rPr>
              <a:t>THEN €0.30 / MIN PENALTY</a:t>
            </a:r>
            <a:endParaRPr lang="en-US" sz="3600" dirty="0"/>
          </a:p>
        </p:txBody>
      </p:sp>
      <p:sp>
        <p:nvSpPr>
          <p:cNvPr id="16" name="Text 14"/>
          <p:cNvSpPr/>
          <p:nvPr/>
        </p:nvSpPr>
        <p:spPr>
          <a:xfrm>
            <a:off x="6482522" y="4960770"/>
            <a:ext cx="4750305" cy="621748"/>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A3A7AD"/>
                </a:solidFill>
                <a:latin typeface="Space Grotesk" pitchFamily="34" charset="0"/>
                <a:ea typeface="Space Grotesk" pitchFamily="34" charset="-122"/>
                <a:cs typeface="Space Grotesk" pitchFamily="34" charset="-120"/>
              </a:rPr>
              <a:t>Blocking fee shared 50/50 with the operator.</a:t>
            </a:r>
            <a:endParaRPr lang="en-US" sz="1700" dirty="0"/>
          </a:p>
        </p:txBody>
      </p:sp>
      <p:sp>
        <p:nvSpPr>
          <p:cNvPr id="17" name="Text 15"/>
          <p:cNvSpPr/>
          <p:nvPr/>
        </p:nvSpPr>
        <p:spPr>
          <a:xfrm>
            <a:off x="812731" y="6241808"/>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6"/>
                </a:solidFill>
                <a:latin typeface="Space Grotesk" pitchFamily="34" charset="0"/>
                <a:ea typeface="Space Grotesk" pitchFamily="34" charset="-122"/>
                <a:cs typeface="Space Grotesk" pitchFamily="34" charset="-120"/>
              </a:rPr>
              <a:t>Proposed policy: credit, fee and revenue split to be agreed with operators.</a:t>
            </a:r>
            <a:endParaRPr lang="en-US" sz="1200" dirty="0"/>
          </a:p>
        </p:txBody>
      </p:sp>
      <p:sp>
        <p:nvSpPr>
          <p:cNvPr id="18" name="Text 16"/>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F"/>
        </a:solidFill>
        <a:effectLst/>
      </p:bgPr>
    </p:bg>
    <p:spTree>
      <p:nvGrpSpPr>
        <p:cNvPr id="1" name=""/>
        <p:cNvGrpSpPr/>
        <p:nvPr/>
      </p:nvGrpSpPr>
      <p:grpSpPr>
        <a:xfrm>
          <a:off x="0" y="0"/>
          <a:ext cx="0" cy="0"/>
          <a:chOff x="0" y="0"/>
          <a:chExt cx="0" cy="0"/>
        </a:xfrm>
      </p:grpSpPr>
      <p:sp>
        <p:nvSpPr>
          <p:cNvPr id="2" name="Text 0"/>
          <p:cNvSpPr/>
          <p:nvPr/>
        </p:nvSpPr>
        <p:spPr>
          <a:xfrm>
            <a:off x="812731" y="711188"/>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5E1EEE"/>
                </a:solidFill>
                <a:latin typeface="JetBrains Mono" pitchFamily="49" charset="0"/>
                <a:ea typeface="JetBrains Mono" pitchFamily="49" charset="-122"/>
                <a:cs typeface="JetBrains Mono" pitchFamily="49" charset="-120"/>
              </a:rPr>
              <a:t>MORE UTILISATION</a:t>
            </a:r>
            <a:endParaRPr lang="en-US" sz="1300" dirty="0"/>
          </a:p>
        </p:txBody>
      </p:sp>
      <p:sp>
        <p:nvSpPr>
          <p:cNvPr id="3" name="Text 1"/>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11161B"/>
                </a:solidFill>
                <a:latin typeface="Bebas Neue" pitchFamily="34" charset="0"/>
                <a:ea typeface="Bebas Neue" pitchFamily="34" charset="-122"/>
                <a:cs typeface="Bebas Neue" pitchFamily="34" charset="-120"/>
              </a:rPr>
              <a:t>MORE CHARGING, </a:t>
            </a:r>
            <a:r>
              <a:rPr lang="en-US" sz="6200" b="0" i="0" dirty="0">
                <a:solidFill>
                  <a:srgbClr val="5E1EEE"/>
                </a:solidFill>
                <a:latin typeface="Bebas Neue" pitchFamily="34" charset="0"/>
                <a:ea typeface="Bebas Neue" pitchFamily="34" charset="-122"/>
                <a:cs typeface="Bebas Neue" pitchFamily="34" charset="-120"/>
              </a:rPr>
              <a:t>SAME BAYS</a:t>
            </a:r>
            <a:endParaRPr lang="en-US" sz="6200" dirty="0"/>
          </a:p>
        </p:txBody>
      </p:sp>
      <p:sp>
        <p:nvSpPr>
          <p:cNvPr id="4" name="Shape 2"/>
          <p:cNvSpPr/>
          <p:nvPr/>
        </p:nvSpPr>
        <p:spPr>
          <a:xfrm>
            <a:off x="812731" y="2077126"/>
            <a:ext cx="5207086" cy="2987606"/>
          </a:xfrm>
          <a:prstGeom prst="roundRect">
            <a:avLst>
              <a:gd name="adj" fmla="val 5101"/>
            </a:avLst>
          </a:prstGeom>
          <a:solidFill>
            <a:srgbClr val="FFFFFF"/>
          </a:solidFill>
          <a:ln/>
        </p:spPr>
        <p:txBody>
          <a:bodyPr/>
          <a:lstStyle/>
          <a:p>
            <a:endParaRPr lang="en-DE"/>
          </a:p>
        </p:txBody>
      </p:sp>
      <p:sp>
        <p:nvSpPr>
          <p:cNvPr id="5" name="Text 3"/>
          <p:cNvSpPr/>
          <p:nvPr/>
        </p:nvSpPr>
        <p:spPr>
          <a:xfrm>
            <a:off x="1092097" y="2356489"/>
            <a:ext cx="4787806" cy="925444"/>
          </a:xfrm>
          <a:prstGeom prst="rect">
            <a:avLst/>
          </a:prstGeom>
          <a:noFill/>
          <a:ln/>
        </p:spPr>
        <p:txBody>
          <a:bodyPr wrap="square" lIns="0" tIns="0" rIns="0" bIns="0" rtlCol="0" anchor="t">
            <a:normAutofit/>
          </a:bodyPr>
          <a:lstStyle/>
          <a:p>
            <a:pPr marL="0" indent="0" algn="l">
              <a:lnSpc>
                <a:spcPts val="7125"/>
              </a:lnSpc>
              <a:buNone/>
            </a:pPr>
            <a:r>
              <a:rPr lang="en-US" sz="7500" dirty="0">
                <a:solidFill>
                  <a:srgbClr val="5E1EEE"/>
                </a:solidFill>
                <a:latin typeface="Bebas Neue" pitchFamily="34" charset="0"/>
                <a:ea typeface="Bebas Neue" pitchFamily="34" charset="-122"/>
                <a:cs typeface="Bebas Neue" pitchFamily="34" charset="-120"/>
              </a:rPr>
              <a:t>€0</a:t>
            </a:r>
            <a:endParaRPr lang="en-US" sz="7500" dirty="0"/>
          </a:p>
        </p:txBody>
      </p:sp>
      <p:sp>
        <p:nvSpPr>
          <p:cNvPr id="6" name="Text 4"/>
          <p:cNvSpPr/>
          <p:nvPr/>
        </p:nvSpPr>
        <p:spPr>
          <a:xfrm>
            <a:off x="1092097" y="3358083"/>
            <a:ext cx="4787806" cy="406400"/>
          </a:xfrm>
          <a:prstGeom prst="rect">
            <a:avLst/>
          </a:prstGeom>
          <a:noFill/>
          <a:ln/>
        </p:spPr>
        <p:txBody>
          <a:bodyPr wrap="square" lIns="0" tIns="0" rIns="0" bIns="0" rtlCol="0" anchor="t">
            <a:normAutofit/>
          </a:bodyPr>
          <a:lstStyle/>
          <a:p>
            <a:pPr marL="0" indent="0" algn="l">
              <a:lnSpc>
                <a:spcPts val="3000"/>
              </a:lnSpc>
              <a:buNone/>
            </a:pPr>
            <a:r>
              <a:rPr lang="en-US" sz="3000" dirty="0">
                <a:solidFill>
                  <a:srgbClr val="11161B"/>
                </a:solidFill>
                <a:latin typeface="Bebas Neue" pitchFamily="34" charset="0"/>
                <a:ea typeface="Bebas Neue" pitchFamily="34" charset="-122"/>
                <a:cs typeface="Bebas Neue" pitchFamily="34" charset="-120"/>
              </a:rPr>
              <a:t>WALK-UP ACCESS</a:t>
            </a:r>
            <a:endParaRPr lang="en-US" sz="3000" dirty="0"/>
          </a:p>
        </p:txBody>
      </p:sp>
      <p:sp>
        <p:nvSpPr>
          <p:cNvPr id="7" name="Text 5"/>
          <p:cNvSpPr/>
          <p:nvPr/>
        </p:nvSpPr>
        <p:spPr>
          <a:xfrm>
            <a:off x="1092097" y="3840634"/>
            <a:ext cx="4787806" cy="50027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5C6168"/>
                </a:solidFill>
                <a:latin typeface="Space Grotesk" pitchFamily="34" charset="0"/>
                <a:ea typeface="Space Grotesk" pitchFamily="34" charset="-122"/>
                <a:cs typeface="Space Grotesk" pitchFamily="34" charset="-120"/>
              </a:rPr>
              <a:t>Empty bays open to anyone, no fee. Every walk-up driver meets the app.</a:t>
            </a:r>
            <a:endParaRPr lang="en-US" sz="1300" dirty="0"/>
          </a:p>
        </p:txBody>
      </p:sp>
      <p:sp>
        <p:nvSpPr>
          <p:cNvPr id="8" name="Shape 6"/>
          <p:cNvSpPr/>
          <p:nvPr/>
        </p:nvSpPr>
        <p:spPr>
          <a:xfrm>
            <a:off x="6172183" y="2077126"/>
            <a:ext cx="5207086" cy="2987606"/>
          </a:xfrm>
          <a:prstGeom prst="roundRect">
            <a:avLst>
              <a:gd name="adj" fmla="val 5101"/>
            </a:avLst>
          </a:prstGeom>
          <a:solidFill>
            <a:srgbClr val="11161B"/>
          </a:solidFill>
          <a:ln/>
        </p:spPr>
        <p:txBody>
          <a:bodyPr/>
          <a:lstStyle/>
          <a:p>
            <a:endParaRPr lang="en-DE"/>
          </a:p>
        </p:txBody>
      </p:sp>
      <p:sp>
        <p:nvSpPr>
          <p:cNvPr id="9" name="Text 7"/>
          <p:cNvSpPr/>
          <p:nvPr/>
        </p:nvSpPr>
        <p:spPr>
          <a:xfrm>
            <a:off x="6451548" y="2356489"/>
            <a:ext cx="4787806" cy="925444"/>
          </a:xfrm>
          <a:prstGeom prst="rect">
            <a:avLst/>
          </a:prstGeom>
          <a:noFill/>
          <a:ln/>
        </p:spPr>
        <p:txBody>
          <a:bodyPr wrap="square" lIns="0" tIns="0" rIns="0" bIns="0" rtlCol="0" anchor="t">
            <a:normAutofit/>
          </a:bodyPr>
          <a:lstStyle/>
          <a:p>
            <a:pPr marL="0" indent="0" algn="l">
              <a:lnSpc>
                <a:spcPts val="7125"/>
              </a:lnSpc>
              <a:buNone/>
            </a:pPr>
            <a:r>
              <a:rPr lang="en-US" sz="7500" dirty="0">
                <a:solidFill>
                  <a:srgbClr val="C9E847"/>
                </a:solidFill>
                <a:latin typeface="Bebas Neue" pitchFamily="34" charset="0"/>
                <a:ea typeface="Bebas Neue" pitchFamily="34" charset="-122"/>
                <a:cs typeface="Bebas Neue" pitchFamily="34" charset="-120"/>
              </a:rPr>
              <a:t>€3–6</a:t>
            </a:r>
            <a:endParaRPr lang="en-US" sz="7500" dirty="0"/>
          </a:p>
        </p:txBody>
      </p:sp>
      <p:sp>
        <p:nvSpPr>
          <p:cNvPr id="10" name="Text 8"/>
          <p:cNvSpPr/>
          <p:nvPr/>
        </p:nvSpPr>
        <p:spPr>
          <a:xfrm>
            <a:off x="6451548" y="3358083"/>
            <a:ext cx="4787806" cy="406400"/>
          </a:xfrm>
          <a:prstGeom prst="rect">
            <a:avLst/>
          </a:prstGeom>
          <a:noFill/>
          <a:ln/>
        </p:spPr>
        <p:txBody>
          <a:bodyPr wrap="square" lIns="0" tIns="0" rIns="0" bIns="0" rtlCol="0" anchor="t">
            <a:normAutofit/>
          </a:bodyPr>
          <a:lstStyle/>
          <a:p>
            <a:pPr marL="0" indent="0" algn="l">
              <a:lnSpc>
                <a:spcPts val="3000"/>
              </a:lnSpc>
              <a:buNone/>
            </a:pPr>
            <a:r>
              <a:rPr lang="en-US" sz="3000" dirty="0">
                <a:solidFill>
                  <a:srgbClr val="F4F3EF"/>
                </a:solidFill>
                <a:latin typeface="Bebas Neue" pitchFamily="34" charset="0"/>
                <a:ea typeface="Bebas Neue" pitchFamily="34" charset="-122"/>
                <a:cs typeface="Bebas Neue" pitchFamily="34" charset="-120"/>
              </a:rPr>
              <a:t>PREDICTIVE RESERVATION PRICING</a:t>
            </a:r>
            <a:endParaRPr lang="en-US" sz="3000" dirty="0"/>
          </a:p>
        </p:txBody>
      </p:sp>
      <p:sp>
        <p:nvSpPr>
          <p:cNvPr id="11" name="Text 9"/>
          <p:cNvSpPr/>
          <p:nvPr/>
        </p:nvSpPr>
        <p:spPr>
          <a:xfrm>
            <a:off x="6451548" y="3840634"/>
            <a:ext cx="4787806" cy="500270"/>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3A7AD"/>
                </a:solidFill>
                <a:latin typeface="Space Grotesk" pitchFamily="34" charset="0"/>
                <a:ea typeface="Space Grotesk" pitchFamily="34" charset="-122"/>
                <a:cs typeface="Space Grotesk" pitchFamily="34" charset="-120"/>
              </a:rPr>
              <a:t>The reservation fee is cheaper at quiet times and higher at peaks. Demand spreads out.</a:t>
            </a:r>
            <a:endParaRPr lang="en-US" sz="1300" dirty="0"/>
          </a:p>
        </p:txBody>
      </p:sp>
      <p:sp>
        <p:nvSpPr>
          <p:cNvPr id="12" name="Shape 10"/>
          <p:cNvSpPr/>
          <p:nvPr/>
        </p:nvSpPr>
        <p:spPr>
          <a:xfrm>
            <a:off x="819081" y="5172627"/>
            <a:ext cx="10553839" cy="663023"/>
          </a:xfrm>
          <a:prstGeom prst="roundRect">
            <a:avLst>
              <a:gd name="adj" fmla="val 22028"/>
            </a:avLst>
          </a:prstGeom>
          <a:noFill/>
          <a:ln w="12700">
            <a:solidFill>
              <a:srgbClr val="5E1EEE"/>
            </a:solidFill>
            <a:prstDash val="dash"/>
          </a:ln>
        </p:spPr>
        <p:txBody>
          <a:bodyPr/>
          <a:lstStyle/>
          <a:p>
            <a:endParaRPr lang="en-DE"/>
          </a:p>
        </p:txBody>
      </p:sp>
      <p:sp>
        <p:nvSpPr>
          <p:cNvPr id="13" name="Text 11"/>
          <p:cNvSpPr/>
          <p:nvPr/>
        </p:nvSpPr>
        <p:spPr>
          <a:xfrm>
            <a:off x="1103140" y="5390945"/>
            <a:ext cx="2189823" cy="251791"/>
          </a:xfrm>
          <a:prstGeom prst="rect">
            <a:avLst/>
          </a:prstGeom>
          <a:noFill/>
          <a:ln/>
        </p:spPr>
        <p:txBody>
          <a:bodyPr wrap="none" lIns="0" tIns="0" rIns="0" bIns="0" rtlCol="0" anchor="t">
            <a:normAutofit/>
          </a:bodyPr>
          <a:lstStyle/>
          <a:p>
            <a:pPr marL="0" indent="0" algn="l">
              <a:lnSpc>
                <a:spcPts val="1820"/>
              </a:lnSpc>
              <a:buNone/>
            </a:pPr>
            <a:r>
              <a:rPr lang="en-US" sz="1300" kern="0" spc="150" dirty="0">
                <a:solidFill>
                  <a:srgbClr val="5E1EEE"/>
                </a:solidFill>
                <a:latin typeface="JetBrains Mono" pitchFamily="49" charset="0"/>
                <a:ea typeface="JetBrains Mono" pitchFamily="49" charset="-122"/>
                <a:cs typeface="JetBrains Mono" pitchFamily="49" charset="-120"/>
              </a:rPr>
              <a:t>FUTURE PERSPECTIVE</a:t>
            </a:r>
            <a:endParaRPr lang="en-US" sz="1300" dirty="0"/>
          </a:p>
        </p:txBody>
      </p:sp>
      <p:sp>
        <p:nvSpPr>
          <p:cNvPr id="14" name="Text 12"/>
          <p:cNvSpPr/>
          <p:nvPr/>
        </p:nvSpPr>
        <p:spPr>
          <a:xfrm>
            <a:off x="3432365" y="5355053"/>
            <a:ext cx="6392103" cy="323574"/>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1161B"/>
                </a:solidFill>
                <a:latin typeface="Space Grotesk" pitchFamily="34" charset="0"/>
                <a:ea typeface="Space Grotesk" pitchFamily="34" charset="-122"/>
                <a:cs typeface="Space Grotesk" pitchFamily="34" charset="-120"/>
              </a:rPr>
              <a:t>Partner deals with e-taxi services and office fleets.</a:t>
            </a:r>
            <a:endParaRPr lang="en-US" sz="1700" dirty="0"/>
          </a:p>
        </p:txBody>
      </p:sp>
      <p:sp>
        <p:nvSpPr>
          <p:cNvPr id="15" name="Text 13"/>
          <p:cNvSpPr/>
          <p:nvPr/>
        </p:nvSpPr>
        <p:spPr>
          <a:xfrm>
            <a:off x="812731" y="6241808"/>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168"/>
                </a:solidFill>
                <a:latin typeface="Space Grotesk" pitchFamily="34" charset="0"/>
                <a:ea typeface="Space Grotesk" pitchFamily="34" charset="-122"/>
                <a:cs typeface="Space Grotesk" pitchFamily="34" charset="-120"/>
              </a:rPr>
              <a:t>Pricing range is tested in the 90-day pilot.</a:t>
            </a:r>
            <a:endParaRPr lang="en-US" sz="1200" dirty="0"/>
          </a:p>
        </p:txBody>
      </p:sp>
      <p:sp>
        <p:nvSpPr>
          <p:cNvPr id="16" name="Text 14"/>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168"/>
                </a:solidFill>
                <a:latin typeface="JetBrains Mono" pitchFamily="49" charset="0"/>
                <a:ea typeface="JetBrains Mono" pitchFamily="49" charset="-122"/>
                <a:cs typeface="JetBrains Mono" pitchFamily="49"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7975549" y="711188"/>
            <a:ext cx="3505655" cy="23522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C9E847"/>
                </a:solidFill>
                <a:latin typeface="JetBrains Mono" pitchFamily="49" charset="0"/>
                <a:ea typeface="JetBrains Mono" pitchFamily="49" charset="-122"/>
                <a:cs typeface="JetBrains Mono" pitchFamily="49" charset="-120"/>
              </a:rPr>
              <a:t>DYNAMIC PRICING</a:t>
            </a:r>
            <a:endParaRPr lang="en-US" sz="1200" dirty="0"/>
          </a:p>
        </p:txBody>
      </p:sp>
      <p:sp>
        <p:nvSpPr>
          <p:cNvPr id="3" name="Shape 1"/>
          <p:cNvSpPr/>
          <p:nvPr/>
        </p:nvSpPr>
        <p:spPr>
          <a:xfrm>
            <a:off x="7975549" y="965188"/>
            <a:ext cx="3403548" cy="1905000"/>
          </a:xfrm>
          <a:prstGeom prst="roundRect">
            <a:avLst>
              <a:gd name="adj" fmla="val 5333"/>
            </a:avLst>
          </a:prstGeom>
          <a:solidFill>
            <a:srgbClr val="F4F3EF"/>
          </a:solidFill>
          <a:ln/>
        </p:spPr>
        <p:txBody>
          <a:bodyPr/>
          <a:lstStyle/>
          <a:p>
            <a:endParaRPr lang="en-DE"/>
          </a:p>
        </p:txBody>
      </p:sp>
      <p:pic>
        <p:nvPicPr>
          <p:cNvPr id="4" name="Image 0" descr="Dynamic pricing screen: a map with zone prices (Old Town €8.70, Station €7.30, Riverside €4.70) and a day curve of the Old Town price peaking around 18:00, averaging about €5"/>
          <p:cNvPicPr>
            <a:picLocks noChangeAspect="1"/>
          </p:cNvPicPr>
          <p:nvPr/>
        </p:nvPicPr>
        <p:blipFill>
          <a:blip r:embed="rId3"/>
          <a:srcRect l="-281" r="-281"/>
          <a:stretch/>
        </p:blipFill>
        <p:spPr>
          <a:xfrm>
            <a:off x="7988249" y="977888"/>
            <a:ext cx="3378148" cy="1879600"/>
          </a:xfrm>
          <a:prstGeom prst="roundRect">
            <a:avLst>
              <a:gd name="adj" fmla="val 4730"/>
            </a:avLst>
          </a:prstGeom>
        </p:spPr>
      </p:pic>
      <p:sp>
        <p:nvSpPr>
          <p:cNvPr id="5" name="Shape 2"/>
          <p:cNvSpPr/>
          <p:nvPr/>
        </p:nvSpPr>
        <p:spPr>
          <a:xfrm>
            <a:off x="7981899" y="971538"/>
            <a:ext cx="3390848" cy="1892300"/>
          </a:xfrm>
          <a:prstGeom prst="roundRect">
            <a:avLst>
              <a:gd name="adj" fmla="val 5034"/>
            </a:avLst>
          </a:prstGeom>
          <a:noFill/>
          <a:ln w="12700">
            <a:solidFill>
              <a:srgbClr val="C9E847"/>
            </a:solidFill>
            <a:prstDash val="solid"/>
          </a:ln>
        </p:spPr>
        <p:txBody>
          <a:bodyPr/>
          <a:lstStyle/>
          <a:p>
            <a:endParaRPr lang="en-DE"/>
          </a:p>
        </p:txBody>
      </p:sp>
      <p:sp>
        <p:nvSpPr>
          <p:cNvPr id="6" name="Text 3"/>
          <p:cNvSpPr/>
          <p:nvPr/>
        </p:nvSpPr>
        <p:spPr>
          <a:xfrm>
            <a:off x="812731" y="711188"/>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BUSINESS MODEL</a:t>
            </a:r>
            <a:endParaRPr lang="en-US" sz="1300" dirty="0"/>
          </a:p>
        </p:txBody>
      </p:sp>
      <p:sp>
        <p:nvSpPr>
          <p:cNvPr id="7" name="Text 4"/>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F4F3EF"/>
                </a:solidFill>
                <a:latin typeface="Bebas Neue" pitchFamily="34" charset="0"/>
                <a:ea typeface="Bebas Neue" pitchFamily="34" charset="-122"/>
                <a:cs typeface="Bebas Neue" pitchFamily="34" charset="-120"/>
              </a:rPr>
              <a:t>HOW WE MAKE MONEY</a:t>
            </a:r>
            <a:endParaRPr lang="en-US" sz="6200" dirty="0"/>
          </a:p>
        </p:txBody>
      </p:sp>
      <p:sp>
        <p:nvSpPr>
          <p:cNvPr id="8" name="Text 5"/>
          <p:cNvSpPr/>
          <p:nvPr/>
        </p:nvSpPr>
        <p:spPr>
          <a:xfrm>
            <a:off x="812731" y="2077126"/>
            <a:ext cx="5232489" cy="235174"/>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3A7AD"/>
                </a:solidFill>
                <a:latin typeface="JetBrains Mono" pitchFamily="49" charset="0"/>
                <a:ea typeface="JetBrains Mono" pitchFamily="49" charset="-122"/>
                <a:cs typeface="JetBrains Mono" pitchFamily="49" charset="-120"/>
              </a:rPr>
              <a:t>RESERVATION FEES</a:t>
            </a:r>
            <a:endParaRPr lang="en-US" sz="1200" dirty="0"/>
          </a:p>
        </p:txBody>
      </p:sp>
      <p:sp>
        <p:nvSpPr>
          <p:cNvPr id="9" name="Shape 6"/>
          <p:cNvSpPr/>
          <p:nvPr/>
        </p:nvSpPr>
        <p:spPr>
          <a:xfrm>
            <a:off x="812731" y="2391674"/>
            <a:ext cx="5080086" cy="0"/>
          </a:xfrm>
          <a:prstGeom prst="line">
            <a:avLst/>
          </a:prstGeom>
          <a:noFill/>
          <a:ln w="6350">
            <a:solidFill>
              <a:srgbClr val="2A3038"/>
            </a:solidFill>
            <a:prstDash val="solid"/>
          </a:ln>
        </p:spPr>
        <p:txBody>
          <a:bodyPr/>
          <a:lstStyle/>
          <a:p>
            <a:endParaRPr lang="en-DE"/>
          </a:p>
        </p:txBody>
      </p:sp>
      <p:sp>
        <p:nvSpPr>
          <p:cNvPr id="10" name="Shape 7"/>
          <p:cNvSpPr/>
          <p:nvPr/>
        </p:nvSpPr>
        <p:spPr>
          <a:xfrm>
            <a:off x="812731" y="3209099"/>
            <a:ext cx="5080086" cy="0"/>
          </a:xfrm>
          <a:prstGeom prst="line">
            <a:avLst/>
          </a:prstGeom>
          <a:noFill/>
          <a:ln w="6350">
            <a:solidFill>
              <a:srgbClr val="2A3038"/>
            </a:solidFill>
            <a:prstDash val="solid"/>
          </a:ln>
        </p:spPr>
        <p:txBody>
          <a:bodyPr/>
          <a:lstStyle/>
          <a:p>
            <a:endParaRPr lang="en-DE"/>
          </a:p>
        </p:txBody>
      </p:sp>
      <p:sp>
        <p:nvSpPr>
          <p:cNvPr id="11" name="Text 8"/>
          <p:cNvSpPr/>
          <p:nvPr/>
        </p:nvSpPr>
        <p:spPr>
          <a:xfrm>
            <a:off x="812731" y="2551906"/>
            <a:ext cx="1766266" cy="522357"/>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4F3EF"/>
                </a:solidFill>
                <a:latin typeface="Bebas Neue" pitchFamily="34" charset="0"/>
                <a:ea typeface="Bebas Neue" pitchFamily="34" charset="-122"/>
                <a:cs typeface="Bebas Neue" pitchFamily="34" charset="-120"/>
              </a:rPr>
              <a:t>FAST · 1 HOUR</a:t>
            </a:r>
            <a:endParaRPr lang="en-US" sz="2800" dirty="0"/>
          </a:p>
        </p:txBody>
      </p:sp>
      <p:sp>
        <p:nvSpPr>
          <p:cNvPr id="12" name="Text 9"/>
          <p:cNvSpPr/>
          <p:nvPr/>
        </p:nvSpPr>
        <p:spPr>
          <a:xfrm>
            <a:off x="5405075" y="2546387"/>
            <a:ext cx="487742" cy="533400"/>
          </a:xfrm>
          <a:prstGeom prst="rect">
            <a:avLst/>
          </a:prstGeom>
          <a:noFill/>
          <a:ln/>
        </p:spPr>
        <p:txBody>
          <a:bodyPr wrap="square" lIns="0" tIns="0" rIns="0" bIns="0" rtlCol="0" anchor="t">
            <a:normAutofit/>
          </a:bodyPr>
          <a:lstStyle/>
          <a:p>
            <a:pPr marL="0" indent="0" algn="r">
              <a:lnSpc>
                <a:spcPts val="4000"/>
              </a:lnSpc>
              <a:buNone/>
            </a:pPr>
            <a:r>
              <a:rPr lang="en-US" sz="4000" dirty="0">
                <a:solidFill>
                  <a:srgbClr val="F4F3EF"/>
                </a:solidFill>
                <a:latin typeface="Bebas Neue" pitchFamily="34" charset="0"/>
                <a:ea typeface="Bebas Neue" pitchFamily="34" charset="-122"/>
                <a:cs typeface="Bebas Neue" pitchFamily="34" charset="-120"/>
              </a:rPr>
              <a:t>€3</a:t>
            </a:r>
            <a:endParaRPr lang="en-US" sz="4000" dirty="0"/>
          </a:p>
        </p:txBody>
      </p:sp>
      <p:sp>
        <p:nvSpPr>
          <p:cNvPr id="13" name="Shape 10"/>
          <p:cNvSpPr/>
          <p:nvPr/>
        </p:nvSpPr>
        <p:spPr>
          <a:xfrm>
            <a:off x="812731" y="4027353"/>
            <a:ext cx="5080086" cy="0"/>
          </a:xfrm>
          <a:prstGeom prst="line">
            <a:avLst/>
          </a:prstGeom>
          <a:noFill/>
          <a:ln w="6350">
            <a:solidFill>
              <a:srgbClr val="2A3038"/>
            </a:solidFill>
            <a:prstDash val="solid"/>
          </a:ln>
        </p:spPr>
        <p:txBody>
          <a:bodyPr/>
          <a:lstStyle/>
          <a:p>
            <a:endParaRPr lang="en-DE"/>
          </a:p>
        </p:txBody>
      </p:sp>
      <p:sp>
        <p:nvSpPr>
          <p:cNvPr id="14" name="Text 11"/>
          <p:cNvSpPr/>
          <p:nvPr/>
        </p:nvSpPr>
        <p:spPr>
          <a:xfrm>
            <a:off x="812731" y="3370163"/>
            <a:ext cx="1924982" cy="522357"/>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C9E847"/>
                </a:solidFill>
                <a:latin typeface="Bebas Neue" pitchFamily="34" charset="0"/>
                <a:ea typeface="Bebas Neue" pitchFamily="34" charset="-122"/>
                <a:cs typeface="Bebas Neue" pitchFamily="34" charset="-120"/>
              </a:rPr>
              <a:t>FAST · 2 HOURS</a:t>
            </a:r>
            <a:endParaRPr lang="en-US" sz="2800" dirty="0"/>
          </a:p>
        </p:txBody>
      </p:sp>
      <p:sp>
        <p:nvSpPr>
          <p:cNvPr id="15" name="Text 12"/>
          <p:cNvSpPr/>
          <p:nvPr/>
        </p:nvSpPr>
        <p:spPr>
          <a:xfrm>
            <a:off x="5405075" y="3364638"/>
            <a:ext cx="487742" cy="533400"/>
          </a:xfrm>
          <a:prstGeom prst="rect">
            <a:avLst/>
          </a:prstGeom>
          <a:noFill/>
          <a:ln/>
        </p:spPr>
        <p:txBody>
          <a:bodyPr wrap="square" lIns="0" tIns="0" rIns="0" bIns="0" rtlCol="0" anchor="t">
            <a:normAutofit/>
          </a:bodyPr>
          <a:lstStyle/>
          <a:p>
            <a:pPr marL="0" indent="0" algn="r">
              <a:lnSpc>
                <a:spcPts val="4000"/>
              </a:lnSpc>
              <a:buNone/>
            </a:pPr>
            <a:r>
              <a:rPr lang="en-US" sz="4000" dirty="0">
                <a:solidFill>
                  <a:srgbClr val="C9E847"/>
                </a:solidFill>
                <a:latin typeface="Bebas Neue" pitchFamily="34" charset="0"/>
                <a:ea typeface="Bebas Neue" pitchFamily="34" charset="-122"/>
                <a:cs typeface="Bebas Neue" pitchFamily="34" charset="-120"/>
              </a:rPr>
              <a:t>€5</a:t>
            </a:r>
            <a:endParaRPr lang="en-US" sz="4000" dirty="0"/>
          </a:p>
        </p:txBody>
      </p:sp>
      <p:sp>
        <p:nvSpPr>
          <p:cNvPr id="16" name="Shape 13"/>
          <p:cNvSpPr/>
          <p:nvPr/>
        </p:nvSpPr>
        <p:spPr>
          <a:xfrm>
            <a:off x="812731" y="4845604"/>
            <a:ext cx="5080086" cy="0"/>
          </a:xfrm>
          <a:prstGeom prst="line">
            <a:avLst/>
          </a:prstGeom>
          <a:noFill/>
          <a:ln w="6350">
            <a:solidFill>
              <a:srgbClr val="2A3038"/>
            </a:solidFill>
            <a:prstDash val="solid"/>
          </a:ln>
        </p:spPr>
        <p:txBody>
          <a:bodyPr/>
          <a:lstStyle/>
          <a:p>
            <a:endParaRPr lang="en-DE"/>
          </a:p>
        </p:txBody>
      </p:sp>
      <p:sp>
        <p:nvSpPr>
          <p:cNvPr id="17" name="Text 14"/>
          <p:cNvSpPr/>
          <p:nvPr/>
        </p:nvSpPr>
        <p:spPr>
          <a:xfrm>
            <a:off x="812731" y="4188414"/>
            <a:ext cx="2020128" cy="522357"/>
          </a:xfrm>
          <a:prstGeom prst="rect">
            <a:avLst/>
          </a:prstGeom>
          <a:noFill/>
          <a:ln/>
        </p:spPr>
        <p:txBody>
          <a:bodyPr wrap="square" lIns="0" tIns="0" rIns="0" bIns="0" rtlCol="0" anchor="t">
            <a:normAutofit/>
          </a:bodyPr>
          <a:lstStyle/>
          <a:p>
            <a:pPr marL="0" indent="0" algn="l">
              <a:lnSpc>
                <a:spcPts val="3920"/>
              </a:lnSpc>
              <a:buNone/>
            </a:pPr>
            <a:r>
              <a:rPr lang="en-US" sz="2800" dirty="0">
                <a:solidFill>
                  <a:srgbClr val="F4F3EF"/>
                </a:solidFill>
                <a:latin typeface="Bebas Neue" pitchFamily="34" charset="0"/>
                <a:ea typeface="Bebas Neue" pitchFamily="34" charset="-122"/>
                <a:cs typeface="Bebas Neue" pitchFamily="34" charset="-120"/>
              </a:rPr>
              <a:t>SLOW · 4 HOURS</a:t>
            </a:r>
            <a:endParaRPr lang="en-US" sz="2800" dirty="0"/>
          </a:p>
        </p:txBody>
      </p:sp>
      <p:sp>
        <p:nvSpPr>
          <p:cNvPr id="18" name="Text 15"/>
          <p:cNvSpPr/>
          <p:nvPr/>
        </p:nvSpPr>
        <p:spPr>
          <a:xfrm>
            <a:off x="5405075" y="4182895"/>
            <a:ext cx="487742" cy="533400"/>
          </a:xfrm>
          <a:prstGeom prst="rect">
            <a:avLst/>
          </a:prstGeom>
          <a:noFill/>
          <a:ln/>
        </p:spPr>
        <p:txBody>
          <a:bodyPr wrap="square" lIns="0" tIns="0" rIns="0" bIns="0" rtlCol="0" anchor="t">
            <a:normAutofit/>
          </a:bodyPr>
          <a:lstStyle/>
          <a:p>
            <a:pPr marL="0" indent="0" algn="r">
              <a:lnSpc>
                <a:spcPts val="4000"/>
              </a:lnSpc>
              <a:buNone/>
            </a:pPr>
            <a:r>
              <a:rPr lang="en-US" sz="4000" dirty="0">
                <a:solidFill>
                  <a:srgbClr val="F4F3EF"/>
                </a:solidFill>
                <a:latin typeface="Bebas Neue" pitchFamily="34" charset="0"/>
                <a:ea typeface="Bebas Neue" pitchFamily="34" charset="-122"/>
                <a:cs typeface="Bebas Neue" pitchFamily="34" charset="-120"/>
              </a:rPr>
              <a:t>€4</a:t>
            </a:r>
            <a:endParaRPr lang="en-US" sz="4000" dirty="0"/>
          </a:p>
        </p:txBody>
      </p:sp>
      <p:sp>
        <p:nvSpPr>
          <p:cNvPr id="19" name="Text 16"/>
          <p:cNvSpPr/>
          <p:nvPr/>
        </p:nvSpPr>
        <p:spPr>
          <a:xfrm>
            <a:off x="812731" y="5001183"/>
            <a:ext cx="5232489" cy="23519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7AD"/>
                </a:solidFill>
                <a:latin typeface="Space Grotesk" pitchFamily="34" charset="0"/>
                <a:ea typeface="Space Grotesk" pitchFamily="34" charset="-122"/>
                <a:cs typeface="Space Grotesk" pitchFamily="34" charset="-120"/>
              </a:rPr>
              <a:t>Electricity is billed separately at the charger.</a:t>
            </a:r>
            <a:endParaRPr lang="en-US" sz="1200" dirty="0"/>
          </a:p>
        </p:txBody>
      </p:sp>
      <p:sp>
        <p:nvSpPr>
          <p:cNvPr id="20" name="Text 17"/>
          <p:cNvSpPr/>
          <p:nvPr/>
        </p:nvSpPr>
        <p:spPr>
          <a:xfrm>
            <a:off x="812731" y="5312569"/>
            <a:ext cx="5232489" cy="533348"/>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9E847"/>
                </a:solidFill>
                <a:latin typeface="Space Grotesk" pitchFamily="34" charset="0"/>
                <a:ea typeface="Space Grotesk" pitchFamily="34" charset="-122"/>
                <a:cs typeface="Space Grotesk" pitchFamily="34" charset="-120"/>
              </a:rPr>
              <a:t>Next: dynamic pricing that adapts these fees to demand.</a:t>
            </a:r>
            <a:endParaRPr lang="en-US" sz="1500" dirty="0"/>
          </a:p>
        </p:txBody>
      </p:sp>
      <p:sp>
        <p:nvSpPr>
          <p:cNvPr id="21" name="Text 18"/>
          <p:cNvSpPr/>
          <p:nvPr/>
        </p:nvSpPr>
        <p:spPr>
          <a:xfrm>
            <a:off x="6299183" y="2966126"/>
            <a:ext cx="5232489" cy="235226"/>
          </a:xfrm>
          <a:prstGeom prst="rect">
            <a:avLst/>
          </a:prstGeom>
          <a:noFill/>
          <a:ln/>
        </p:spPr>
        <p:txBody>
          <a:bodyPr wrap="square" lIns="0" tIns="0" rIns="0" bIns="0" rtlCol="0" anchor="t">
            <a:normAutofit/>
          </a:bodyPr>
          <a:lstStyle/>
          <a:p>
            <a:pPr marL="0" indent="0" algn="l">
              <a:lnSpc>
                <a:spcPts val="1680"/>
              </a:lnSpc>
              <a:buNone/>
            </a:pPr>
            <a:r>
              <a:rPr lang="en-US" sz="1200" kern="0" spc="200" dirty="0">
                <a:solidFill>
                  <a:srgbClr val="A3A7AD"/>
                </a:solidFill>
                <a:latin typeface="JetBrains Mono" pitchFamily="49" charset="0"/>
                <a:ea typeface="JetBrains Mono" pitchFamily="49" charset="-122"/>
                <a:cs typeface="JetBrains Mono" pitchFamily="49" charset="-120"/>
              </a:rPr>
              <a:t>PLUS</a:t>
            </a:r>
            <a:endParaRPr lang="en-US" sz="1200" dirty="0"/>
          </a:p>
        </p:txBody>
      </p:sp>
      <p:sp>
        <p:nvSpPr>
          <p:cNvPr id="22" name="Text 19"/>
          <p:cNvSpPr/>
          <p:nvPr/>
        </p:nvSpPr>
        <p:spPr>
          <a:xfrm>
            <a:off x="6299183" y="3264818"/>
            <a:ext cx="5232489" cy="323574"/>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B69CFF"/>
                </a:solidFill>
                <a:latin typeface="Space Grotesk" pitchFamily="34" charset="0"/>
                <a:ea typeface="Space Grotesk" pitchFamily="34" charset="-122"/>
                <a:cs typeface="Space Grotesk" pitchFamily="34" charset="-120"/>
              </a:rPr>
              <a:t>No-show &amp; late-cancel fees</a:t>
            </a:r>
            <a:endParaRPr lang="en-US" sz="1700" dirty="0"/>
          </a:p>
        </p:txBody>
      </p:sp>
      <p:sp>
        <p:nvSpPr>
          <p:cNvPr id="23" name="Text 20"/>
          <p:cNvSpPr/>
          <p:nvPr/>
        </p:nvSpPr>
        <p:spPr>
          <a:xfrm>
            <a:off x="6299183" y="3651858"/>
            <a:ext cx="5232489" cy="323574"/>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B69CFF"/>
                </a:solidFill>
                <a:latin typeface="Space Grotesk" pitchFamily="34" charset="0"/>
                <a:ea typeface="Space Grotesk" pitchFamily="34" charset="-122"/>
                <a:cs typeface="Space Grotesk" pitchFamily="34" charset="-120"/>
              </a:rPr>
              <a:t>Blocking fees,</a:t>
            </a:r>
            <a:r>
              <a:rPr lang="en-US" sz="1700" dirty="0">
                <a:solidFill>
                  <a:srgbClr val="F4F3EF"/>
                </a:solidFill>
                <a:latin typeface="Space Grotesk" pitchFamily="34" charset="0"/>
                <a:ea typeface="Space Grotesk" pitchFamily="34" charset="-122"/>
                <a:cs typeface="Space Grotesk" pitchFamily="34" charset="-120"/>
              </a:rPr>
              <a:t> 50/50 with operators</a:t>
            </a:r>
            <a:endParaRPr lang="en-US" sz="1700" dirty="0"/>
          </a:p>
        </p:txBody>
      </p:sp>
      <p:sp>
        <p:nvSpPr>
          <p:cNvPr id="24" name="Text 21"/>
          <p:cNvSpPr/>
          <p:nvPr/>
        </p:nvSpPr>
        <p:spPr>
          <a:xfrm>
            <a:off x="6299183" y="4038898"/>
            <a:ext cx="5232489" cy="323574"/>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B69CFF"/>
                </a:solidFill>
                <a:latin typeface="Space Grotesk" pitchFamily="34" charset="0"/>
                <a:ea typeface="Space Grotesk" pitchFamily="34" charset="-122"/>
                <a:cs typeface="Space Grotesk" pitchFamily="34" charset="-120"/>
              </a:rPr>
              <a:t>Fleet deals</a:t>
            </a:r>
            <a:r>
              <a:rPr lang="en-US" sz="1700" dirty="0">
                <a:solidFill>
                  <a:srgbClr val="F4F3EF"/>
                </a:solidFill>
                <a:latin typeface="Space Grotesk" pitchFamily="34" charset="0"/>
                <a:ea typeface="Space Grotesk" pitchFamily="34" charset="-122"/>
                <a:cs typeface="Space Grotesk" pitchFamily="34" charset="-120"/>
              </a:rPr>
              <a:t> for quiet bays</a:t>
            </a:r>
            <a:endParaRPr lang="en-US" sz="1700" dirty="0"/>
          </a:p>
        </p:txBody>
      </p:sp>
      <p:sp>
        <p:nvSpPr>
          <p:cNvPr id="25" name="Text 22"/>
          <p:cNvSpPr/>
          <p:nvPr/>
        </p:nvSpPr>
        <p:spPr>
          <a:xfrm>
            <a:off x="6299183" y="4425938"/>
            <a:ext cx="5232489" cy="323574"/>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B69CFF"/>
                </a:solidFill>
                <a:latin typeface="Space Grotesk" pitchFamily="34" charset="0"/>
                <a:ea typeface="Space Grotesk" pitchFamily="34" charset="-122"/>
                <a:cs typeface="Space Grotesk" pitchFamily="34" charset="-120"/>
              </a:rPr>
              <a:t>Charging commission</a:t>
            </a:r>
            <a:r>
              <a:rPr lang="en-US" sz="1700" dirty="0">
                <a:solidFill>
                  <a:srgbClr val="F4F3EF"/>
                </a:solidFill>
                <a:latin typeface="Space Grotesk" pitchFamily="34" charset="0"/>
                <a:ea typeface="Space Grotesk" pitchFamily="34" charset="-122"/>
                <a:cs typeface="Space Grotesk" pitchFamily="34" charset="-120"/>
              </a:rPr>
              <a:t> of 1–5%</a:t>
            </a:r>
            <a:endParaRPr lang="en-US" sz="1700" dirty="0"/>
          </a:p>
        </p:txBody>
      </p:sp>
      <p:sp>
        <p:nvSpPr>
          <p:cNvPr id="26" name="Shape 23"/>
          <p:cNvSpPr/>
          <p:nvPr/>
        </p:nvSpPr>
        <p:spPr>
          <a:xfrm>
            <a:off x="6299183" y="4993897"/>
            <a:ext cx="5080086" cy="848105"/>
          </a:xfrm>
          <a:prstGeom prst="roundRect">
            <a:avLst>
              <a:gd name="adj" fmla="val 17969"/>
            </a:avLst>
          </a:prstGeom>
          <a:solidFill>
            <a:srgbClr val="C9E847"/>
          </a:solidFill>
          <a:ln/>
        </p:spPr>
        <p:txBody>
          <a:bodyPr/>
          <a:lstStyle/>
          <a:p>
            <a:endParaRPr lang="en-DE"/>
          </a:p>
        </p:txBody>
      </p:sp>
      <p:sp>
        <p:nvSpPr>
          <p:cNvPr id="27" name="Text 24"/>
          <p:cNvSpPr/>
          <p:nvPr/>
        </p:nvSpPr>
        <p:spPr>
          <a:xfrm>
            <a:off x="6527731" y="5133578"/>
            <a:ext cx="746971" cy="594139"/>
          </a:xfrm>
          <a:prstGeom prst="rect">
            <a:avLst/>
          </a:prstGeom>
          <a:noFill/>
          <a:ln/>
        </p:spPr>
        <p:txBody>
          <a:bodyPr wrap="none" lIns="0" tIns="0" rIns="0" bIns="0" rtlCol="0" anchor="t">
            <a:normAutofit/>
          </a:bodyPr>
          <a:lstStyle/>
          <a:p>
            <a:pPr marL="0" indent="0" algn="l">
              <a:lnSpc>
                <a:spcPts val="4500"/>
              </a:lnSpc>
              <a:buNone/>
            </a:pPr>
            <a:r>
              <a:rPr lang="en-US" sz="4500" dirty="0">
                <a:solidFill>
                  <a:srgbClr val="11161B"/>
                </a:solidFill>
                <a:latin typeface="Bebas Neue" pitchFamily="34" charset="0"/>
                <a:ea typeface="Bebas Neue" pitchFamily="34" charset="-122"/>
                <a:cs typeface="Bebas Neue" pitchFamily="34" charset="-120"/>
              </a:rPr>
              <a:t>20%</a:t>
            </a:r>
            <a:endParaRPr lang="en-US" sz="4500" dirty="0"/>
          </a:p>
        </p:txBody>
      </p:sp>
      <p:sp>
        <p:nvSpPr>
          <p:cNvPr id="28" name="Text 25"/>
          <p:cNvSpPr/>
          <p:nvPr/>
        </p:nvSpPr>
        <p:spPr>
          <a:xfrm>
            <a:off x="7427085" y="5180515"/>
            <a:ext cx="3835346" cy="50027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1161B"/>
                </a:solidFill>
                <a:latin typeface="Space Grotesk" pitchFamily="34" charset="0"/>
                <a:ea typeface="Space Grotesk" pitchFamily="34" charset="-122"/>
                <a:cs typeface="Space Grotesk" pitchFamily="34" charset="-120"/>
              </a:rPr>
              <a:t>of net reservation revenue goes to the bay owner</a:t>
            </a:r>
            <a:endParaRPr lang="en-US" sz="1400" dirty="0"/>
          </a:p>
        </p:txBody>
      </p:sp>
      <p:sp>
        <p:nvSpPr>
          <p:cNvPr id="29" name="Text 26"/>
          <p:cNvSpPr/>
          <p:nvPr/>
        </p:nvSpPr>
        <p:spPr>
          <a:xfrm>
            <a:off x="812731" y="6241814"/>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6"/>
                </a:solidFill>
                <a:latin typeface="Space Grotesk" pitchFamily="34" charset="0"/>
                <a:ea typeface="Space Grotesk" pitchFamily="34" charset="-122"/>
                <a:cs typeface="Space Grotesk" pitchFamily="34" charset="-120"/>
              </a:rPr>
              <a:t>Proposed pilot prices; subject to change after the pilot.</a:t>
            </a:r>
            <a:endParaRPr lang="en-US" sz="1200" dirty="0"/>
          </a:p>
        </p:txBody>
      </p:sp>
      <p:sp>
        <p:nvSpPr>
          <p:cNvPr id="30" name="Text 27"/>
          <p:cNvSpPr/>
          <p:nvPr/>
        </p:nvSpPr>
        <p:spPr>
          <a:xfrm>
            <a:off x="10058470" y="6241814"/>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19"/>
        </a:solidFill>
        <a:effectLst/>
      </p:bgPr>
    </p:bg>
    <p:spTree>
      <p:nvGrpSpPr>
        <p:cNvPr id="1" name=""/>
        <p:cNvGrpSpPr/>
        <p:nvPr/>
      </p:nvGrpSpPr>
      <p:grpSpPr>
        <a:xfrm>
          <a:off x="0" y="0"/>
          <a:ext cx="0" cy="0"/>
          <a:chOff x="0" y="0"/>
          <a:chExt cx="0" cy="0"/>
        </a:xfrm>
      </p:grpSpPr>
      <p:sp>
        <p:nvSpPr>
          <p:cNvPr id="2" name="Text 0"/>
          <p:cNvSpPr/>
          <p:nvPr/>
        </p:nvSpPr>
        <p:spPr>
          <a:xfrm>
            <a:off x="812731" y="711188"/>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UNIT ECONOMICS</a:t>
            </a:r>
            <a:endParaRPr lang="en-US" sz="1300" dirty="0"/>
          </a:p>
        </p:txBody>
      </p:sp>
      <p:sp>
        <p:nvSpPr>
          <p:cNvPr id="3" name="Text 1"/>
          <p:cNvSpPr>
            <a:spLocks noGrp="1"/>
          </p:cNvSpPr>
          <p:nvPr>
            <p:ph type="title"/>
          </p:nvPr>
        </p:nvSpPr>
        <p:spPr>
          <a:xfrm>
            <a:off x="812731" y="1039124"/>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F4F3EF"/>
                </a:solidFill>
                <a:latin typeface="Bebas Neue" pitchFamily="34" charset="0"/>
                <a:ea typeface="Bebas Neue" pitchFamily="34" charset="-122"/>
                <a:cs typeface="Bebas Neue" pitchFamily="34" charset="-120"/>
              </a:rPr>
              <a:t>BREAK EVEN IN </a:t>
            </a:r>
            <a:r>
              <a:rPr lang="en-US" sz="6200" b="0" i="0" dirty="0">
                <a:solidFill>
                  <a:srgbClr val="C9E847"/>
                </a:solidFill>
                <a:latin typeface="Bebas Neue" pitchFamily="34" charset="0"/>
                <a:ea typeface="Bebas Neue" pitchFamily="34" charset="-122"/>
                <a:cs typeface="Bebas Neue" pitchFamily="34" charset="-120"/>
              </a:rPr>
              <a:t>67 BOOKINGS</a:t>
            </a:r>
            <a:endParaRPr lang="en-US" sz="6200" dirty="0"/>
          </a:p>
        </p:txBody>
      </p:sp>
      <p:sp>
        <p:nvSpPr>
          <p:cNvPr id="4" name="Shape 2"/>
          <p:cNvSpPr/>
          <p:nvPr/>
        </p:nvSpPr>
        <p:spPr>
          <a:xfrm>
            <a:off x="815906" y="2080301"/>
            <a:ext cx="2038074" cy="1128713"/>
          </a:xfrm>
          <a:prstGeom prst="roundRect">
            <a:avLst>
              <a:gd name="adj" fmla="val 8720"/>
            </a:avLst>
          </a:prstGeom>
          <a:solidFill>
            <a:srgbClr val="11161B"/>
          </a:solidFill>
          <a:ln w="6350">
            <a:solidFill>
              <a:srgbClr val="262C33"/>
            </a:solidFill>
            <a:prstDash val="solid"/>
          </a:ln>
        </p:spPr>
        <p:txBody>
          <a:bodyPr/>
          <a:lstStyle/>
          <a:p>
            <a:endParaRPr lang="en-DE"/>
          </a:p>
        </p:txBody>
      </p:sp>
      <p:sp>
        <p:nvSpPr>
          <p:cNvPr id="5" name="Text 3"/>
          <p:cNvSpPr/>
          <p:nvPr/>
        </p:nvSpPr>
        <p:spPr>
          <a:xfrm>
            <a:off x="970618" y="2260377"/>
            <a:ext cx="1780509"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7AD"/>
                </a:solidFill>
                <a:latin typeface="JetBrains Mono" pitchFamily="49" charset="0"/>
                <a:ea typeface="JetBrains Mono" pitchFamily="49" charset="-122"/>
                <a:cs typeface="JetBrains Mono" pitchFamily="49" charset="-120"/>
              </a:rPr>
              <a:t>DRIVER PAYS</a:t>
            </a:r>
            <a:endParaRPr lang="en-US" sz="1200" dirty="0"/>
          </a:p>
        </p:txBody>
      </p:sp>
      <p:sp>
        <p:nvSpPr>
          <p:cNvPr id="6" name="Text 4"/>
          <p:cNvSpPr/>
          <p:nvPr/>
        </p:nvSpPr>
        <p:spPr>
          <a:xfrm>
            <a:off x="970618" y="2520938"/>
            <a:ext cx="1780509" cy="533400"/>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F4F3EF"/>
                </a:solidFill>
                <a:latin typeface="Bebas Neue" pitchFamily="34" charset="0"/>
                <a:ea typeface="Bebas Neue" pitchFamily="34" charset="-122"/>
                <a:cs typeface="Bebas Neue" pitchFamily="34" charset="-120"/>
              </a:rPr>
              <a:t>€5.00</a:t>
            </a:r>
            <a:endParaRPr lang="en-US" sz="4000" dirty="0"/>
          </a:p>
        </p:txBody>
      </p:sp>
      <p:sp>
        <p:nvSpPr>
          <p:cNvPr id="7" name="Shape 5"/>
          <p:cNvSpPr/>
          <p:nvPr/>
        </p:nvSpPr>
        <p:spPr>
          <a:xfrm>
            <a:off x="2949196" y="2080301"/>
            <a:ext cx="2038074" cy="1128713"/>
          </a:xfrm>
          <a:prstGeom prst="roundRect">
            <a:avLst>
              <a:gd name="adj" fmla="val 8720"/>
            </a:avLst>
          </a:prstGeom>
          <a:solidFill>
            <a:srgbClr val="11161B"/>
          </a:solidFill>
          <a:ln w="6350">
            <a:solidFill>
              <a:srgbClr val="262C33"/>
            </a:solidFill>
            <a:prstDash val="solid"/>
          </a:ln>
        </p:spPr>
        <p:txBody>
          <a:bodyPr/>
          <a:lstStyle/>
          <a:p>
            <a:endParaRPr lang="en-DE"/>
          </a:p>
        </p:txBody>
      </p:sp>
      <p:sp>
        <p:nvSpPr>
          <p:cNvPr id="8" name="Text 6"/>
          <p:cNvSpPr/>
          <p:nvPr/>
        </p:nvSpPr>
        <p:spPr>
          <a:xfrm>
            <a:off x="3103908" y="2260377"/>
            <a:ext cx="1780509"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7AD"/>
                </a:solidFill>
                <a:latin typeface="JetBrains Mono" pitchFamily="49" charset="0"/>
                <a:ea typeface="JetBrains Mono" pitchFamily="49" charset="-122"/>
                <a:cs typeface="JetBrains Mono" pitchFamily="49" charset="-120"/>
              </a:rPr>
              <a:t>19% VAT</a:t>
            </a:r>
            <a:endParaRPr lang="en-US" sz="1200" dirty="0"/>
          </a:p>
        </p:txBody>
      </p:sp>
      <p:sp>
        <p:nvSpPr>
          <p:cNvPr id="9" name="Text 7"/>
          <p:cNvSpPr/>
          <p:nvPr/>
        </p:nvSpPr>
        <p:spPr>
          <a:xfrm>
            <a:off x="3103908" y="2520938"/>
            <a:ext cx="1780509" cy="533400"/>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9A9EA5"/>
                </a:solidFill>
                <a:latin typeface="Bebas Neue" pitchFamily="34" charset="0"/>
                <a:ea typeface="Bebas Neue" pitchFamily="34" charset="-122"/>
                <a:cs typeface="Bebas Neue" pitchFamily="34" charset="-120"/>
              </a:rPr>
              <a:t>−€0.80</a:t>
            </a:r>
            <a:endParaRPr lang="en-US" sz="4000" dirty="0"/>
          </a:p>
        </p:txBody>
      </p:sp>
      <p:sp>
        <p:nvSpPr>
          <p:cNvPr id="10" name="Shape 8"/>
          <p:cNvSpPr/>
          <p:nvPr/>
        </p:nvSpPr>
        <p:spPr>
          <a:xfrm>
            <a:off x="5082485" y="2080301"/>
            <a:ext cx="2038074" cy="1128713"/>
          </a:xfrm>
          <a:prstGeom prst="roundRect">
            <a:avLst>
              <a:gd name="adj" fmla="val 8720"/>
            </a:avLst>
          </a:prstGeom>
          <a:solidFill>
            <a:srgbClr val="11161B"/>
          </a:solidFill>
          <a:ln w="6350">
            <a:solidFill>
              <a:srgbClr val="262C33"/>
            </a:solidFill>
            <a:prstDash val="solid"/>
          </a:ln>
        </p:spPr>
        <p:txBody>
          <a:bodyPr/>
          <a:lstStyle/>
          <a:p>
            <a:endParaRPr lang="en-DE"/>
          </a:p>
        </p:txBody>
      </p:sp>
      <p:sp>
        <p:nvSpPr>
          <p:cNvPr id="11" name="Text 9"/>
          <p:cNvSpPr/>
          <p:nvPr/>
        </p:nvSpPr>
        <p:spPr>
          <a:xfrm>
            <a:off x="5237197" y="2260377"/>
            <a:ext cx="1780509"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7AD"/>
                </a:solidFill>
                <a:latin typeface="JetBrains Mono" pitchFamily="49" charset="0"/>
                <a:ea typeface="JetBrains Mono" pitchFamily="49" charset="-122"/>
                <a:cs typeface="JetBrains Mono" pitchFamily="49" charset="-120"/>
              </a:rPr>
              <a:t>PAYMENT FEE</a:t>
            </a:r>
            <a:endParaRPr lang="en-US" sz="1200" dirty="0"/>
          </a:p>
        </p:txBody>
      </p:sp>
      <p:sp>
        <p:nvSpPr>
          <p:cNvPr id="12" name="Text 10"/>
          <p:cNvSpPr/>
          <p:nvPr/>
        </p:nvSpPr>
        <p:spPr>
          <a:xfrm>
            <a:off x="5237197" y="2520938"/>
            <a:ext cx="1780509" cy="533400"/>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9A9EA5"/>
                </a:solidFill>
                <a:latin typeface="Bebas Neue" pitchFamily="34" charset="0"/>
                <a:ea typeface="Bebas Neue" pitchFamily="34" charset="-122"/>
                <a:cs typeface="Bebas Neue" pitchFamily="34" charset="-120"/>
              </a:rPr>
              <a:t>−€0.33</a:t>
            </a:r>
            <a:endParaRPr lang="en-US" sz="4000" dirty="0"/>
          </a:p>
        </p:txBody>
      </p:sp>
      <p:sp>
        <p:nvSpPr>
          <p:cNvPr id="13" name="Shape 11"/>
          <p:cNvSpPr/>
          <p:nvPr/>
        </p:nvSpPr>
        <p:spPr>
          <a:xfrm>
            <a:off x="7215774" y="2080301"/>
            <a:ext cx="2038074" cy="1128713"/>
          </a:xfrm>
          <a:prstGeom prst="roundRect">
            <a:avLst>
              <a:gd name="adj" fmla="val 8720"/>
            </a:avLst>
          </a:prstGeom>
          <a:solidFill>
            <a:srgbClr val="11161B"/>
          </a:solidFill>
          <a:ln w="6350">
            <a:solidFill>
              <a:srgbClr val="262C33"/>
            </a:solidFill>
            <a:prstDash val="solid"/>
          </a:ln>
        </p:spPr>
        <p:txBody>
          <a:bodyPr/>
          <a:lstStyle/>
          <a:p>
            <a:endParaRPr lang="en-DE"/>
          </a:p>
        </p:txBody>
      </p:sp>
      <p:sp>
        <p:nvSpPr>
          <p:cNvPr id="14" name="Text 12"/>
          <p:cNvSpPr/>
          <p:nvPr/>
        </p:nvSpPr>
        <p:spPr>
          <a:xfrm>
            <a:off x="7370487" y="2260377"/>
            <a:ext cx="1780509"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3A7AD"/>
                </a:solidFill>
                <a:latin typeface="JetBrains Mono" pitchFamily="49" charset="0"/>
                <a:ea typeface="JetBrains Mono" pitchFamily="49" charset="-122"/>
                <a:cs typeface="JetBrains Mono" pitchFamily="49" charset="-120"/>
              </a:rPr>
              <a:t>OWNER 20%</a:t>
            </a:r>
            <a:endParaRPr lang="en-US" sz="1200" dirty="0"/>
          </a:p>
        </p:txBody>
      </p:sp>
      <p:sp>
        <p:nvSpPr>
          <p:cNvPr id="15" name="Text 13"/>
          <p:cNvSpPr/>
          <p:nvPr/>
        </p:nvSpPr>
        <p:spPr>
          <a:xfrm>
            <a:off x="7370487" y="2520938"/>
            <a:ext cx="1780509" cy="533400"/>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9A9EA5"/>
                </a:solidFill>
                <a:latin typeface="Bebas Neue" pitchFamily="34" charset="0"/>
                <a:ea typeface="Bebas Neue" pitchFamily="34" charset="-122"/>
                <a:cs typeface="Bebas Neue" pitchFamily="34" charset="-120"/>
              </a:rPr>
              <a:t>−€0.84</a:t>
            </a:r>
            <a:endParaRPr lang="en-US" sz="4000" dirty="0"/>
          </a:p>
        </p:txBody>
      </p:sp>
      <p:sp>
        <p:nvSpPr>
          <p:cNvPr id="16" name="Shape 14"/>
          <p:cNvSpPr/>
          <p:nvPr/>
        </p:nvSpPr>
        <p:spPr>
          <a:xfrm>
            <a:off x="9345889" y="2077126"/>
            <a:ext cx="2033381" cy="1135063"/>
          </a:xfrm>
          <a:prstGeom prst="roundRect">
            <a:avLst>
              <a:gd name="adj" fmla="val 8951"/>
            </a:avLst>
          </a:prstGeom>
          <a:solidFill>
            <a:srgbClr val="C9E847"/>
          </a:solidFill>
          <a:ln/>
        </p:spPr>
        <p:txBody>
          <a:bodyPr/>
          <a:lstStyle/>
          <a:p>
            <a:endParaRPr lang="en-DE"/>
          </a:p>
        </p:txBody>
      </p:sp>
      <p:sp>
        <p:nvSpPr>
          <p:cNvPr id="17" name="Text 15"/>
          <p:cNvSpPr/>
          <p:nvPr/>
        </p:nvSpPr>
        <p:spPr>
          <a:xfrm>
            <a:off x="9498254" y="2254858"/>
            <a:ext cx="1780509"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1161B"/>
                </a:solidFill>
                <a:latin typeface="JetBrains Mono" pitchFamily="49" charset="0"/>
                <a:ea typeface="JetBrains Mono" pitchFamily="49" charset="-122"/>
                <a:cs typeface="JetBrains Mono" pitchFamily="49" charset="-120"/>
              </a:rPr>
              <a:t>WE KEEP</a:t>
            </a:r>
            <a:endParaRPr lang="en-US" sz="1200" dirty="0"/>
          </a:p>
        </p:txBody>
      </p:sp>
      <p:sp>
        <p:nvSpPr>
          <p:cNvPr id="18" name="Text 16"/>
          <p:cNvSpPr/>
          <p:nvPr/>
        </p:nvSpPr>
        <p:spPr>
          <a:xfrm>
            <a:off x="9498254" y="2515412"/>
            <a:ext cx="1780509" cy="533400"/>
          </a:xfrm>
          <a:prstGeom prst="rect">
            <a:avLst/>
          </a:prstGeom>
          <a:noFill/>
          <a:ln/>
        </p:spPr>
        <p:txBody>
          <a:bodyPr wrap="square" lIns="0" tIns="0" rIns="0" bIns="0" rtlCol="0" anchor="t">
            <a:normAutofit/>
          </a:bodyPr>
          <a:lstStyle/>
          <a:p>
            <a:pPr marL="0" indent="0" algn="l">
              <a:lnSpc>
                <a:spcPts val="4000"/>
              </a:lnSpc>
              <a:buNone/>
            </a:pPr>
            <a:r>
              <a:rPr lang="en-US" sz="4000" dirty="0">
                <a:solidFill>
                  <a:srgbClr val="11161B"/>
                </a:solidFill>
                <a:latin typeface="Bebas Neue" pitchFamily="34" charset="0"/>
                <a:ea typeface="Bebas Neue" pitchFamily="34" charset="-122"/>
                <a:cs typeface="Bebas Neue" pitchFamily="34" charset="-120"/>
              </a:rPr>
              <a:t>€3.03</a:t>
            </a:r>
            <a:endParaRPr lang="en-US" sz="4000" dirty="0"/>
          </a:p>
        </p:txBody>
      </p:sp>
      <p:sp>
        <p:nvSpPr>
          <p:cNvPr id="19" name="Shape 17"/>
          <p:cNvSpPr/>
          <p:nvPr/>
        </p:nvSpPr>
        <p:spPr>
          <a:xfrm>
            <a:off x="812731" y="3776836"/>
            <a:ext cx="5080086" cy="0"/>
          </a:xfrm>
          <a:prstGeom prst="line">
            <a:avLst/>
          </a:prstGeom>
          <a:noFill/>
          <a:ln w="12700">
            <a:solidFill>
              <a:srgbClr val="9C86E8"/>
            </a:solidFill>
            <a:prstDash val="solid"/>
          </a:ln>
        </p:spPr>
        <p:txBody>
          <a:bodyPr/>
          <a:lstStyle/>
          <a:p>
            <a:endParaRPr lang="en-DE"/>
          </a:p>
        </p:txBody>
      </p:sp>
      <p:sp>
        <p:nvSpPr>
          <p:cNvPr id="20" name="Text 18"/>
          <p:cNvSpPr/>
          <p:nvPr/>
        </p:nvSpPr>
        <p:spPr>
          <a:xfrm>
            <a:off x="812731" y="3933899"/>
            <a:ext cx="5232489" cy="660400"/>
          </a:xfrm>
          <a:prstGeom prst="rect">
            <a:avLst/>
          </a:prstGeom>
          <a:noFill/>
          <a:ln/>
        </p:spPr>
        <p:txBody>
          <a:bodyPr wrap="square" lIns="0" tIns="0" rIns="0" bIns="0" rtlCol="0" anchor="t">
            <a:normAutofit/>
          </a:bodyPr>
          <a:lstStyle/>
          <a:p>
            <a:pPr marL="0" indent="0" algn="l">
              <a:lnSpc>
                <a:spcPts val="5000"/>
              </a:lnSpc>
              <a:buNone/>
            </a:pPr>
            <a:r>
              <a:rPr lang="en-US" sz="5000" dirty="0">
                <a:solidFill>
                  <a:srgbClr val="F4F3EF"/>
                </a:solidFill>
                <a:latin typeface="Bebas Neue" pitchFamily="34" charset="0"/>
                <a:ea typeface="Bebas Neue" pitchFamily="34" charset="-122"/>
                <a:cs typeface="Bebas Neue" pitchFamily="34" charset="-120"/>
              </a:rPr>
              <a:t>€200</a:t>
            </a:r>
            <a:endParaRPr lang="en-US" sz="5000" dirty="0"/>
          </a:p>
        </p:txBody>
      </p:sp>
      <p:sp>
        <p:nvSpPr>
          <p:cNvPr id="21" name="Text 19"/>
          <p:cNvSpPr/>
          <p:nvPr/>
        </p:nvSpPr>
        <p:spPr>
          <a:xfrm>
            <a:off x="812731" y="4619631"/>
            <a:ext cx="5232489" cy="4781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3A7AD"/>
                </a:solidFill>
                <a:latin typeface="Space Grotesk" pitchFamily="34" charset="0"/>
                <a:ea typeface="Space Grotesk" pitchFamily="34" charset="-122"/>
                <a:cs typeface="Space Grotesk" pitchFamily="34" charset="-120"/>
              </a:rPr>
              <a:t>our cost per bay: €50 hardware + €150 installation and maintenance</a:t>
            </a:r>
            <a:endParaRPr lang="en-US" sz="1300" dirty="0"/>
          </a:p>
        </p:txBody>
      </p:sp>
      <p:sp>
        <p:nvSpPr>
          <p:cNvPr id="22" name="Shape 20"/>
          <p:cNvSpPr/>
          <p:nvPr/>
        </p:nvSpPr>
        <p:spPr>
          <a:xfrm>
            <a:off x="6299183" y="3776836"/>
            <a:ext cx="5080086" cy="0"/>
          </a:xfrm>
          <a:prstGeom prst="line">
            <a:avLst/>
          </a:prstGeom>
          <a:noFill/>
          <a:ln w="12700">
            <a:solidFill>
              <a:srgbClr val="C9E847"/>
            </a:solidFill>
            <a:prstDash val="solid"/>
          </a:ln>
        </p:spPr>
        <p:txBody>
          <a:bodyPr/>
          <a:lstStyle/>
          <a:p>
            <a:endParaRPr lang="en-DE"/>
          </a:p>
        </p:txBody>
      </p:sp>
      <p:sp>
        <p:nvSpPr>
          <p:cNvPr id="23" name="Text 21"/>
          <p:cNvSpPr/>
          <p:nvPr/>
        </p:nvSpPr>
        <p:spPr>
          <a:xfrm>
            <a:off x="6299183" y="3933899"/>
            <a:ext cx="5232489" cy="660400"/>
          </a:xfrm>
          <a:prstGeom prst="rect">
            <a:avLst/>
          </a:prstGeom>
          <a:noFill/>
          <a:ln/>
        </p:spPr>
        <p:txBody>
          <a:bodyPr wrap="square" lIns="0" tIns="0" rIns="0" bIns="0" rtlCol="0" anchor="t">
            <a:normAutofit/>
          </a:bodyPr>
          <a:lstStyle/>
          <a:p>
            <a:pPr marL="0" indent="0" algn="l">
              <a:lnSpc>
                <a:spcPts val="5000"/>
              </a:lnSpc>
              <a:buNone/>
            </a:pPr>
            <a:r>
              <a:rPr lang="en-US" sz="5000" dirty="0">
                <a:solidFill>
                  <a:srgbClr val="C9E847"/>
                </a:solidFill>
                <a:latin typeface="Bebas Neue" pitchFamily="34" charset="0"/>
                <a:ea typeface="Bebas Neue" pitchFamily="34" charset="-122"/>
                <a:cs typeface="Bebas Neue" pitchFamily="34" charset="-120"/>
              </a:rPr>
              <a:t>14 DAYS</a:t>
            </a:r>
            <a:endParaRPr lang="en-US" sz="5000" dirty="0"/>
          </a:p>
        </p:txBody>
      </p:sp>
      <p:sp>
        <p:nvSpPr>
          <p:cNvPr id="24" name="Text 22"/>
          <p:cNvSpPr/>
          <p:nvPr/>
        </p:nvSpPr>
        <p:spPr>
          <a:xfrm>
            <a:off x="6299183" y="4619631"/>
            <a:ext cx="5232489" cy="25179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3A7AD"/>
                </a:solidFill>
                <a:latin typeface="Space Grotesk" pitchFamily="34" charset="0"/>
                <a:ea typeface="Space Grotesk" pitchFamily="34" charset="-122"/>
                <a:cs typeface="Space Grotesk" pitchFamily="34" charset="-120"/>
              </a:rPr>
              <a:t>at 5 bookings a day</a:t>
            </a:r>
            <a:endParaRPr lang="en-US" sz="1300" dirty="0"/>
          </a:p>
        </p:txBody>
      </p:sp>
      <p:sp>
        <p:nvSpPr>
          <p:cNvPr id="25" name="Shape 23"/>
          <p:cNvSpPr/>
          <p:nvPr/>
        </p:nvSpPr>
        <p:spPr>
          <a:xfrm>
            <a:off x="819081" y="5281854"/>
            <a:ext cx="10553839" cy="553796"/>
          </a:xfrm>
          <a:prstGeom prst="roundRect">
            <a:avLst>
              <a:gd name="adj" fmla="val 26373"/>
            </a:avLst>
          </a:prstGeom>
          <a:noFill/>
          <a:ln w="12700">
            <a:solidFill>
              <a:srgbClr val="B69CFF"/>
            </a:solidFill>
            <a:prstDash val="dash"/>
          </a:ln>
        </p:spPr>
        <p:txBody>
          <a:bodyPr/>
          <a:lstStyle/>
          <a:p>
            <a:endParaRPr lang="en-DE"/>
          </a:p>
        </p:txBody>
      </p:sp>
      <p:sp>
        <p:nvSpPr>
          <p:cNvPr id="26" name="Text 24"/>
          <p:cNvSpPr/>
          <p:nvPr/>
        </p:nvSpPr>
        <p:spPr>
          <a:xfrm>
            <a:off x="1103140" y="5445559"/>
            <a:ext cx="2189823" cy="251791"/>
          </a:xfrm>
          <a:prstGeom prst="rect">
            <a:avLst/>
          </a:prstGeom>
          <a:noFill/>
          <a:ln/>
        </p:spPr>
        <p:txBody>
          <a:bodyPr wrap="none" lIns="0" tIns="0" rIns="0" bIns="0" rtlCol="0" anchor="t">
            <a:normAutofit/>
          </a:bodyPr>
          <a:lstStyle/>
          <a:p>
            <a:pPr marL="0" indent="0" algn="l">
              <a:lnSpc>
                <a:spcPts val="1820"/>
              </a:lnSpc>
              <a:buNone/>
            </a:pPr>
            <a:r>
              <a:rPr lang="en-US" sz="1300" kern="0" spc="150" dirty="0">
                <a:solidFill>
                  <a:srgbClr val="B69CFF"/>
                </a:solidFill>
                <a:latin typeface="JetBrains Mono" pitchFamily="49" charset="0"/>
                <a:ea typeface="JetBrains Mono" pitchFamily="49" charset="-122"/>
                <a:cs typeface="JetBrains Mono" pitchFamily="49" charset="-120"/>
              </a:rPr>
              <a:t>FUTURE PERSPECTIVE</a:t>
            </a:r>
            <a:endParaRPr lang="en-US" sz="1300" dirty="0"/>
          </a:p>
        </p:txBody>
      </p:sp>
      <p:sp>
        <p:nvSpPr>
          <p:cNvPr id="27" name="Text 25"/>
          <p:cNvSpPr/>
          <p:nvPr/>
        </p:nvSpPr>
        <p:spPr>
          <a:xfrm>
            <a:off x="3432365" y="5426236"/>
            <a:ext cx="6355482" cy="290443"/>
          </a:xfrm>
          <a:prstGeom prst="rect">
            <a:avLst/>
          </a:prstGeom>
          <a:noFill/>
          <a:ln/>
        </p:spPr>
        <p:txBody>
          <a:bodyPr wrap="none" lIns="0" tIns="0" rIns="0" bIns="0" rtlCol="0" anchor="t">
            <a:normAutofit/>
          </a:bodyPr>
          <a:lstStyle/>
          <a:p>
            <a:pPr marL="0" indent="0" algn="l">
              <a:lnSpc>
                <a:spcPts val="2100"/>
              </a:lnSpc>
              <a:buNone/>
            </a:pPr>
            <a:r>
              <a:rPr lang="en-US" sz="1500" dirty="0">
                <a:solidFill>
                  <a:srgbClr val="F4F3EF"/>
                </a:solidFill>
                <a:latin typeface="Space Grotesk" pitchFamily="34" charset="0"/>
                <a:ea typeface="Space Grotesk" pitchFamily="34" charset="-122"/>
                <a:cs typeface="Space Grotesk" pitchFamily="34" charset="-120"/>
              </a:rPr>
              <a:t>Monthly subscription with booking credits to cut transaction fees.</a:t>
            </a:r>
            <a:endParaRPr lang="en-US" sz="1500" dirty="0"/>
          </a:p>
        </p:txBody>
      </p:sp>
      <p:sp>
        <p:nvSpPr>
          <p:cNvPr id="28" name="Text 26"/>
          <p:cNvSpPr/>
          <p:nvPr/>
        </p:nvSpPr>
        <p:spPr>
          <a:xfrm>
            <a:off x="812731" y="6241814"/>
            <a:ext cx="9156700" cy="235226"/>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96"/>
                </a:solidFill>
                <a:latin typeface="Space Grotesk" pitchFamily="34" charset="0"/>
                <a:ea typeface="Space Grotesk" pitchFamily="34" charset="-122"/>
                <a:cs typeface="Space Grotesk" pitchFamily="34" charset="-120"/>
              </a:rPr>
              <a:t>€200 setup per bay, Stripe EEA card fee. Excludes other operating costs; illustrative, not a guarantee.</a:t>
            </a:r>
            <a:endParaRPr lang="en-US" sz="1200" dirty="0"/>
          </a:p>
        </p:txBody>
      </p:sp>
      <p:sp>
        <p:nvSpPr>
          <p:cNvPr id="29" name="Text 27"/>
          <p:cNvSpPr/>
          <p:nvPr/>
        </p:nvSpPr>
        <p:spPr>
          <a:xfrm>
            <a:off x="10058470" y="6241814"/>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3EF"/>
        </a:solidFill>
        <a:effectLst/>
      </p:bgPr>
    </p:bg>
    <p:spTree>
      <p:nvGrpSpPr>
        <p:cNvPr id="1" name=""/>
        <p:cNvGrpSpPr/>
        <p:nvPr/>
      </p:nvGrpSpPr>
      <p:grpSpPr>
        <a:xfrm>
          <a:off x="0" y="0"/>
          <a:ext cx="0" cy="0"/>
          <a:chOff x="0" y="0"/>
          <a:chExt cx="0" cy="0"/>
        </a:xfrm>
      </p:grpSpPr>
      <p:sp>
        <p:nvSpPr>
          <p:cNvPr id="2" name="Text 0"/>
          <p:cNvSpPr/>
          <p:nvPr/>
        </p:nvSpPr>
        <p:spPr>
          <a:xfrm>
            <a:off x="812731" y="711181"/>
            <a:ext cx="10883535"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5E1EEE"/>
                </a:solidFill>
                <a:latin typeface="JetBrains Mono" pitchFamily="49" charset="0"/>
                <a:ea typeface="JetBrains Mono" pitchFamily="49" charset="-122"/>
                <a:cs typeface="JetBrains Mono" pitchFamily="49" charset="-120"/>
              </a:rPr>
              <a:t>FUTURE INTEGRATION</a:t>
            </a:r>
            <a:endParaRPr lang="en-US" sz="1300" dirty="0"/>
          </a:p>
        </p:txBody>
      </p:sp>
      <p:sp>
        <p:nvSpPr>
          <p:cNvPr id="3" name="Text 1"/>
          <p:cNvSpPr>
            <a:spLocks noGrp="1"/>
          </p:cNvSpPr>
          <p:nvPr>
            <p:ph type="title"/>
          </p:nvPr>
        </p:nvSpPr>
        <p:spPr>
          <a:xfrm>
            <a:off x="812731" y="1039118"/>
            <a:ext cx="10883535" cy="809487"/>
          </a:xfrm>
          <a:prstGeom prst="rect">
            <a:avLst/>
          </a:prstGeom>
          <a:noFill/>
          <a:ln/>
        </p:spPr>
        <p:txBody>
          <a:bodyPr wrap="square" lIns="0" tIns="0" rIns="0" bIns="0" rtlCol="0" anchor="t">
            <a:normAutofit/>
          </a:bodyPr>
          <a:lstStyle/>
          <a:p>
            <a:pPr marL="0" indent="0" algn="l">
              <a:lnSpc>
                <a:spcPts val="6200"/>
              </a:lnSpc>
              <a:buNone/>
            </a:pPr>
            <a:r>
              <a:rPr lang="en-US" sz="6200" b="0" i="0" dirty="0">
                <a:solidFill>
                  <a:srgbClr val="11161B"/>
                </a:solidFill>
                <a:latin typeface="Bebas Neue" pitchFamily="34" charset="0"/>
                <a:ea typeface="Bebas Neue" pitchFamily="34" charset="-122"/>
                <a:cs typeface="Bebas Neue" pitchFamily="34" charset="-120"/>
              </a:rPr>
              <a:t>THERE’S </a:t>
            </a:r>
            <a:r>
              <a:rPr lang="en-US" sz="6200" b="0" i="0" dirty="0">
                <a:solidFill>
                  <a:srgbClr val="5E1EEE"/>
                </a:solidFill>
                <a:latin typeface="Bebas Neue" pitchFamily="34" charset="0"/>
                <a:ea typeface="Bebas Neue" pitchFamily="34" charset="-122"/>
                <a:cs typeface="Bebas Neue" pitchFamily="34" charset="-120"/>
              </a:rPr>
              <a:t>MORE</a:t>
            </a:r>
            <a:endParaRPr lang="en-US" sz="6200" dirty="0"/>
          </a:p>
        </p:txBody>
      </p:sp>
      <p:sp>
        <p:nvSpPr>
          <p:cNvPr id="4" name="Text 2"/>
          <p:cNvSpPr/>
          <p:nvPr/>
        </p:nvSpPr>
        <p:spPr>
          <a:xfrm>
            <a:off x="812731" y="2026357"/>
            <a:ext cx="8502650" cy="776305"/>
          </a:xfrm>
          <a:prstGeom prst="rect">
            <a:avLst/>
          </a:prstGeom>
          <a:noFill/>
          <a:ln/>
        </p:spPr>
        <p:txBody>
          <a:bodyPr wrap="square" lIns="0" tIns="0" rIns="0" bIns="0" rtlCol="0" anchor="t">
            <a:normAutofit/>
          </a:bodyPr>
          <a:lstStyle/>
          <a:p>
            <a:pPr marL="0" indent="0" algn="l">
              <a:lnSpc>
                <a:spcPts val="2990"/>
              </a:lnSpc>
              <a:buNone/>
            </a:pPr>
            <a:r>
              <a:rPr lang="en-US" sz="2300" dirty="0">
                <a:solidFill>
                  <a:srgbClr val="11161B"/>
                </a:solidFill>
                <a:latin typeface="Space Grotesk" pitchFamily="34" charset="0"/>
                <a:ea typeface="Space Grotesk" pitchFamily="34" charset="-122"/>
                <a:cs typeface="Space Grotesk" pitchFamily="34" charset="-120"/>
              </a:rPr>
              <a:t>Complete documentation of our API and SDK, </a:t>
            </a:r>
            <a:r>
              <a:rPr lang="en-US" sz="2300" dirty="0">
                <a:solidFill>
                  <a:srgbClr val="5E1EEE"/>
                </a:solidFill>
                <a:latin typeface="Space Grotesk" pitchFamily="34" charset="0"/>
                <a:ea typeface="Space Grotesk" pitchFamily="34" charset="-122"/>
                <a:cs typeface="Space Grotesk" pitchFamily="34" charset="-120"/>
              </a:rPr>
              <a:t>so third-party apps can integrate our services.</a:t>
            </a:r>
            <a:endParaRPr lang="en-US" sz="2300" dirty="0"/>
          </a:p>
        </p:txBody>
      </p:sp>
      <p:sp>
        <p:nvSpPr>
          <p:cNvPr id="5" name="Shape 3"/>
          <p:cNvSpPr/>
          <p:nvPr/>
        </p:nvSpPr>
        <p:spPr>
          <a:xfrm>
            <a:off x="812731" y="3511910"/>
            <a:ext cx="5207086" cy="2330088"/>
          </a:xfrm>
          <a:prstGeom prst="roundRect">
            <a:avLst>
              <a:gd name="adj" fmla="val 6541"/>
            </a:avLst>
          </a:prstGeom>
          <a:solidFill>
            <a:srgbClr val="FFFFFF"/>
          </a:solidFill>
          <a:ln/>
        </p:spPr>
        <p:txBody>
          <a:bodyPr/>
          <a:lstStyle/>
          <a:p>
            <a:endParaRPr lang="en-DE"/>
          </a:p>
        </p:txBody>
      </p:sp>
      <p:sp>
        <p:nvSpPr>
          <p:cNvPr id="6" name="Text 4"/>
          <p:cNvSpPr/>
          <p:nvPr/>
        </p:nvSpPr>
        <p:spPr>
          <a:xfrm>
            <a:off x="1092097" y="3791272"/>
            <a:ext cx="1119084" cy="925444"/>
          </a:xfrm>
          <a:prstGeom prst="rect">
            <a:avLst/>
          </a:prstGeom>
          <a:noFill/>
          <a:ln/>
        </p:spPr>
        <p:txBody>
          <a:bodyPr wrap="square" lIns="0" tIns="0" rIns="0" bIns="0" rtlCol="0" anchor="t">
            <a:normAutofit/>
          </a:bodyPr>
          <a:lstStyle/>
          <a:p>
            <a:pPr marL="0" indent="0" algn="l">
              <a:lnSpc>
                <a:spcPts val="7125"/>
              </a:lnSpc>
              <a:buNone/>
            </a:pPr>
            <a:r>
              <a:rPr lang="en-US" sz="7500" dirty="0">
                <a:solidFill>
                  <a:srgbClr val="5E1EEE"/>
                </a:solidFill>
                <a:latin typeface="Bebas Neue" pitchFamily="34" charset="0"/>
                <a:ea typeface="Bebas Neue" pitchFamily="34" charset="-122"/>
                <a:cs typeface="Bebas Neue" pitchFamily="34" charset="-120"/>
              </a:rPr>
              <a:t>API</a:t>
            </a:r>
            <a:endParaRPr lang="en-US" sz="7500" dirty="0"/>
          </a:p>
        </p:txBody>
      </p:sp>
      <p:sp>
        <p:nvSpPr>
          <p:cNvPr id="7" name="Text 5"/>
          <p:cNvSpPr/>
          <p:nvPr/>
        </p:nvSpPr>
        <p:spPr>
          <a:xfrm>
            <a:off x="2616252" y="4365538"/>
            <a:ext cx="3124200" cy="235226"/>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5E1EEE"/>
                </a:solidFill>
                <a:latin typeface="JetBrains Mono" pitchFamily="49" charset="0"/>
                <a:ea typeface="JetBrains Mono" pitchFamily="49" charset="-122"/>
                <a:cs typeface="JetBrains Mono" pitchFamily="49" charset="-120"/>
              </a:rPr>
              <a:t>FOR OPERATORS &amp; PLATFORMS</a:t>
            </a:r>
            <a:endParaRPr lang="en-US" sz="1200" dirty="0"/>
          </a:p>
        </p:txBody>
      </p:sp>
      <p:sp>
        <p:nvSpPr>
          <p:cNvPr id="8" name="Text 6"/>
          <p:cNvSpPr/>
          <p:nvPr/>
        </p:nvSpPr>
        <p:spPr>
          <a:xfrm>
            <a:off x="1092097" y="4767498"/>
            <a:ext cx="4787806" cy="82053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C6168"/>
                </a:solidFill>
                <a:latin typeface="Space Grotesk" pitchFamily="34" charset="0"/>
                <a:ea typeface="Space Grotesk" pitchFamily="34" charset="-122"/>
                <a:cs typeface="Space Grotesk" pitchFamily="34" charset="-120"/>
              </a:rPr>
              <a:t>Check live bay status, book and release bays straight from their own systems. Open and OCPI-ready.</a:t>
            </a:r>
            <a:endParaRPr lang="en-US" sz="1500" dirty="0"/>
          </a:p>
        </p:txBody>
      </p:sp>
      <p:sp>
        <p:nvSpPr>
          <p:cNvPr id="9" name="Shape 7"/>
          <p:cNvSpPr/>
          <p:nvPr/>
        </p:nvSpPr>
        <p:spPr>
          <a:xfrm>
            <a:off x="6172183" y="3511910"/>
            <a:ext cx="5207086" cy="2330088"/>
          </a:xfrm>
          <a:prstGeom prst="roundRect">
            <a:avLst>
              <a:gd name="adj" fmla="val 6541"/>
            </a:avLst>
          </a:prstGeom>
          <a:solidFill>
            <a:srgbClr val="11161B"/>
          </a:solidFill>
          <a:ln/>
        </p:spPr>
        <p:txBody>
          <a:bodyPr/>
          <a:lstStyle/>
          <a:p>
            <a:endParaRPr lang="en-DE"/>
          </a:p>
        </p:txBody>
      </p:sp>
      <p:sp>
        <p:nvSpPr>
          <p:cNvPr id="10" name="Text 8"/>
          <p:cNvSpPr/>
          <p:nvPr/>
        </p:nvSpPr>
        <p:spPr>
          <a:xfrm>
            <a:off x="6451548" y="3791272"/>
            <a:ext cx="1362489" cy="925444"/>
          </a:xfrm>
          <a:prstGeom prst="rect">
            <a:avLst/>
          </a:prstGeom>
          <a:noFill/>
          <a:ln/>
        </p:spPr>
        <p:txBody>
          <a:bodyPr wrap="square" lIns="0" tIns="0" rIns="0" bIns="0" rtlCol="0" anchor="t">
            <a:normAutofit/>
          </a:bodyPr>
          <a:lstStyle/>
          <a:p>
            <a:pPr marL="0" indent="0" algn="l">
              <a:lnSpc>
                <a:spcPts val="7125"/>
              </a:lnSpc>
              <a:buNone/>
            </a:pPr>
            <a:r>
              <a:rPr lang="en-US" sz="7500" dirty="0">
                <a:solidFill>
                  <a:srgbClr val="C9E847"/>
                </a:solidFill>
                <a:latin typeface="Bebas Neue" pitchFamily="34" charset="0"/>
                <a:ea typeface="Bebas Neue" pitchFamily="34" charset="-122"/>
                <a:cs typeface="Bebas Neue" pitchFamily="34" charset="-120"/>
              </a:rPr>
              <a:t>SDK</a:t>
            </a:r>
            <a:endParaRPr lang="en-US" sz="7500" dirty="0"/>
          </a:p>
        </p:txBody>
      </p:sp>
      <p:sp>
        <p:nvSpPr>
          <p:cNvPr id="11" name="Text 9"/>
          <p:cNvSpPr/>
          <p:nvPr/>
        </p:nvSpPr>
        <p:spPr>
          <a:xfrm>
            <a:off x="8850451" y="4365538"/>
            <a:ext cx="2249453" cy="235226"/>
          </a:xfrm>
          <a:prstGeom prst="rect">
            <a:avLst/>
          </a:prstGeom>
          <a:noFill/>
          <a:ln/>
        </p:spPr>
        <p:txBody>
          <a:bodyPr wrap="square" lIns="0" tIns="0" rIns="0" bIns="0" rtlCol="0" anchor="t">
            <a:normAutofit/>
          </a:bodyPr>
          <a:lstStyle/>
          <a:p>
            <a:pPr marL="0" indent="0" algn="r">
              <a:lnSpc>
                <a:spcPts val="1680"/>
              </a:lnSpc>
              <a:buNone/>
            </a:pPr>
            <a:r>
              <a:rPr lang="en-US" sz="1200" kern="0" spc="100" dirty="0">
                <a:solidFill>
                  <a:srgbClr val="C9E847"/>
                </a:solidFill>
                <a:latin typeface="JetBrains Mono" pitchFamily="49" charset="0"/>
                <a:ea typeface="JetBrains Mono" pitchFamily="49" charset="-122"/>
                <a:cs typeface="JetBrains Mono" pitchFamily="49" charset="-120"/>
              </a:rPr>
              <a:t>FOR APP DEVELOPERS</a:t>
            </a:r>
            <a:endParaRPr lang="en-US" sz="1200" dirty="0"/>
          </a:p>
        </p:txBody>
      </p:sp>
      <p:sp>
        <p:nvSpPr>
          <p:cNvPr id="12" name="Text 10"/>
          <p:cNvSpPr/>
          <p:nvPr/>
        </p:nvSpPr>
        <p:spPr>
          <a:xfrm>
            <a:off x="6451548" y="4767498"/>
            <a:ext cx="4787806" cy="555487"/>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A3A7AD"/>
                </a:solidFill>
                <a:latin typeface="Space Grotesk" pitchFamily="34" charset="0"/>
                <a:ea typeface="Space Grotesk" pitchFamily="34" charset="-122"/>
                <a:cs typeface="Space Grotesk" pitchFamily="34" charset="-120"/>
              </a:rPr>
              <a:t>Drop BayWatch booking, plate check and unlock into their own mobile apps.</a:t>
            </a:r>
            <a:endParaRPr lang="en-US" sz="1500" dirty="0"/>
          </a:p>
        </p:txBody>
      </p:sp>
      <p:sp>
        <p:nvSpPr>
          <p:cNvPr id="13" name="Text 11"/>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168"/>
                </a:solidFill>
                <a:latin typeface="JetBrains Mono" pitchFamily="49" charset="0"/>
                <a:ea typeface="JetBrains Mono" pitchFamily="49" charset="-122"/>
                <a:cs typeface="JetBrains Mono" pitchFamily="49"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19"/>
        </a:solidFill>
        <a:effectLst/>
      </p:bgPr>
    </p:bg>
    <p:spTree>
      <p:nvGrpSpPr>
        <p:cNvPr id="1" name=""/>
        <p:cNvGrpSpPr/>
        <p:nvPr/>
      </p:nvGrpSpPr>
      <p:grpSpPr>
        <a:xfrm>
          <a:off x="0" y="0"/>
          <a:ext cx="0" cy="0"/>
          <a:chOff x="0" y="0"/>
          <a:chExt cx="0" cy="0"/>
        </a:xfrm>
      </p:grpSpPr>
      <p:pic>
        <p:nvPicPr>
          <p:cNvPr id="2" name="Image 0" descr="The BayWatch team, four people standing arm in arm in front of an Ecurious banner, with three yellow parking-bay locks on the floor"/>
          <p:cNvPicPr>
            <a:picLocks noChangeAspect="1"/>
          </p:cNvPicPr>
          <p:nvPr/>
        </p:nvPicPr>
        <p:blipFill>
          <a:blip r:embed="rId3"/>
          <a:srcRect l="2911" r="2911"/>
          <a:stretch/>
        </p:blipFill>
        <p:spPr>
          <a:xfrm>
            <a:off x="6350000" y="711181"/>
            <a:ext cx="5029183" cy="5130731"/>
          </a:xfrm>
          <a:prstGeom prst="roundRect">
            <a:avLst>
              <a:gd name="adj" fmla="val 3030"/>
            </a:avLst>
          </a:prstGeom>
        </p:spPr>
      </p:pic>
      <p:sp>
        <p:nvSpPr>
          <p:cNvPr id="3" name="Shape 0"/>
          <p:cNvSpPr/>
          <p:nvPr/>
        </p:nvSpPr>
        <p:spPr>
          <a:xfrm>
            <a:off x="6359525" y="720706"/>
            <a:ext cx="5010133" cy="5111681"/>
          </a:xfrm>
          <a:prstGeom prst="roundRect">
            <a:avLst>
              <a:gd name="adj" fmla="val 2852"/>
            </a:avLst>
          </a:prstGeom>
          <a:noFill/>
          <a:ln w="19050">
            <a:solidFill>
              <a:srgbClr val="C9E847"/>
            </a:solidFill>
            <a:prstDash val="solid"/>
          </a:ln>
        </p:spPr>
        <p:txBody>
          <a:bodyPr/>
          <a:lstStyle/>
          <a:p>
            <a:endParaRPr lang="en-DE"/>
          </a:p>
        </p:txBody>
      </p:sp>
      <p:sp>
        <p:nvSpPr>
          <p:cNvPr id="4" name="Text 1"/>
          <p:cNvSpPr/>
          <p:nvPr/>
        </p:nvSpPr>
        <p:spPr>
          <a:xfrm>
            <a:off x="812731" y="1432886"/>
            <a:ext cx="5232400"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THE TEAM</a:t>
            </a:r>
            <a:endParaRPr lang="en-US" sz="1300" dirty="0"/>
          </a:p>
        </p:txBody>
      </p:sp>
      <p:sp>
        <p:nvSpPr>
          <p:cNvPr id="5" name="Text 2"/>
          <p:cNvSpPr>
            <a:spLocks noGrp="1"/>
          </p:cNvSpPr>
          <p:nvPr>
            <p:ph type="title"/>
          </p:nvPr>
        </p:nvSpPr>
        <p:spPr>
          <a:xfrm>
            <a:off x="812731" y="1811648"/>
            <a:ext cx="5232400" cy="2725531"/>
          </a:xfrm>
          <a:prstGeom prst="rect">
            <a:avLst/>
          </a:prstGeom>
          <a:noFill/>
          <a:ln/>
        </p:spPr>
        <p:txBody>
          <a:bodyPr wrap="square" lIns="0" tIns="0" rIns="0" bIns="0" rtlCol="0" anchor="t">
            <a:normAutofit/>
          </a:bodyPr>
          <a:lstStyle/>
          <a:p>
            <a:pPr marL="0" indent="0" algn="l">
              <a:lnSpc>
                <a:spcPts val="7125"/>
              </a:lnSpc>
              <a:buNone/>
            </a:pPr>
            <a:r>
              <a:rPr lang="en-US" sz="7500" b="0" i="0" dirty="0">
                <a:solidFill>
                  <a:srgbClr val="F4F3EF"/>
                </a:solidFill>
                <a:latin typeface="Bebas Neue" pitchFamily="34" charset="0"/>
                <a:ea typeface="Bebas Neue" pitchFamily="34" charset="-122"/>
                <a:cs typeface="Bebas Neue" pitchFamily="34" charset="-120"/>
              </a:rPr>
              <a:t>THE PEOPLE BEHIND </a:t>
            </a:r>
            <a:r>
              <a:rPr lang="en-US" sz="7500" b="0" i="0" dirty="0">
                <a:solidFill>
                  <a:srgbClr val="B69CFF"/>
                </a:solidFill>
                <a:latin typeface="Bebas Neue" pitchFamily="34" charset="0"/>
                <a:ea typeface="Bebas Neue" pitchFamily="34" charset="-122"/>
                <a:cs typeface="Bebas Neue" pitchFamily="34" charset="-120"/>
              </a:rPr>
              <a:t>BAYWATCH</a:t>
            </a:r>
            <a:endParaRPr lang="en-US" sz="7500" dirty="0"/>
          </a:p>
        </p:txBody>
      </p:sp>
      <p:sp>
        <p:nvSpPr>
          <p:cNvPr id="6" name="Text 3"/>
          <p:cNvSpPr/>
          <p:nvPr/>
        </p:nvSpPr>
        <p:spPr>
          <a:xfrm>
            <a:off x="812731" y="4816543"/>
            <a:ext cx="5232400" cy="329061"/>
          </a:xfrm>
          <a:prstGeom prst="rect">
            <a:avLst/>
          </a:prstGeom>
          <a:noFill/>
          <a:ln/>
        </p:spPr>
        <p:txBody>
          <a:bodyPr wrap="square" lIns="0" tIns="0" rIns="0" bIns="0" rtlCol="0" anchor="t">
            <a:normAutofit/>
          </a:bodyPr>
          <a:lstStyle/>
          <a:p>
            <a:pPr marL="0" indent="0" algn="l">
              <a:lnSpc>
                <a:spcPts val="2400"/>
              </a:lnSpc>
              <a:buNone/>
            </a:pPr>
            <a:r>
              <a:rPr lang="en-US" sz="1500" kern="0" spc="150" dirty="0">
                <a:solidFill>
                  <a:srgbClr val="F4F3EF"/>
                </a:solidFill>
                <a:latin typeface="JetBrains Mono" pitchFamily="49" charset="0"/>
                <a:ea typeface="JetBrains Mono" pitchFamily="49" charset="-122"/>
                <a:cs typeface="JetBrains Mono" pitchFamily="49" charset="-120"/>
              </a:rPr>
              <a:t>ADRIAN · </a:t>
            </a:r>
            <a:r>
              <a:rPr lang="en-US" sz="1500" kern="0" spc="150" dirty="0">
                <a:solidFill>
                  <a:srgbClr val="B69CFF"/>
                </a:solidFill>
                <a:latin typeface="JetBrains Mono" pitchFamily="49" charset="0"/>
                <a:ea typeface="JetBrains Mono" pitchFamily="49" charset="-122"/>
                <a:cs typeface="JetBrains Mono" pitchFamily="49" charset="-120"/>
              </a:rPr>
              <a:t>AMINE</a:t>
            </a:r>
            <a:r>
              <a:rPr lang="en-US" sz="1500" kern="0" spc="150" dirty="0">
                <a:solidFill>
                  <a:srgbClr val="F4F3EF"/>
                </a:solidFill>
                <a:latin typeface="JetBrains Mono" pitchFamily="49" charset="0"/>
                <a:ea typeface="JetBrains Mono" pitchFamily="49" charset="-122"/>
                <a:cs typeface="JetBrains Mono" pitchFamily="49" charset="-120"/>
              </a:rPr>
              <a:t> · TILMAN · </a:t>
            </a:r>
            <a:r>
              <a:rPr lang="en-US" sz="1500" kern="0" spc="150" dirty="0">
                <a:solidFill>
                  <a:srgbClr val="B69CFF"/>
                </a:solidFill>
                <a:latin typeface="JetBrains Mono" pitchFamily="49" charset="0"/>
                <a:ea typeface="JetBrains Mono" pitchFamily="49" charset="-122"/>
                <a:cs typeface="JetBrains Mono" pitchFamily="49" charset="-120"/>
              </a:rPr>
              <a:t>MAXI</a:t>
            </a:r>
            <a:endParaRPr lang="en-US" sz="1500" dirty="0"/>
          </a:p>
        </p:txBody>
      </p:sp>
      <p:sp>
        <p:nvSpPr>
          <p:cNvPr id="7" name="Text 4"/>
          <p:cNvSpPr/>
          <p:nvPr/>
        </p:nvSpPr>
        <p:spPr>
          <a:xfrm>
            <a:off x="10058470" y="6241808"/>
            <a:ext cx="1320800" cy="235226"/>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F96"/>
                </a:solidFill>
                <a:latin typeface="JetBrains Mono" pitchFamily="49" charset="0"/>
                <a:ea typeface="JetBrains Mono" pitchFamily="49" charset="-122"/>
                <a:cs typeface="JetBrains Mono" pitchFamily="49"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19"/>
        </a:solidFill>
        <a:effectLst/>
      </p:bgPr>
    </p:bg>
    <p:spTree>
      <p:nvGrpSpPr>
        <p:cNvPr id="1" name=""/>
        <p:cNvGrpSpPr/>
        <p:nvPr/>
      </p:nvGrpSpPr>
      <p:grpSpPr>
        <a:xfrm>
          <a:off x="0" y="0"/>
          <a:ext cx="0" cy="0"/>
          <a:chOff x="0" y="0"/>
          <a:chExt cx="0" cy="0"/>
        </a:xfrm>
      </p:grpSpPr>
      <p:pic>
        <p:nvPicPr>
          <p:cNvPr id="2" name="Image 0" descr="BayWatch explainer video: a camera watches a charging bay, a car is flagged, and the line reads No more circling the car park."/>
          <p:cNvPicPr>
            <a:picLocks noChangeAspect="1"/>
          </p:cNvPicPr>
          <p:nvPr/>
        </p:nvPicPr>
        <p:blipFill>
          <a:blip r:embed="rId5"/>
          <a:srcRect t="333" b="333"/>
          <a:stretch/>
        </p:blipFill>
        <p:spPr>
          <a:xfrm>
            <a:off x="6064233" y="1949419"/>
            <a:ext cx="5295900" cy="2959083"/>
          </a:xfrm>
          <a:prstGeom prst="roundRect">
            <a:avLst>
              <a:gd name="adj" fmla="val 4506"/>
            </a:avLst>
          </a:prstGeom>
        </p:spPr>
      </p:pic>
      <p:sp>
        <p:nvSpPr>
          <p:cNvPr id="3" name="Shape 0"/>
          <p:cNvSpPr/>
          <p:nvPr/>
        </p:nvSpPr>
        <p:spPr>
          <a:xfrm>
            <a:off x="6054708" y="1939894"/>
            <a:ext cx="5314950" cy="2978133"/>
          </a:xfrm>
          <a:prstGeom prst="roundRect">
            <a:avLst>
              <a:gd name="adj" fmla="val 4797"/>
            </a:avLst>
          </a:prstGeom>
          <a:noFill/>
          <a:ln w="19050">
            <a:solidFill>
              <a:srgbClr val="C9E847"/>
            </a:solidFill>
            <a:prstDash val="solid"/>
          </a:ln>
        </p:spPr>
        <p:txBody>
          <a:bodyPr/>
          <a:lstStyle/>
          <a:p>
            <a:endParaRPr lang="en-DE"/>
          </a:p>
        </p:txBody>
      </p:sp>
      <p:sp>
        <p:nvSpPr>
          <p:cNvPr id="4" name="Text 1"/>
          <p:cNvSpPr/>
          <p:nvPr/>
        </p:nvSpPr>
        <p:spPr>
          <a:xfrm>
            <a:off x="812731" y="1568258"/>
            <a:ext cx="4970780" cy="251791"/>
          </a:xfrm>
          <a:prstGeom prst="rect">
            <a:avLst/>
          </a:prstGeom>
          <a:noFill/>
          <a:ln/>
        </p:spPr>
        <p:txBody>
          <a:bodyPr wrap="square" lIns="0" tIns="0" rIns="0" bIns="0" rtlCol="0" anchor="t">
            <a:normAutofit/>
          </a:bodyPr>
          <a:lstStyle/>
          <a:p>
            <a:pPr marL="0" indent="0" algn="l">
              <a:lnSpc>
                <a:spcPts val="1820"/>
              </a:lnSpc>
              <a:buNone/>
            </a:pPr>
            <a:r>
              <a:rPr lang="en-US" sz="1300" kern="0" spc="300" dirty="0">
                <a:solidFill>
                  <a:srgbClr val="B69CFF"/>
                </a:solidFill>
                <a:latin typeface="JetBrains Mono" pitchFamily="49" charset="0"/>
                <a:ea typeface="JetBrains Mono" pitchFamily="49" charset="-122"/>
                <a:cs typeface="JetBrains Mono" pitchFamily="49" charset="-120"/>
              </a:rPr>
              <a:t>BAYWATCH · POWERED BY ECURIOUS</a:t>
            </a:r>
            <a:endParaRPr lang="en-US" sz="1300" dirty="0"/>
          </a:p>
        </p:txBody>
      </p:sp>
      <p:sp>
        <p:nvSpPr>
          <p:cNvPr id="5" name="Text 2"/>
          <p:cNvSpPr>
            <a:spLocks noGrp="1"/>
          </p:cNvSpPr>
          <p:nvPr>
            <p:ph type="title"/>
          </p:nvPr>
        </p:nvSpPr>
        <p:spPr>
          <a:xfrm>
            <a:off x="812731" y="2023201"/>
            <a:ext cx="4970780" cy="1168400"/>
          </a:xfrm>
          <a:prstGeom prst="rect">
            <a:avLst/>
          </a:prstGeom>
          <a:noFill/>
          <a:ln/>
        </p:spPr>
        <p:txBody>
          <a:bodyPr wrap="square" lIns="0" tIns="0" rIns="0" bIns="0" rtlCol="0" anchor="t">
            <a:normAutofit/>
          </a:bodyPr>
          <a:lstStyle/>
          <a:p>
            <a:pPr marL="0" indent="0" algn="l">
              <a:lnSpc>
                <a:spcPts val="9000"/>
              </a:lnSpc>
              <a:buNone/>
            </a:pPr>
            <a:r>
              <a:rPr lang="en-US" sz="10000" b="0" i="0" dirty="0">
                <a:solidFill>
                  <a:srgbClr val="F4F3EF"/>
                </a:solidFill>
                <a:latin typeface="Bebas Neue" pitchFamily="34" charset="0"/>
                <a:ea typeface="Bebas Neue" pitchFamily="34" charset="-122"/>
                <a:cs typeface="Bebas Neue" pitchFamily="34" charset="-120"/>
              </a:rPr>
              <a:t>THANK </a:t>
            </a:r>
            <a:r>
              <a:rPr lang="en-US" sz="10000" b="0" i="0" dirty="0">
                <a:solidFill>
                  <a:srgbClr val="B69CFF"/>
                </a:solidFill>
                <a:latin typeface="Bebas Neue" pitchFamily="34" charset="0"/>
                <a:ea typeface="Bebas Neue" pitchFamily="34" charset="-122"/>
                <a:cs typeface="Bebas Neue" pitchFamily="34" charset="-120"/>
              </a:rPr>
              <a:t>YOU</a:t>
            </a:r>
            <a:endParaRPr lang="en-US" sz="10000" dirty="0"/>
          </a:p>
        </p:txBody>
      </p:sp>
      <p:sp>
        <p:nvSpPr>
          <p:cNvPr id="6" name="Text 3"/>
          <p:cNvSpPr/>
          <p:nvPr/>
        </p:nvSpPr>
        <p:spPr>
          <a:xfrm>
            <a:off x="812731" y="3394751"/>
            <a:ext cx="4970780" cy="1069009"/>
          </a:xfrm>
          <a:prstGeom prst="rect">
            <a:avLst/>
          </a:prstGeom>
          <a:noFill/>
          <a:ln/>
        </p:spPr>
        <p:txBody>
          <a:bodyPr wrap="square" lIns="0" tIns="0" rIns="0" bIns="0" rtlCol="0" anchor="t">
            <a:normAutofit/>
          </a:bodyPr>
          <a:lstStyle/>
          <a:p>
            <a:pPr marL="0" indent="0" algn="l">
              <a:lnSpc>
                <a:spcPts val="2750"/>
              </a:lnSpc>
              <a:buNone/>
            </a:pPr>
            <a:r>
              <a:rPr lang="en-US" sz="2200" dirty="0">
                <a:solidFill>
                  <a:srgbClr val="F4F3EF"/>
                </a:solidFill>
                <a:latin typeface="Space Grotesk" pitchFamily="34" charset="0"/>
                <a:ea typeface="Space Grotesk" pitchFamily="34" charset="-122"/>
                <a:cs typeface="Space Grotesk" pitchFamily="34" charset="-120"/>
              </a:rPr>
              <a:t>Book your spot. Arrive with confidence.</a:t>
            </a:r>
            <a:endParaRPr lang="en-US" sz="2200" dirty="0"/>
          </a:p>
          <a:p>
            <a:pPr marL="0" indent="0" algn="l">
              <a:lnSpc>
                <a:spcPts val="2750"/>
              </a:lnSpc>
              <a:buNone/>
            </a:pPr>
            <a:r>
              <a:rPr lang="en-US" sz="2200" dirty="0">
                <a:solidFill>
                  <a:srgbClr val="C9E847"/>
                </a:solidFill>
                <a:latin typeface="Space Grotesk" pitchFamily="34" charset="0"/>
                <a:ea typeface="Space Grotesk" pitchFamily="34" charset="-122"/>
                <a:cs typeface="Space Grotesk" pitchFamily="34" charset="-120"/>
              </a:rPr>
              <a:t>Charge without the uncertainty.</a:t>
            </a:r>
            <a:endParaRPr lang="en-US" sz="2200" dirty="0"/>
          </a:p>
        </p:txBody>
      </p:sp>
      <p:sp>
        <p:nvSpPr>
          <p:cNvPr id="7" name="Text 4"/>
          <p:cNvSpPr/>
          <p:nvPr/>
        </p:nvSpPr>
        <p:spPr>
          <a:xfrm>
            <a:off x="812731" y="4870097"/>
            <a:ext cx="4970780" cy="445035"/>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8A8F96"/>
                </a:solidFill>
                <a:latin typeface="JetBrains Mono" pitchFamily="49" charset="0"/>
                <a:ea typeface="JetBrains Mono" pitchFamily="49" charset="-122"/>
                <a:cs typeface="JetBrains Mono" pitchFamily="49" charset="-120"/>
              </a:rPr>
              <a:t>QUESTIONS? · GITHUB.COM/MOHAMEDAMINEHAMDI/BAYWATCH</a:t>
            </a:r>
            <a:endParaRPr lang="en-US" sz="1200" dirty="0"/>
          </a:p>
        </p:txBody>
      </p:sp>
      <p:pic>
        <p:nvPicPr>
          <p:cNvPr id="8" name="WhatsApp Video 2026-10-24 at 17.29.05">
            <a:hlinkClick r:id="" action="ppaction://media"/>
            <a:extLst>
              <a:ext uri="{FF2B5EF4-FFF2-40B4-BE49-F238E27FC236}">
                <a16:creationId xmlns:a16="http://schemas.microsoft.com/office/drawing/2014/main" id="{6C62C8F6-41E4-734A-8FA5-1AD6EFD73B4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095999" y="1947428"/>
            <a:ext cx="5264134" cy="2961075"/>
          </a:xfrm>
          <a:prstGeom prst="rect">
            <a:avLst/>
          </a:prstGeom>
          <a:effectLst>
            <a:softEdge rad="2540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996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8182">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theme/theme1.xml><?xml version="1.0" encoding="utf-8"?>
<a:theme xmlns:a="http://schemas.openxmlformats.org/drawingml/2006/main" name="BayWatch — Ecurious Challenge Pitch">
  <a:themeElements>
    <a:clrScheme name="BayWatch — Ecurious Challenge Pitch">
      <a:dk1>
        <a:srgbClr val="0F1419"/>
      </a:dk1>
      <a:lt1>
        <a:srgbClr val="F4F3EF"/>
      </a:lt1>
      <a:dk2>
        <a:srgbClr val="262A2E"/>
      </a:dk2>
      <a:lt2>
        <a:srgbClr val="BBBBBA"/>
      </a:lt2>
      <a:accent1>
        <a:srgbClr val="5E1EEE"/>
      </a:accent1>
      <a:accent2>
        <a:srgbClr val="C9E847"/>
      </a:accent2>
      <a:accent3>
        <a:srgbClr val="B69CFF"/>
      </a:accent3>
      <a:accent4>
        <a:srgbClr val="8B5CF6"/>
      </a:accent4>
      <a:accent5>
        <a:srgbClr val="DCD3FF"/>
      </a:accent5>
      <a:accent6>
        <a:srgbClr val="9B83F0"/>
      </a:accent6>
      <a:hlink>
        <a:srgbClr val="0563C1"/>
      </a:hlink>
      <a:folHlink>
        <a:srgbClr val="954F72"/>
      </a:folHlink>
    </a:clrScheme>
    <a:fontScheme name="BayWatch — Ecurious Challenge Pitch">
      <a:majorFont>
        <a:latin typeface="Bebas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1112</Words>
  <Application>Microsoft Macintosh PowerPoint</Application>
  <PresentationFormat>Widescreen</PresentationFormat>
  <Paragraphs>221</Paragraphs>
  <Slides>16</Slides>
  <Notes>16</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Space Grotesk</vt:lpstr>
      <vt:lpstr>Arial</vt:lpstr>
      <vt:lpstr>JetBrains Mono</vt:lpstr>
      <vt:lpstr>Bebas Neue</vt:lpstr>
      <vt:lpstr>BayWatch — Ecurious Challenge Pitch</vt:lpstr>
      <vt:lpstr>BAYWATCH</vt:lpstr>
      <vt:lpstr>THE EV WAVE IS HERE</vt:lpstr>
      <vt:lpstr>YOU ARRIVE. THE BAY IS TAKEN.</vt:lpstr>
      <vt:lpstr>EVERYONE LOSES</vt:lpstr>
      <vt:lpstr>MEET BAYWATCH</vt:lpstr>
      <vt:lpstr>FIVE STEPS, ZERO GUESSWORK</vt:lpstr>
      <vt:lpstr>ON THE ROAD AND THINGS COME UP?</vt:lpstr>
      <vt:lpstr>DEMO VIDEO</vt:lpstr>
      <vt:lpstr>CANCEL EARLY, PAY LESS</vt:lpstr>
      <vt:lpstr>BLOCKED? WE’VE GOT YOU.</vt:lpstr>
      <vt:lpstr>MORE CHARGING, SAME BAYS</vt:lpstr>
      <vt:lpstr>HOW WE MAKE MONEY</vt:lpstr>
      <vt:lpstr>BREAK EVEN IN 67 BOOKINGS</vt:lpstr>
      <vt:lpstr>THERE’S MORE</vt:lpstr>
      <vt:lpstr>THE PEOPLE BEHIND BAYWATCH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BayWatch — Ecurious Challenge Pitch</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Bebas Neue
Copyright © 2010 by Dharma Type.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Lucia Isabella Kanis</cp:lastModifiedBy>
  <cp:revision>3</cp:revision>
  <dcterms:created xsi:type="dcterms:W3CDTF">2026-10-24T15:50:32Z</dcterms:created>
  <dcterms:modified xsi:type="dcterms:W3CDTF">2026-10-24T19:53:06Z</dcterms:modified>
</cp:coreProperties>
</file>